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코드를 치기 전에 큰 그림과 용어 몇 개만 잡고 갑니다. 다 외울 필요 없고, 수업 중에 다시 나오면 "아, 그때 그거" 하면 충분합니다.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Spark 는 UC 버클리 연구실에서 시작해 Apache 재단의 오픈소스 프로젝트가 되었습니다. "pandas 를 여러 대로 늘린 것" 정도로 소개해도 학생들이 쉽게 받아들입니다.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Kafka 는 LinkedIn 에서 만들어 공개한 오픈소스입니다. 1과목의 stream_src 폴더에 파일을 하나씩 놓는 실습이 2과목에서는 Kafka 토픽으로 바뀝니다. 메시지 하나가 로그 한 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MySQL 특강을 들었다면 표 하나로 비교해 보는 게 가장 빠릅니다. NoSQL 은 SQL 을 안 쓴다는 뜻보다 "표 모양이 아닌 저장 방식" 정도로 소개하면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Spark 는 계산 담당, Kafka 는 전달 담당, MongoDB 는 보관과 제공 담당이라고만 기억하면 됩니다. 1과목에서 만든 코드는 2과목에서 그대로 실시간 데이터에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수업에서는 작은 데이터로 하지만, 코드는 수천만 줄이어도 똑같습니다. 그게 Spark 를 배우는 이유입니다. 작은 데이터라 결과를 눈으로 확인할 수 있다는 장점도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"일꾼 두 명이 나눠서 셌다" 는 말이 수업에 계속 나옵니다. local[2] 의 2 가 바로 그 두 명입니다. 파일을 저장하면 part 파일이 두 개 생기는 것도 일꾼 둘이 하나씩 썼기 때문입니다.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한 줄이 2과목에서는 Kafka 메시지 하나가 됩니다. 데이터에 일부러 넣은 문제들은 실제 현장에서 늘 생기는 일이고, STEP 13 에서 하나씩 정리합니다.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12 에서 같은 데이터를 두 시각으로 세면 숫자가 다르게 나옵니다(16 vs 14). "늦게 온 기록을 언제까지 기다려 줄까" 는 2과목의 워터마크로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Spark 가 일부러 게으른 이유: 주문서를 끝까지 보고 나서 가장 빠른 순서로 바꿔 계산할 수 있기 때문입니다. 학생들이 "셀은 바로 끝났는데 결과가 없어요" 할 때 이 그림을 떠올리게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지금은 "groupBy 와 join 은 비싸다" 한 줄이면 됩니다. 쏠림과 파티션 키는 2과목 Kafka 의 파티션 키를 고를 때 똑같이 다시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Bronze 는 고치지 않는다는 점을 강조하세요. 나중에 "이 줄은 왜 빠졌나" 를 물으면 Bronze 를 열어 원문을 보여 줄 수 있어야 합니다. Gold 표는 3과목에서 MongoDB 로 옮깁니다.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1과목 마지막에 직접 장애를 일으켜 봅니다. 숫자가 두 배가 되는 것과 그대로인 것을 눈으로 보는 게 핵심입니다. 이것이 프로젝트 3단계 Exactly-once 의 출발점입니다.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수업진행서 부록 C 에 팀 주제 열 가지를 교통카드 예제에 대입한 표가 있습니다. 주제를 고를 때 그 표를 같이 보여 주면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설치 구간이 PC 마다 시간 차이가 가장 큽니다. 첫날은 STEP 03 까지 전원이 첫 실행을 성공시키는 것을 목표로 잡으세요.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목표는 모든 걸 이해시키는 게 아니라, 기본 모양을 손이 기억하게 하는 것입니다. 그래야 나중에 AI 와 함께 코드를 짤 때도 무엇을 시켜야 하고 결과가 맞는지 판단할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"제 PC 에서는 되는데요" 의 대부분은 버전이 달라서입니다. 설치 방법은 인터넷이 될 때와 USB 로 wheels 를 받았을 때 두 경우로 나눠 수업진행서 STEP 02 에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오류 메시지는 길지만 대부분 맨 아래 한 줄에 답이 있습니다. 수업에는 "일부러 틀려 보기" 문제가 있어서 오류 읽는 연습을 미리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어느 단계에서든 이 등식이 맞으면 하나도 잃지 않고, 하나도 두 번 세지 않은 것입니다. 배치로 하든 스트리밍으로 하든 마지막에 같은 숫자가 나와야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시간 목표: 전원이 java -version 에서 17 을 보는 것. 설치 중 막히면 수업진행서 STEP 01 의 주황 박스 ①~⑤ 를 함께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5570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27820"/>
            <a:ext cx="10566400" cy="4117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5570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27820"/>
            <a:ext cx="10566400" cy="4117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07A3F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spc="100" kern="0" dirty="0">
                <a:solidFill>
                  <a:srgbClr val="F095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분산 처리 및 실시간 메시징 시스템 구축 · 1과목</a:t>
            </a:r>
            <a:endParaRPr lang="en-US" sz="15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2287290"/>
            <a:ext cx="10883392" cy="170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F6F4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Apache Spark</a:t>
            </a:r>
            <a:endParaRPr lang="en-US" sz="6000" dirty="0"/>
          </a:p>
          <a:p>
            <a:pPr algn="l" indent="0" marL="0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F6F4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오리엔테이션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12800" y="416689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3CB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교통카드 승하차 로그로, 손끝으로 배우는 분산 처리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800" y="5730280"/>
            <a:ext cx="743744" cy="314920"/>
          </a:xfrm>
          <a:prstGeom prst="roundRect">
            <a:avLst>
              <a:gd name="adj" fmla="val 50000"/>
            </a:avLst>
          </a:prstGeom>
          <a:solidFill>
            <a:srgbClr val="F0955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Spark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08944" y="5781080"/>
            <a:ext cx="203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3CB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20094" y="5736630"/>
            <a:ext cx="693738" cy="3022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4A5878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3CB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Kafka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72581" y="5781080"/>
            <a:ext cx="203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3CB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83731" y="5736630"/>
            <a:ext cx="981770" cy="3022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4A5878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3CB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MongoDB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45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무엇인가 ① · 1과목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57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Apache Spark — 여러 컴퓨터가 함께 계산하는 엔진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902420"/>
            <a:ext cx="6027684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아주 큰 데이터를 </a:t>
            </a:r>
            <a:r>
              <a:rPr lang="en-US" sz="1700" b="1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조각내 여러 일꾼에게 나눠 계산</a:t>
            </a:r>
            <a:r>
              <a:rPr lang="en-US" sz="1700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하고 결과를 모아 주는 도구입니다.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715220"/>
          <a:ext cx="5839420" cy="1543844"/>
        </p:xfrm>
        <a:graphic>
          <a:graphicData uri="http://schemas.openxmlformats.org/drawingml/2006/table">
            <a:tbl>
              <a:tblPr/>
              <a:tblGrid>
                <a:gridCol w="1635038"/>
                <a:gridCol w="4204383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특징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한 줄로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빠르다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중간 결과를 디스크 대신 메모리에 두고 계산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익숙하다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파이썬(PySpark) · SQL 로 표를 다루듯 쓴다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E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둘 다 된다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쌓인 파일(배치)도, 흘러드는 데이터(스트리밍)도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918920" y="1902420"/>
            <a:ext cx="4460280" cy="2356644"/>
          </a:xfrm>
          <a:prstGeom prst="roundRect">
            <a:avLst>
              <a:gd name="adj" fmla="val 5389"/>
            </a:avLst>
          </a:prstGeom>
          <a:solidFill>
            <a:srgbClr val="172033"/>
          </a:solidFill>
          <a:ln/>
        </p:spPr>
      </p:sp>
      <p:sp>
        <p:nvSpPr>
          <p:cNvPr id="7" name="Text 4"/>
          <p:cNvSpPr/>
          <p:nvPr/>
        </p:nvSpPr>
        <p:spPr>
          <a:xfrm>
            <a:off x="7198320" y="2181820"/>
            <a:ext cx="401852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095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비유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198320" y="2514501"/>
            <a:ext cx="401852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6F4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영수증 수천만 장을 </a:t>
            </a:r>
            <a:r>
              <a:rPr lang="en-US" sz="1600" b="1" dirty="0">
                <a:solidFill>
                  <a:srgbClr val="F6F4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계산원 여럿이 나눠 세고</a:t>
            </a:r>
            <a:r>
              <a:rPr lang="en-US" sz="1600" dirty="0">
                <a:solidFill>
                  <a:srgbClr val="F6F4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팀장이 합계를 모으는 정산실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198320" y="3225701"/>
            <a:ext cx="4018524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3CB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 수업: 하루 승하차 로그를 정리해 역별 승차 순위를 낸다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1과목 Apache Spark · 오리엔테이션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45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무엇인가 ② · 2과목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57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Apache Kafka — 실시간 데이터를 받아 전달하는 우체국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902420"/>
            <a:ext cx="6027684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끝없이 생기는 기록(이벤트)을 </a:t>
            </a:r>
            <a:r>
              <a:rPr lang="en-US" sz="1700" b="1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받아서 순서대로 보관</a:t>
            </a:r>
            <a:r>
              <a:rPr lang="en-US" sz="1700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하고, 필요한 곳이 </a:t>
            </a:r>
            <a:r>
              <a:rPr lang="en-US" sz="1700" b="1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각자 꺼내 가게</a:t>
            </a:r>
            <a:r>
              <a:rPr lang="en-US" sz="1700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하는 도구입니다.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715220"/>
          <a:ext cx="5839420" cy="1543844"/>
        </p:xfrm>
        <a:graphic>
          <a:graphicData uri="http://schemas.openxmlformats.org/drawingml/2006/table">
            <a:tbl>
              <a:tblPr/>
              <a:tblGrid>
                <a:gridCol w="1635038"/>
                <a:gridCol w="4204383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용어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한 줄로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프로듀서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기록을 보내는 쪽 — 개찰구 단말기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토픽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기록을 모아 두는 우편함 — "승하차 태그"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E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컨슈머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기록을 꺼내 가는 쪽 — Spark, 알림 서비스 …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918920" y="1902420"/>
            <a:ext cx="4460280" cy="2356644"/>
          </a:xfrm>
          <a:prstGeom prst="roundRect">
            <a:avLst>
              <a:gd name="adj" fmla="val 5389"/>
            </a:avLst>
          </a:prstGeom>
          <a:solidFill>
            <a:srgbClr val="172033"/>
          </a:solidFill>
          <a:ln/>
        </p:spPr>
      </p:sp>
      <p:sp>
        <p:nvSpPr>
          <p:cNvPr id="7" name="Text 4"/>
          <p:cNvSpPr/>
          <p:nvPr/>
        </p:nvSpPr>
        <p:spPr>
          <a:xfrm>
            <a:off x="7198320" y="2181820"/>
            <a:ext cx="401852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095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비유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198320" y="2514501"/>
            <a:ext cx="401852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6F4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편지를 </a:t>
            </a:r>
            <a:r>
              <a:rPr lang="en-US" sz="1600" b="1" dirty="0">
                <a:solidFill>
                  <a:srgbClr val="F6F4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우편함에 넣어 두면</a:t>
            </a:r>
            <a:r>
              <a:rPr lang="en-US" sz="1600" dirty="0">
                <a:solidFill>
                  <a:srgbClr val="F6F4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받는 사람이 자기 속도로 와서 가져가는 우체국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198320" y="3225701"/>
            <a:ext cx="401852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3CB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보내는 쪽과 받는 쪽이 서로 기다리지 않아도 된다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1과목 Apache Spark · 오리엔테이션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45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무엇인가 ③ · 3과목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57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MongoDB — JSON 모양 그대로 담는 데이터베이스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902420"/>
            <a:ext cx="6027684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표(행·열) 대신 </a:t>
            </a:r>
            <a:r>
              <a:rPr lang="en-US" sz="1700" b="1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JSON 같은 문서</a:t>
            </a:r>
            <a:r>
              <a:rPr lang="en-US" sz="1700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통째로 저장하는 </a:t>
            </a:r>
            <a:r>
              <a:rPr lang="en-US" sz="1700" b="1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NoSQL</a:t>
            </a:r>
            <a:r>
              <a:rPr lang="en-US" sz="1700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데이터베이스입니다.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715220"/>
          <a:ext cx="5839420" cy="1543844"/>
        </p:xfrm>
        <a:graphic>
          <a:graphicData uri="http://schemas.openxmlformats.org/drawingml/2006/table">
            <a:tbl>
              <a:tblPr/>
              <a:tblGrid>
                <a:gridCol w="1635038"/>
                <a:gridCol w="1635038"/>
                <a:gridCol w="2569345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MySQL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MongoDB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차이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테이블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컬렉션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같은 종류의 묶음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행 (row)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문서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칸이 문서마다 달라도 된다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E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JOIN 으로 붙이기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한 문서에 넣기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앱이 한 번에 꺼내 쓰기 쉽다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918920" y="1902420"/>
            <a:ext cx="4460280" cy="2356644"/>
          </a:xfrm>
          <a:prstGeom prst="roundRect">
            <a:avLst>
              <a:gd name="adj" fmla="val 5389"/>
            </a:avLst>
          </a:prstGeom>
          <a:solidFill>
            <a:srgbClr val="172033"/>
          </a:solidFill>
          <a:ln/>
        </p:spPr>
      </p:sp>
      <p:sp>
        <p:nvSpPr>
          <p:cNvPr id="7" name="Text 4"/>
          <p:cNvSpPr/>
          <p:nvPr/>
        </p:nvSpPr>
        <p:spPr>
          <a:xfrm>
            <a:off x="7198320" y="2181820"/>
            <a:ext cx="401852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095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비유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198320" y="2514501"/>
            <a:ext cx="4018524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6F4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칸이 정해진 장부 대신, </a:t>
            </a:r>
            <a:r>
              <a:rPr lang="en-US" sz="1600" b="1" dirty="0">
                <a:solidFill>
                  <a:srgbClr val="F6F4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서류 봉투째</a:t>
            </a:r>
            <a:r>
              <a:rPr lang="en-US" sz="1600" dirty="0">
                <a:solidFill>
                  <a:srgbClr val="F6F4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꽂아 두는 서류함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198320" y="3225701"/>
            <a:ext cx="4018524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3CB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 수업: Spark 가 만든 역별 순위를 담아 앱 화면에 띄운다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1과목 Apache Spark · 오리엔테이션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45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과목 전체 그림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57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 과목이 이어져 하나의 파이프라인이 됩니다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27820"/>
            <a:ext cx="3369667" cy="1837630"/>
          </a:xfrm>
          <a:prstGeom prst="roundRect">
            <a:avLst>
              <a:gd name="adj" fmla="val 6911"/>
            </a:avLst>
          </a:prstGeom>
          <a:solidFill>
            <a:srgbClr val="172033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181820"/>
            <a:ext cx="29475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095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1과목 · 지금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6800" y="2496741"/>
            <a:ext cx="2947517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6F4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Apache Spark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66800" y="2933601"/>
            <a:ext cx="2947517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C3CB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쌓인 데이터를 여러 일꾼이 나눠서 계산하고, 깨끗하게 정리해 저장한다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92017" y="1934170"/>
            <a:ext cx="3382466" cy="1824930"/>
          </a:xfrm>
          <a:prstGeom prst="roundRect">
            <a:avLst>
              <a:gd name="adj" fmla="val 6611"/>
            </a:avLst>
          </a:prstGeom>
          <a:solidFill>
            <a:srgbClr val="FDFCF9"/>
          </a:solidFill>
          <a:ln w="12700">
            <a:solidFill>
              <a:srgbClr val="DCD7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52367" y="2194520"/>
            <a:ext cx="294761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2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2과목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52367" y="2509441"/>
            <a:ext cx="2947619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Kafka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52367" y="2946301"/>
            <a:ext cx="2947619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2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끝없이 들어오는 로그를 받아서 흘려 보내는 우체국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90384" y="1934170"/>
            <a:ext cx="3382466" cy="1824930"/>
          </a:xfrm>
          <a:prstGeom prst="roundRect">
            <a:avLst>
              <a:gd name="adj" fmla="val 6611"/>
            </a:avLst>
          </a:prstGeom>
          <a:solidFill>
            <a:srgbClr val="FDFCF9"/>
          </a:solidFill>
          <a:ln w="12700">
            <a:solidFill>
              <a:srgbClr val="DCD7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0734" y="2194520"/>
            <a:ext cx="294761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52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3과목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50734" y="2509441"/>
            <a:ext cx="2947619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MongoDB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50734" y="2946301"/>
            <a:ext cx="2947619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2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정리된 결과를 앱 화면이 바로 꺼내 쓰게 담아 둔다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2800" y="4070251"/>
            <a:ext cx="10566400" cy="645120"/>
          </a:xfrm>
          <a:prstGeom prst="roundRect">
            <a:avLst>
              <a:gd name="adj" fmla="val 15749"/>
            </a:avLst>
          </a:prstGeom>
          <a:solidFill>
            <a:srgbClr val="EDE8DE"/>
          </a:solidFill>
          <a:ln/>
        </p:spPr>
      </p:sp>
      <p:sp>
        <p:nvSpPr>
          <p:cNvPr id="17" name="Text 15"/>
          <p:cNvSpPr/>
          <p:nvPr/>
        </p:nvSpPr>
        <p:spPr>
          <a:xfrm>
            <a:off x="1066800" y="4248051"/>
            <a:ext cx="989707" cy="289520"/>
          </a:xfrm>
          <a:custGeom>
            <a:avLst/>
            <a:gdLst/>
            <a:ahLst/>
            <a:cxnLst/>
            <a:rect l="l" t="t" r="r" b="b"/>
            <a:pathLst>
              <a:path w="989707" h="289520">
                <a:moveTo>
                  <a:pt x="144760" y="0"/>
                </a:moveTo>
                <a:lnTo>
                  <a:pt x="844947" y="0"/>
                </a:lnTo>
                <a:arcTo hR="144760" wR="144760" stAng="16200000" swAng="5400000"/>
                <a:lnTo>
                  <a:pt x="989707" y="144760"/>
                </a:lnTo>
                <a:arcTo hR="144760" wR="144760" stAng="0" swAng="5400000"/>
                <a:lnTo>
                  <a:pt x="144760" y="289520"/>
                </a:lnTo>
                <a:arcTo hR="144760" wR="144760" stAng="5400000" swAng="5400000"/>
                <a:lnTo>
                  <a:pt x="0" y="144760"/>
                </a:lnTo>
                <a:arcTo hR="144760" wR="144760" stAng="10800000" swAng="5400000"/>
                <a:close/>
              </a:path>
            </a:pathLst>
          </a:custGeom>
          <a:solidFill>
            <a:srgbClr val="2B5C9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DFC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프로젝트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08907" y="4259461"/>
            <a:ext cx="596098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로그 통합 파이프라인 → React Native 앱으로 보여 주기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1과목 Apache Spark · 오리엔테이션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45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Spark 인가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57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대로 안 되면, 여러 대가 나눠서 합니다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984970"/>
            <a:ext cx="5156200" cy="2257425"/>
          </a:xfrm>
          <a:prstGeom prst="roundRect">
            <a:avLst>
              <a:gd name="adj" fmla="val 5345"/>
            </a:avLst>
          </a:prstGeom>
          <a:solidFill>
            <a:srgbClr val="FDFCF9"/>
          </a:solidFill>
          <a:ln w="12700">
            <a:solidFill>
              <a:srgbClr val="DCD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0300" y="2296120"/>
            <a:ext cx="466991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2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수업 데이터 · 하루 로그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30300" y="2689820"/>
            <a:ext cx="4669917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2,008</a:t>
            </a:r>
            <a:r>
              <a:rPr lang="en-US" sz="6000" b="1" dirty="0">
                <a:solidFill>
                  <a:srgbClr val="4A52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줄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130300" y="3655020"/>
            <a:ext cx="4669917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2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엑셀·pandas 로도 충분한 크기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35700" y="1978620"/>
            <a:ext cx="5143500" cy="2270125"/>
          </a:xfrm>
          <a:prstGeom prst="roundRect">
            <a:avLst>
              <a:gd name="adj" fmla="val 5594"/>
            </a:avLst>
          </a:prstGeom>
          <a:solidFill>
            <a:srgbClr val="172033"/>
          </a:solidFill>
          <a:ln/>
        </p:spPr>
      </p:sp>
      <p:sp>
        <p:nvSpPr>
          <p:cNvPr id="9" name="Text 7"/>
          <p:cNvSpPr/>
          <p:nvPr/>
        </p:nvSpPr>
        <p:spPr>
          <a:xfrm>
            <a:off x="6540500" y="2283420"/>
            <a:ext cx="466991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3CB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수도권 교통카드 · 하루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40500" y="2677120"/>
            <a:ext cx="4669917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F095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수천만</a:t>
            </a:r>
            <a:r>
              <a:rPr lang="en-US" sz="6000" b="1" dirty="0">
                <a:solidFill>
                  <a:srgbClr val="C3CB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줄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6540500" y="3642320"/>
            <a:ext cx="4669917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C3CB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컴퓨터 한 대의 메모리에 안 들어간다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4604345"/>
            <a:ext cx="534491" cy="289520"/>
          </a:xfrm>
          <a:custGeom>
            <a:avLst/>
            <a:gdLst/>
            <a:ahLst/>
            <a:cxnLst/>
            <a:rect l="l" t="t" r="r" b="b"/>
            <a:pathLst>
              <a:path w="534491" h="289520">
                <a:moveTo>
                  <a:pt x="144760" y="0"/>
                </a:moveTo>
                <a:lnTo>
                  <a:pt x="389731" y="0"/>
                </a:lnTo>
                <a:arcTo hR="144760" wR="144760" stAng="16200000" swAng="5400000"/>
                <a:lnTo>
                  <a:pt x="534491" y="144760"/>
                </a:lnTo>
                <a:arcTo hR="144760" wR="144760" stAng="0" swAng="5400000"/>
                <a:lnTo>
                  <a:pt x="144760" y="289520"/>
                </a:lnTo>
                <a:arcTo hR="144760" wR="144760" stAng="5400000" swAng="5400000"/>
                <a:lnTo>
                  <a:pt x="0" y="144760"/>
                </a:lnTo>
                <a:arcTo hR="144760" wR="144760" stAng="10800000" swAng="5400000"/>
                <a:close/>
              </a:path>
            </a:pathLst>
          </a:custGeom>
          <a:solidFill>
            <a:srgbClr val="B4501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DFC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용어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99691" y="4606826"/>
            <a:ext cx="795099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분산 처리</a:t>
            </a:r>
            <a:r>
              <a:rPr lang="en-US" sz="1600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큰 일을 조각내 여러 일꾼에게 나눠 맡기고, 결과를 다시 모으는 방식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1과목 Apache Spark · 오리엔테이션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45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용어 ① · STEP 04 · 14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57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드라이버 · 일꾼 · 파티션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40520"/>
          <a:ext cx="10553700" cy="2863850"/>
        </p:xfrm>
        <a:graphic>
          <a:graphicData uri="http://schemas.openxmlformats.org/drawingml/2006/table">
            <a:tbl>
              <a:tblPr/>
              <a:tblGrid>
                <a:gridCol w="2532888"/>
                <a:gridCol w="4221480"/>
                <a:gridCol w="3799332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용어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뜻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교통카드 정산실로 보면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</a:tr>
              <a:tr h="6794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드라이버 (Driver)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일을 나누고 결과를 모으는 지휘자. 우리가 치는 파이썬 코드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정산 팀장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일꾼 (Executor · 코어)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실제로 계산하는 쪽. local[2] = 일꾼 두 명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계산원 두 명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E"/>
                    </a:solidFill>
                  </a:tcPr>
                </a:tc>
              </a:tr>
              <a:tr h="6794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파티션 (Partition)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데이터를 나눈 한 조각. 일꾼은 한 번에 한 조각씩 처리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영수증 묶음 하나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94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DataFrame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칸 이름이 있는 표. 실제로는 여러 조각으로 나뉘어 있다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영수증 전체 장부</a:t>
                      </a:r>
                      <a:endParaRPr lang="en-US" sz="15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5109170"/>
            <a:ext cx="1088339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2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수업에서는 모든 PC 를 </a:t>
            </a:r>
            <a:r>
              <a:rPr lang="en-US" sz="1500" b="1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local[2]</a:t>
            </a:r>
            <a:r>
              <a:rPr lang="en-US" sz="1500" dirty="0">
                <a:solidFill>
                  <a:srgbClr val="4A52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로 맞춥니다. 일꾼 수가 같아야 조각 수·파일 수가 누구 PC 에서나 같게 나옵니다.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1과목 Apache Spark · 오리엔테이션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45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데이터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57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개찰구에 카드를 대면, 한 줄이 생깁니다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77020"/>
            <a:ext cx="10566400" cy="1249561"/>
          </a:xfrm>
          <a:prstGeom prst="roundRect">
            <a:avLst>
              <a:gd name="adj" fmla="val 8131"/>
            </a:avLst>
          </a:prstGeom>
          <a:solidFill>
            <a:srgbClr val="172033"/>
          </a:solidFill>
          <a:ln/>
        </p:spPr>
        <p:txBody>
          <a:bodyPr wrap="square" lIns="249642" tIns="198842" rIns="0" bIns="173442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{"event_id": "E00001", "card_id": "C0401", "trip_id": "T0323", "tag_type": "IN",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"station_id": "S03", "tag_time": "2026-10-14 07:00:00", "fare": 0,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6EA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"recv_time": "2026-10-14 07:00:01"}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19150" y="3386931"/>
            <a:ext cx="3373934" cy="1285180"/>
          </a:xfrm>
          <a:prstGeom prst="roundRect">
            <a:avLst>
              <a:gd name="adj" fmla="val 7411"/>
            </a:avLst>
          </a:prstGeom>
          <a:solidFill>
            <a:srgbClr val="FDFCF9"/>
          </a:solidFill>
          <a:ln w="12700">
            <a:solidFill>
              <a:srgbClr val="DCD7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4100" y="3621881"/>
            <a:ext cx="299115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JSON Lines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4100" y="3941862"/>
            <a:ext cx="299115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2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줄에 JSON 하나. 줄 단위로 잘라 여러 일꾼이 나눠 읽기 좋다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08984" y="3386931"/>
            <a:ext cx="3374033" cy="1285180"/>
          </a:xfrm>
          <a:prstGeom prst="roundRect">
            <a:avLst>
              <a:gd name="adj" fmla="val 7411"/>
            </a:avLst>
          </a:prstGeom>
          <a:solidFill>
            <a:srgbClr val="FDFCF9"/>
          </a:solidFill>
          <a:ln w="12700">
            <a:solidFill>
              <a:srgbClr val="DCD7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3934" y="3621881"/>
            <a:ext cx="2991257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 마스터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43934" y="3941862"/>
            <a:ext cx="2991257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2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S01 → 강남 · 2호선 처럼 코드를 이름으로 바꿔 주는 작은 표 (8개 역)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98916" y="3386931"/>
            <a:ext cx="3373934" cy="1285180"/>
          </a:xfrm>
          <a:prstGeom prst="roundRect">
            <a:avLst>
              <a:gd name="adj" fmla="val 7411"/>
            </a:avLst>
          </a:prstGeom>
          <a:solidFill>
            <a:srgbClr val="FDFCF9"/>
          </a:solidFill>
          <a:ln w="12700">
            <a:solidFill>
              <a:srgbClr val="DCD7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33866" y="3621881"/>
            <a:ext cx="299115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일부러 섞인 문제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33866" y="3941862"/>
            <a:ext cx="299115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2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재전송 중복 · 없는 역 S99 · 깨진 시각 07:67 · 늦게 온 기록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1과목 Apache Spark · 오리엔테이션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45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용어 ② · STEP 09 · 12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57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이벤트 시간과 처리 시간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934170"/>
            <a:ext cx="4686300" cy="1934071"/>
          </a:xfrm>
          <a:prstGeom prst="roundRect">
            <a:avLst>
              <a:gd name="adj" fmla="val 6238"/>
            </a:avLst>
          </a:prstGeom>
          <a:solidFill>
            <a:srgbClr val="FDFCF9"/>
          </a:solidFill>
          <a:ln w="12700">
            <a:solidFill>
              <a:srgbClr val="DCD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4900" y="2219920"/>
            <a:ext cx="423824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B5C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이벤트 시간 · tag_time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04900" y="2552601"/>
            <a:ext cx="4238244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07:32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104900" y="3324721"/>
            <a:ext cx="4238244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A52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카드를 실제로 댄 시각</a:t>
            </a:r>
            <a:endParaRPr lang="en-US" sz="14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0" y="2710656"/>
            <a:ext cx="762000" cy="381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686550" y="1934170"/>
            <a:ext cx="4686300" cy="1934071"/>
          </a:xfrm>
          <a:prstGeom prst="roundRect">
            <a:avLst>
              <a:gd name="adj" fmla="val 6238"/>
            </a:avLst>
          </a:prstGeom>
          <a:solidFill>
            <a:srgbClr val="FDFCF9"/>
          </a:solidFill>
          <a:ln w="12700">
            <a:solidFill>
              <a:srgbClr val="DCD7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72300" y="2219920"/>
            <a:ext cx="423824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45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 시간 · recv_time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972300" y="2552601"/>
            <a:ext cx="4238244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08:11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6972300" y="3324721"/>
            <a:ext cx="4238244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A52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기록이 서버에 도착한 시각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12800" y="4179391"/>
            <a:ext cx="10883392" cy="614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통신이 끊기면 기록이 늦게 옵니다. 도착 시각으로 세면 07:30 창에 있어야 할 사람이 </a:t>
            </a:r>
            <a:r>
              <a:rPr lang="en-US" sz="1600" b="1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08:10 창에 잘못</a:t>
            </a:r>
            <a:r>
              <a:rPr lang="en-US" sz="1600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들어갑니다. 그래서 집계는 </a:t>
            </a:r>
            <a:r>
              <a:rPr lang="en-US" sz="1600" b="1" dirty="0">
                <a:solidFill>
                  <a:srgbClr val="2B5C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이벤트 시간</a:t>
            </a:r>
            <a:r>
              <a:rPr lang="en-US" sz="1600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합니다.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1과목 Apache Spark · 오리엔테이션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45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용어 ③ · STEP 04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57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게으른 실행 — 주문서와 "주문이요!"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934170"/>
            <a:ext cx="5181600" cy="1655366"/>
          </a:xfrm>
          <a:prstGeom prst="roundRect">
            <a:avLst>
              <a:gd name="adj" fmla="val 7288"/>
            </a:avLst>
          </a:prstGeom>
          <a:solidFill>
            <a:srgbClr val="FDFCF9"/>
          </a:solidFill>
          <a:ln w="12700">
            <a:solidFill>
              <a:srgbClr val="DCD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4900" y="2219920"/>
            <a:ext cx="474840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변환 (Transformation)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04900" y="2651720"/>
            <a:ext cx="474840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2B5C9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filter · select · groupBy · join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4900" y="3027561"/>
            <a:ext cx="4748403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2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주문서에 적기만 한다. 실행해도 아무 계산도 안 일어난다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0300" y="1927820"/>
            <a:ext cx="5168900" cy="1668066"/>
          </a:xfrm>
          <a:prstGeom prst="roundRect">
            <a:avLst>
              <a:gd name="adj" fmla="val 7614"/>
            </a:avLst>
          </a:prstGeom>
          <a:solidFill>
            <a:srgbClr val="172033"/>
          </a:solidFill>
          <a:ln/>
        </p:spPr>
      </p:sp>
      <p:sp>
        <p:nvSpPr>
          <p:cNvPr id="9" name="Text 7"/>
          <p:cNvSpPr/>
          <p:nvPr/>
        </p:nvSpPr>
        <p:spPr>
          <a:xfrm>
            <a:off x="6489700" y="2207220"/>
            <a:ext cx="474840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6F4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(Action)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89700" y="2639020"/>
            <a:ext cx="474840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0955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show · count · write · collect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89700" y="3014861"/>
            <a:ext cx="4748403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C3CB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"주문이요!" — 이때 비로소 주방(일꾼)이 움직인다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3900686"/>
            <a:ext cx="1088339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그래서 오류도 </a:t>
            </a:r>
            <a:r>
              <a:rPr lang="en-US" sz="1600" b="1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show · count 를 하는 순간</a:t>
            </a:r>
            <a:r>
              <a:rPr lang="en-US" sz="1600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터질 수 있습니다. 위에서 적은 주문서 어딘가가 잘못된 것입니다.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1과목 Apache Spark · 오리엔테이션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45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용어 ④ · STEP 08 · 14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57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셔플 — Spark 에서 가장 비싼 일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927820"/>
            <a:ext cx="605916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"역별 승차 인원" 을 세려면 같은 역의 기록이 </a:t>
            </a:r>
            <a:r>
              <a:rPr lang="en-US" sz="1600" b="1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일꾼에게 모여야</a:t>
            </a:r>
            <a:r>
              <a:rPr lang="en-US" sz="1600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합니다. 그런데 기록은 여러 조각에 흩어져 있습니다.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664420"/>
            <a:ext cx="605916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조각끼리 데이터를 </a:t>
            </a:r>
            <a:r>
              <a:rPr lang="en-US" sz="1600" b="1" dirty="0">
                <a:solidFill>
                  <a:srgbClr val="B45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주고받아 다시 나누는 일</a:t>
            </a:r>
            <a:r>
              <a:rPr lang="en-US" sz="1600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 셔플입니다. 네트워크와 디스크를 써서 느립니다.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3401020"/>
            <a:ext cx="605916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4A52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셔플을 부르는 것: </a:t>
            </a:r>
            <a:r>
              <a:rPr lang="en-US" sz="1500" dirty="0">
                <a:solidFill>
                  <a:srgbClr val="2B5C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groupBy · join · orderBy · dropDuplicates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98680" y="1927820"/>
            <a:ext cx="4480520" cy="2694880"/>
          </a:xfrm>
          <a:prstGeom prst="roundRect">
            <a:avLst>
              <a:gd name="adj" fmla="val 4713"/>
            </a:avLst>
          </a:prstGeom>
          <a:solidFill>
            <a:srgbClr val="172033"/>
          </a:solidFill>
          <a:ln/>
        </p:spPr>
      </p:sp>
      <p:sp>
        <p:nvSpPr>
          <p:cNvPr id="8" name="Text 6"/>
          <p:cNvSpPr/>
          <p:nvPr/>
        </p:nvSpPr>
        <p:spPr>
          <a:xfrm>
            <a:off x="7178080" y="2207220"/>
            <a:ext cx="403937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095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 나오는 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78080" y="2539901"/>
            <a:ext cx="403937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E6EA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쏠림 (skew)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A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조각에만 데이터가 몰림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78080" y="3174901"/>
            <a:ext cx="403937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E6EA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broadcast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A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작은 표는 일꾼 모두에게 복사해 셔플을 피함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78080" y="3809901"/>
            <a:ext cx="403937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E6EA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Spark UI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A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셔플을 눈으로 보는 계기판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1과목 Apache Spark · 오리엔테이션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45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용어 ⑤ · STEP 15 · 16 · 17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57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Parquet · Delta Lake · Bronze → Silver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02420"/>
            <a:ext cx="3420467" cy="1643261"/>
          </a:xfrm>
          <a:prstGeom prst="roundRect">
            <a:avLst>
              <a:gd name="adj" fmla="val 7729"/>
            </a:avLst>
          </a:prstGeom>
          <a:solidFill>
            <a:srgbClr val="E9DCC9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2131020"/>
            <a:ext cx="305216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7A4A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Bronze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41400" y="2512020"/>
            <a:ext cx="3052165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원문 그대로 보관. 깨진 시각 07:67 도 글자 그대로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41400" y="3103761"/>
            <a:ext cx="30521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 증거 보관함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5667" y="1902420"/>
            <a:ext cx="3420566" cy="1643261"/>
          </a:xfrm>
          <a:prstGeom prst="roundRect">
            <a:avLst>
              <a:gd name="adj" fmla="val 7729"/>
            </a:avLst>
          </a:prstGeom>
          <a:solidFill>
            <a:srgbClr val="DDE3EC"/>
          </a:solidFill>
          <a:ln/>
        </p:spPr>
      </p:sp>
      <p:sp>
        <p:nvSpPr>
          <p:cNvPr id="9" name="Text 7"/>
          <p:cNvSpPr/>
          <p:nvPr/>
        </p:nvSpPr>
        <p:spPr>
          <a:xfrm>
            <a:off x="4614267" y="2131020"/>
            <a:ext cx="305226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B4A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Silver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14267" y="2512020"/>
            <a:ext cx="3052267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 제거 · 격리 · 승하차 짝 맞추기를 끝낸 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4267" y="3103761"/>
            <a:ext cx="30522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 믿고 쓰는 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8634" y="1902420"/>
            <a:ext cx="3420566" cy="1643261"/>
          </a:xfrm>
          <a:prstGeom prst="roundRect">
            <a:avLst>
              <a:gd name="adj" fmla="val 7729"/>
            </a:avLst>
          </a:prstGeom>
          <a:solidFill>
            <a:srgbClr val="172033"/>
          </a:solidFill>
          <a:ln/>
        </p:spPr>
      </p:sp>
      <p:sp>
        <p:nvSpPr>
          <p:cNvPr id="13" name="Text 11"/>
          <p:cNvSpPr/>
          <p:nvPr/>
        </p:nvSpPr>
        <p:spPr>
          <a:xfrm>
            <a:off x="8187234" y="2131020"/>
            <a:ext cx="305226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095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Gold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187234" y="2512020"/>
            <a:ext cx="3052267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E6EA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역별 승차 순위처럼 사람이 보는 작은 답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87234" y="2845991"/>
            <a:ext cx="30522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3CB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 앱 화면에 띄울 표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3837781"/>
          <a:ext cx="10553700" cy="1543844"/>
        </p:xfrm>
        <a:graphic>
          <a:graphicData uri="http://schemas.openxmlformats.org/drawingml/2006/table">
            <a:tbl>
              <a:tblPr/>
              <a:tblGrid>
                <a:gridCol w="2321814"/>
                <a:gridCol w="8231886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용어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한 줄 뜻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Parquet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칸 단위로 압축해 저장하는 파일 형식. CSV 보다 작고 빠르다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Delta Lake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Parquet 에 장부(_delta_log)를 붙인 것. 지난 버전 보기 · 고치기 · 되돌리기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E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MERGE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있으면 고치고, 없으면 넣는다. 두 번 해도 결과가 같다(멱등)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1과목 Apache Spark · 오리엔테이션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45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용어 ⑥ · STEP 18 · 19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57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스트리밍 · 체크포인트 · Exactly-once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15120"/>
          <a:ext cx="10553700" cy="1543844"/>
        </p:xfrm>
        <a:graphic>
          <a:graphicData uri="http://schemas.openxmlformats.org/drawingml/2006/table">
            <a:tbl>
              <a:tblPr/>
              <a:tblGrid>
                <a:gridCol w="2532888"/>
                <a:gridCol w="4432554"/>
                <a:gridCol w="3588258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용어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뜻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식당 계산대로 보면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Structured Streaming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끝나지 않는 표. 새로 온 것만 읽어 계속 처리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손님이 올 때마다 계산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체크포인트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어디까지 읽고 끝냈는지 적어 둔 폴더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계산서 옆의 메모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E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Exactly-once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장애가 나도 한 건은 정확히 한 번만 반영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이중 청구가 없다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9150" y="3744714"/>
            <a:ext cx="5168900" cy="1480641"/>
          </a:xfrm>
          <a:prstGeom prst="roundRect">
            <a:avLst>
              <a:gd name="adj" fmla="val 6433"/>
            </a:avLst>
          </a:prstGeom>
          <a:solidFill>
            <a:srgbClr val="FDFCF9"/>
          </a:solidFill>
          <a:ln w="12700">
            <a:solidFill>
              <a:srgbClr val="DCD7C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9500" y="3954264"/>
            <a:ext cx="478764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2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체크포인트를 지우고 append 로 다시 쓰면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79500" y="4236145"/>
            <a:ext cx="4787646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B45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804 → 1,608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079500" y="4784725"/>
            <a:ext cx="478764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2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배 — 이중 청구 (STEP 18)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03950" y="3744714"/>
            <a:ext cx="5168900" cy="1480641"/>
          </a:xfrm>
          <a:prstGeom prst="roundRect">
            <a:avLst>
              <a:gd name="adj" fmla="val 6433"/>
            </a:avLst>
          </a:prstGeom>
          <a:solidFill>
            <a:srgbClr val="FDFCF9"/>
          </a:solidFill>
          <a:ln w="12700">
            <a:solidFill>
              <a:srgbClr val="DCD7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64300" y="3954264"/>
            <a:ext cx="478764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2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상황, MERGE 로 쓰면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64300" y="4236145"/>
            <a:ext cx="4787646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2B5C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1,000 → 1,000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464300" y="4784725"/>
            <a:ext cx="478764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2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그대로 — 멱등 (STEP 19)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1과목 Apache Spark · 오리엔테이션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45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연결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57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5단계를 1과목에서 미리 맛봅니다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89720"/>
          <a:ext cx="10553700" cy="2315766"/>
        </p:xfrm>
        <a:graphic>
          <a:graphicData uri="http://schemas.openxmlformats.org/drawingml/2006/table">
            <a:tbl>
              <a:tblPr/>
              <a:tblGrid>
                <a:gridCol w="844296"/>
                <a:gridCol w="5276850"/>
                <a:gridCol w="4432554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단계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프로젝트에서 할 일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1과목에서 먼저 만나는 곳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Kafka 토픽 · 파티션 · 복제 설계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STEP 14 파티션과 쏠림, 키 고르기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스키마 · 워터마크 · Tumbling / Sliding 창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STEP 07 스키마 · STEP 12 시간 창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E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Exactly-once 와 체크포인트 복구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STEP 13 중복 · STEP 18 · 19 장애 실험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Delta Bronze → Silver MERGE · OPTIMIZE · ZORDER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STEP 16 · 17 Delta · STEP 19 파이프라인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E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지연 · 처리량 튜닝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STEP 10 broadcast · 14 셔플 · 18 처리 기록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459486"/>
            <a:ext cx="1088339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2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수업은 교통카드로, 팀 프로젝트는 각자 고른 주제로. </a:t>
            </a:r>
            <a:r>
              <a:rPr lang="en-US" sz="1500" b="1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묶는 칸 이름만 바뀌고 코드 모양은 같습니다.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1과목 Apache Spark · 오리엔테이션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45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로드맵 · 4~5일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57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 STEP, 네 구간으로 갑니다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27820"/>
            <a:ext cx="2527300" cy="1990030"/>
          </a:xfrm>
          <a:prstGeom prst="roundRect">
            <a:avLst>
              <a:gd name="adj" fmla="val 6382"/>
            </a:avLst>
          </a:prstGeom>
          <a:solidFill>
            <a:srgbClr val="FDFCF9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927820"/>
            <a:ext cx="2527300" cy="1990030"/>
          </a:xfrm>
          <a:custGeom>
            <a:avLst/>
            <a:gdLst/>
            <a:ahLst/>
            <a:cxnLst/>
            <a:rect l="l" t="t" r="r" b="b"/>
            <a:pathLst>
              <a:path w="2527300" h="199003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2400300" y="0"/>
                </a:lnTo>
                <a:arcTo hR="127000" wR="127000" stAng="16200000" swAng="5400000"/>
                <a:lnTo>
                  <a:pt x="25273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8A93A3"/>
          </a:solidFill>
          <a:ln/>
        </p:spPr>
      </p:sp>
      <p:sp>
        <p:nvSpPr>
          <p:cNvPr id="6" name="Text 4"/>
          <p:cNvSpPr/>
          <p:nvPr/>
        </p:nvSpPr>
        <p:spPr>
          <a:xfrm>
            <a:off x="1041400" y="2207220"/>
            <a:ext cx="213220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4A52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01–03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41400" y="2539901"/>
            <a:ext cx="213220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준비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41400" y="2946301"/>
            <a:ext cx="2132203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2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 17 · Python 3.13 · VS Code 설치, Spark 첫 시동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92500" y="1927820"/>
            <a:ext cx="2527300" cy="1990030"/>
          </a:xfrm>
          <a:prstGeom prst="roundRect">
            <a:avLst>
              <a:gd name="adj" fmla="val 6382"/>
            </a:avLst>
          </a:prstGeom>
          <a:solidFill>
            <a:srgbClr val="FDFCF9"/>
          </a:solidFill>
          <a:ln/>
        </p:spPr>
      </p:sp>
      <p:sp>
        <p:nvSpPr>
          <p:cNvPr id="10" name="Shape 8"/>
          <p:cNvSpPr/>
          <p:nvPr/>
        </p:nvSpPr>
        <p:spPr>
          <a:xfrm>
            <a:off x="3492500" y="1927820"/>
            <a:ext cx="2527300" cy="1990030"/>
          </a:xfrm>
          <a:custGeom>
            <a:avLst/>
            <a:gdLst/>
            <a:ahLst/>
            <a:cxnLst/>
            <a:rect l="l" t="t" r="r" b="b"/>
            <a:pathLst>
              <a:path w="2527300" h="199003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2400300" y="0"/>
                </a:lnTo>
                <a:arcTo hR="127000" wR="127000" stAng="16200000" swAng="5400000"/>
                <a:lnTo>
                  <a:pt x="25273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2B5C9E"/>
          </a:solidFill>
          <a:ln/>
        </p:spPr>
      </p:sp>
      <p:sp>
        <p:nvSpPr>
          <p:cNvPr id="11" name="Text 9"/>
          <p:cNvSpPr/>
          <p:nvPr/>
        </p:nvSpPr>
        <p:spPr>
          <a:xfrm>
            <a:off x="3721100" y="2207220"/>
            <a:ext cx="213220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B5C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04–11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21100" y="2539901"/>
            <a:ext cx="213220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기본기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721100" y="2946301"/>
            <a:ext cx="2132203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2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DataFrame · 파일 읽기 · 고르기 · 스키마 · groupBy · 시간 · join · SQL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1927820"/>
            <a:ext cx="2527300" cy="1990030"/>
          </a:xfrm>
          <a:prstGeom prst="roundRect">
            <a:avLst>
              <a:gd name="adj" fmla="val 6382"/>
            </a:avLst>
          </a:prstGeom>
          <a:solidFill>
            <a:srgbClr val="FDFC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172200" y="1927820"/>
            <a:ext cx="2527300" cy="1990030"/>
          </a:xfrm>
          <a:custGeom>
            <a:avLst/>
            <a:gdLst/>
            <a:ahLst/>
            <a:cxnLst/>
            <a:rect l="l" t="t" r="r" b="b"/>
            <a:pathLst>
              <a:path w="2527300" h="199003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2400300" y="0"/>
                </a:lnTo>
                <a:arcTo hR="127000" wR="127000" stAng="16200000" swAng="5400000"/>
                <a:lnTo>
                  <a:pt x="25273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B4501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207220"/>
            <a:ext cx="213220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B45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12–15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2539901"/>
            <a:ext cx="213220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실전 정리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0" y="2946301"/>
            <a:ext cx="2132203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A52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 창 · 중복과 격리 · 파티션과 셔플 · Parquet 저장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851900" y="1927820"/>
            <a:ext cx="2527300" cy="1990030"/>
          </a:xfrm>
          <a:prstGeom prst="roundRect">
            <a:avLst>
              <a:gd name="adj" fmla="val 6382"/>
            </a:avLst>
          </a:prstGeom>
          <a:solidFill>
            <a:srgbClr val="172033"/>
          </a:solidFill>
          <a:ln/>
        </p:spPr>
      </p:sp>
      <p:sp>
        <p:nvSpPr>
          <p:cNvPr id="20" name="Shape 18"/>
          <p:cNvSpPr/>
          <p:nvPr/>
        </p:nvSpPr>
        <p:spPr>
          <a:xfrm>
            <a:off x="8851900" y="1927820"/>
            <a:ext cx="2527300" cy="1990030"/>
          </a:xfrm>
          <a:custGeom>
            <a:avLst/>
            <a:gdLst/>
            <a:ahLst/>
            <a:cxnLst/>
            <a:rect l="l" t="t" r="r" b="b"/>
            <a:pathLst>
              <a:path w="2527300" h="199003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2400300" y="0"/>
                </a:lnTo>
                <a:arcTo hR="127000" wR="127000" stAng="16200000" swAng="5400000"/>
                <a:lnTo>
                  <a:pt x="2527300" y="127000"/>
                </a:lnTo>
                <a:arcTo hR="76200" wR="127000" stAng="0" swAng="-5400000"/>
                <a:lnTo>
                  <a:pt x="127000" y="50800"/>
                </a:lnTo>
                <a:arcTo hR="76200" wR="127000" stAng="16200000" swAng="-5400000"/>
                <a:close/>
              </a:path>
            </a:pathLst>
          </a:custGeom>
          <a:solidFill>
            <a:srgbClr val="F0955E"/>
          </a:solidFill>
          <a:ln/>
        </p:spPr>
      </p:sp>
      <p:sp>
        <p:nvSpPr>
          <p:cNvPr id="21" name="Text 19"/>
          <p:cNvSpPr/>
          <p:nvPr/>
        </p:nvSpPr>
        <p:spPr>
          <a:xfrm>
            <a:off x="9080500" y="2207220"/>
            <a:ext cx="213220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095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16–19 · 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80500" y="2539901"/>
            <a:ext cx="213220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6F4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레이크와 스트리밍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080500" y="2946301"/>
            <a:ext cx="2132203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C3CB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Delta · MERGE · Streaming · 미니 파이프라인 · 혼자 푸는 10문제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2800" y="4222651"/>
            <a:ext cx="1088339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4A52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문제 202개를 </a:t>
            </a:r>
            <a:r>
              <a:rPr lang="en-US" sz="1500" b="1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칩니다.</a:t>
            </a:r>
            <a:r>
              <a:rPr lang="en-US" sz="1500" dirty="0">
                <a:solidFill>
                  <a:srgbClr val="4A52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앞 구간의 숫자가 뒤 구간에서 그대로 다시 맞춰집니다.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1과목 Apache Spark · 오리엔테이션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45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수업 방식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57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이해보다 먼저, 손끝으로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934170"/>
            <a:ext cx="3043734" cy="1092101"/>
          </a:xfrm>
          <a:prstGeom prst="roundRect">
            <a:avLst>
              <a:gd name="adj" fmla="val 8722"/>
            </a:avLst>
          </a:prstGeom>
          <a:solidFill>
            <a:srgbClr val="FDFCF9"/>
          </a:solidFill>
          <a:ln w="12700">
            <a:solidFill>
              <a:srgbClr val="DCD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8700" y="2143720"/>
            <a:ext cx="2703373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B5C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설명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700" y="2585641"/>
            <a:ext cx="270337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2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짧게, 비유 하나</a:t>
            </a:r>
            <a:endParaRPr lang="en-US" sz="1300" dirty="0"/>
          </a:p>
        </p:txBody>
      </p:sp>
      <p:pic>
        <p:nvPicPr>
          <p:cNvPr id="7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21634" y="2378571"/>
            <a:ext cx="406400" cy="203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86784" y="1934170"/>
            <a:ext cx="3043833" cy="1092101"/>
          </a:xfrm>
          <a:prstGeom prst="roundRect">
            <a:avLst>
              <a:gd name="adj" fmla="val 8722"/>
            </a:avLst>
          </a:prstGeom>
          <a:solidFill>
            <a:srgbClr val="FDFCF9"/>
          </a:solidFill>
          <a:ln w="12700">
            <a:solidFill>
              <a:srgbClr val="DCD7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96334" y="2143720"/>
            <a:ext cx="270347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B5C9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시연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796334" y="2585641"/>
            <a:ext cx="270347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2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강사가 먼저 쳐 보인다</a:t>
            </a:r>
            <a:endParaRPr lang="en-US" sz="1300" dirty="0"/>
          </a:p>
        </p:txBody>
      </p:sp>
      <p:pic>
        <p:nvPicPr>
          <p:cNvPr id="11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89366" y="2378571"/>
            <a:ext cx="406400" cy="2032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348166" y="1940520"/>
            <a:ext cx="3031034" cy="1079401"/>
          </a:xfrm>
          <a:prstGeom prst="roundRect">
            <a:avLst>
              <a:gd name="adj" fmla="val 9413"/>
            </a:avLst>
          </a:prstGeom>
          <a:solidFill>
            <a:srgbClr val="172033"/>
          </a:solidFill>
          <a:ln/>
        </p:spPr>
      </p:sp>
      <p:sp>
        <p:nvSpPr>
          <p:cNvPr id="13" name="Text 9"/>
          <p:cNvSpPr/>
          <p:nvPr/>
        </p:nvSpPr>
        <p:spPr>
          <a:xfrm>
            <a:off x="8551366" y="2143720"/>
            <a:ext cx="2703373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95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실습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8551366" y="2585641"/>
            <a:ext cx="270337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3CB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학생이 직접 친다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3350121"/>
          <a:ext cx="10553700" cy="1929805"/>
        </p:xfrm>
        <a:graphic>
          <a:graphicData uri="http://schemas.openxmlformats.org/drawingml/2006/table">
            <a:tbl>
              <a:tblPr/>
              <a:tblGrid>
                <a:gridCol w="2743962"/>
                <a:gridCol w="7809738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파일 · 칸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쓰는 법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lab 폴더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문제만 있는 빈칸. 여기에 직접 친다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answer 폴더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정답과 결과. 먼저 혼자 써 본 다음에 연다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E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[바꿔 보기] 셀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값을 하나 바꿔 보고 → 어떻게 보이는지 → 왜 그런지 확인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[초기화] 셀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그 STEP 을 처음부터 다시 할 때만 실행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E"/>
                    </a:solidFill>
                  </a:tcPr>
                </a:tc>
              </a:tr>
            </a:tbl>
          </a:graphicData>
        </a:graphic>
      </p:graphicFrame>
      <p:sp>
        <p:nvSpPr>
          <p:cNvPr id="16" name="Text 11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1과목 Apache Spark · 오리엔테이션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45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환경 · STEP 01–03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57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전원이 같은 버전으로 맞춥니다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15120"/>
          <a:ext cx="10553700" cy="2315766"/>
        </p:xfrm>
        <a:graphic>
          <a:graphicData uri="http://schemas.openxmlformats.org/drawingml/2006/table">
            <a:tbl>
              <a:tblPr/>
              <a:tblGrid>
                <a:gridCol w="2743962"/>
                <a:gridCol w="3166110"/>
                <a:gridCol w="4643628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무엇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버전 · 위치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꼭 지킬 것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Java (Temurin)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17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설치 화면에서 Set JAVA_HOME variable 켜기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Python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3.13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Add python.exe to PATH 체크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E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PySpark · Delta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4.1.3 · 4.4.1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4.1.1 은 쓰지 않는다 (Windows 오류)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실습 폴더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C:\sparkcamp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한글·공백·OneDrive 경로 피하기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DE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winutils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C:\hadoop\bin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2033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HADOOP_HOME 환경 변수 만들기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2800" y="4510286"/>
            <a:ext cx="10566400" cy="594320"/>
          </a:xfrm>
          <a:prstGeom prst="roundRect">
            <a:avLst>
              <a:gd name="adj" fmla="val 17095"/>
            </a:avLst>
          </a:prstGeom>
          <a:solidFill>
            <a:srgbClr val="EDE8DE"/>
          </a:solidFill>
          <a:ln/>
        </p:spPr>
      </p:sp>
      <p:sp>
        <p:nvSpPr>
          <p:cNvPr id="6" name="Text 3"/>
          <p:cNvSpPr/>
          <p:nvPr/>
        </p:nvSpPr>
        <p:spPr>
          <a:xfrm>
            <a:off x="1041400" y="4662686"/>
            <a:ext cx="534491" cy="289520"/>
          </a:xfrm>
          <a:custGeom>
            <a:avLst/>
            <a:gdLst/>
            <a:ahLst/>
            <a:cxnLst/>
            <a:rect l="l" t="t" r="r" b="b"/>
            <a:pathLst>
              <a:path w="534491" h="289520">
                <a:moveTo>
                  <a:pt x="144760" y="0"/>
                </a:moveTo>
                <a:lnTo>
                  <a:pt x="389731" y="0"/>
                </a:lnTo>
                <a:arcTo hR="144760" wR="144760" stAng="16200000" swAng="5400000"/>
                <a:lnTo>
                  <a:pt x="534491" y="144760"/>
                </a:lnTo>
                <a:arcTo hR="144760" wR="144760" stAng="0" swAng="5400000"/>
                <a:lnTo>
                  <a:pt x="144760" y="289520"/>
                </a:lnTo>
                <a:arcTo hR="144760" wR="144760" stAng="5400000" swAng="5400000"/>
                <a:lnTo>
                  <a:pt x="0" y="144760"/>
                </a:lnTo>
                <a:arcTo hR="144760" wR="144760" stAng="10800000" swAng="5400000"/>
                <a:close/>
              </a:path>
            </a:pathLst>
          </a:custGeom>
          <a:solidFill>
            <a:srgbClr val="B4501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DFCF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용어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728291" y="4678561"/>
            <a:ext cx="6417945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가상환경 (.venv)</a:t>
            </a:r>
            <a:r>
              <a:rPr lang="en-US" sz="1400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이 과목 전용 공구함. 망가지면 지우고 다시 만들면 끝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1과목 Apache Spark · 오리엔테이션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45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규칙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557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네 가지만 지키면 덜 막힙니다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934170"/>
            <a:ext cx="5181600" cy="1078111"/>
          </a:xfrm>
          <a:prstGeom prst="roundRect">
            <a:avLst>
              <a:gd name="adj" fmla="val 11191"/>
            </a:avLst>
          </a:prstGeom>
          <a:solidFill>
            <a:srgbClr val="FDFCF9"/>
          </a:solidFill>
          <a:ln w="12700">
            <a:solidFill>
              <a:srgbClr val="DCD7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2169120"/>
            <a:ext cx="4800727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Shift+Enter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79500" y="2519561"/>
            <a:ext cx="4800727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A52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셀 안에 커서를 두고 실행. F5 는 쓰지 않는다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91250" y="1934170"/>
            <a:ext cx="5181600" cy="1078111"/>
          </a:xfrm>
          <a:prstGeom prst="roundRect">
            <a:avLst>
              <a:gd name="adj" fmla="val 11191"/>
            </a:avLst>
          </a:prstGeom>
          <a:solidFill>
            <a:srgbClr val="FDFCF9"/>
          </a:solidFill>
          <a:ln w="12700">
            <a:solidFill>
              <a:srgbClr val="DCD7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1600" y="2169120"/>
            <a:ext cx="4800727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위에서부터 순서대로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51600" y="2519561"/>
            <a:ext cx="4800727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A52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준비 셀부터. 파일을 바꾸면 이전 Interactive 창은 닫는다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9150" y="3202781"/>
            <a:ext cx="5181600" cy="1078111"/>
          </a:xfrm>
          <a:prstGeom prst="roundRect">
            <a:avLst>
              <a:gd name="adj" fmla="val 11191"/>
            </a:avLst>
          </a:prstGeom>
          <a:solidFill>
            <a:srgbClr val="FDFCF9"/>
          </a:solidFill>
          <a:ln w="12700">
            <a:solidFill>
              <a:srgbClr val="DCD7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9500" y="3437731"/>
            <a:ext cx="4800727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20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오류는 맨 아래부터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79500" y="3788172"/>
            <a:ext cx="491490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4A52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마지막 한 줄을 읽고, 모르겠으면 위로 올라가 "Caused by:" 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84900" y="3196431"/>
            <a:ext cx="5194300" cy="1090811"/>
          </a:xfrm>
          <a:prstGeom prst="roundRect">
            <a:avLst>
              <a:gd name="adj" fmla="val 11643"/>
            </a:avLst>
          </a:prstGeom>
          <a:solidFill>
            <a:srgbClr val="172033"/>
          </a:solidFill>
          <a:ln/>
        </p:spPr>
      </p:sp>
      <p:sp>
        <p:nvSpPr>
          <p:cNvPr id="14" name="Text 12"/>
          <p:cNvSpPr/>
          <p:nvPr/>
        </p:nvSpPr>
        <p:spPr>
          <a:xfrm>
            <a:off x="6438900" y="3425031"/>
            <a:ext cx="4826889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095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설치 전엔 Spark 끄기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38900" y="3775472"/>
            <a:ext cx="494030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C3CB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Interactive 창을 다 닫고 패키지를 깐다. 안 그러면 WinError 32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1과목 Apache Spark · 오리엔테이션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B45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6824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BE3D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1과목 내내 맞춰 볼 숫자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12800" y="2857500"/>
            <a:ext cx="10883392" cy="863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dirty="0">
                <a:solidFill>
                  <a:srgbClr val="FBF3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2008 = 20 + 10 + 1978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4000500"/>
            <a:ext cx="1263551" cy="614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FBF3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2008</a:t>
            </a:r>
            <a:endParaRPr lang="en-US" sz="1600" dirty="0"/>
          </a:p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FBF3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들어온 줄 전부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431951" y="4000500"/>
            <a:ext cx="1031081" cy="614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FBF3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</a:t>
            </a:r>
            <a:endParaRPr lang="en-US" sz="1600" dirty="0"/>
          </a:p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FBF3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재전송 중복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8632" y="4000500"/>
            <a:ext cx="2226325" cy="614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FBF3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1600" dirty="0"/>
          </a:p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FBF3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격리 (없는 역 · 깨진 시각)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86513" y="4000500"/>
            <a:ext cx="1263551" cy="614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rgbClr val="FBF3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1978</a:t>
            </a:r>
            <a:endParaRPr lang="en-US" sz="1600" dirty="0"/>
          </a:p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FBF3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믿고 쓰는 기록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7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07A3F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095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이제 시작합니다</a:t>
            </a:r>
            <a:endParaRPr lang="en-US" sz="15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2488009"/>
            <a:ext cx="10883392" cy="136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F6F4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01</a:t>
            </a:r>
            <a:endParaRPr lang="en-US" sz="4800" dirty="0"/>
          </a:p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F6F4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 설치부터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12800" y="403225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3CB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수업진행서와 sparkcamp.zip 을 준비해 주세요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800" y="5796359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3CB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용어는 다 외우지 않아도 됩니다 — 수업 중에 다시 만나면 "아, 그때 그거"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과목 Apache Spark 오리엔테이션">
  <a:themeElements>
    <a:clrScheme name="1과목 Apache Spark 오리엔테이션">
      <a:dk1>
        <a:srgbClr val="172033"/>
      </a:dk1>
      <a:lt1>
        <a:srgbClr val="F6F4EF"/>
      </a:lt1>
      <a:dk2>
        <a:srgbClr val="4F5562"/>
      </a:dk2>
      <a:lt2>
        <a:srgbClr val="E0DFDC"/>
      </a:lt2>
      <a:accent1>
        <a:srgbClr val="B4501E"/>
      </a:accent1>
      <a:accent2>
        <a:srgbClr val="F0955E"/>
      </a:accent2>
      <a:accent3>
        <a:srgbClr val="2B5C9E"/>
      </a:accent3>
      <a:accent4>
        <a:srgbClr val="E07A3F"/>
      </a:accent4>
      <a:accent5>
        <a:srgbClr val="7A4A1E"/>
      </a:accent5>
      <a:accent6>
        <a:srgbClr val="2B4A78"/>
      </a:accent6>
      <a:hlink>
        <a:srgbClr val="0563C1"/>
      </a:hlink>
      <a:folHlink>
        <a:srgbClr val="954F72"/>
      </a:folHlink>
    </a:clrScheme>
    <a:fontScheme name="1과목 Apache Spark 오리엔테이션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1과목 Apache Spark 오리엔테이션</dc:title>
  <dc:subject/>
  <dc:creator/>
  <cp:lastModifiedBy/>
  <cp:revision>1</cp:revision>
  <dcterms:created xsi:type="dcterms:W3CDTF">2026-10-15T08:34:17Z</dcterms:created>
  <dcterms:modified xsi:type="dcterms:W3CDTF">2026-10-15T08:34:17Z</dcterms:modified>
</cp:coreProperties>
</file>