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5" r:id="rId6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7515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오늘부터 새 과목을 시작합니다. 과목 이름이 길고 낯설죠. '데이터 표준화'와 'AI Ready Data'라는 두 단어가 핵심입니다. 오늘 이 발표에서는 코드를 치지 않습니다. 앞으로 열흘 동안 계속 나올 말들이 무슨 뜻인지, 어떤 순서로 일을 하는지, 그리고 이걸 배우면 어떤 일을 할 수 있는지를 먼저 그림으로 잡고 가겠습니다. 모르는 단어가 나와도 괜찮습니다. 오늘은 '아, 이런 게 있구나' 정도면 충분합니다.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이야기는 다섯 개의 질문으로 되어 있습니다. 1번에서 '왜 필요한가'를 실제 데이터로 느껴 보고, 2번에서 용어를 하나씩 정리합니다. 3번은 일하는 순서, 4번은 열흘 동안 여러분이 직접 만들 파일들, 마지막 5번은 이 공부가 취업에서 어떤 의미가 있는지입니다. 5번이 궁금한 분도 많을 텐데, 앞의 1~4번을 알아야 5번이 제대로 들립니다.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JSON과 pandas 특강에서 여러분은 데이터를 다루는 도구를 익혔습니다. 그런데 도구를 잘 쓰는 것과, 그 결과를 믿을 수 있는 것은 다른 문제입니다. 요리에 비유하면 칼질은 할 줄 알게 됐는데, 재료가 상했는지 확인하고 누가 만들어도 같은 맛이 나도록 레시피를 적는 일은 아직 안 배운 겁니다. 이번 과목이 바로 그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잠깐 생각해 보세요. 파일을 읽었고 에러도 안 났습니다. 그러면 그 데이터는 맞는 걸까요? 대부분 '에러가 안 났으니 괜찮겠지'라고 생각합니다. 이제부터 보여드릴 네 장면은 전부 에러 없이, 또는 아주 사소해 보이는 에러와 함께 조용히 틀린 결과가 나오는 장면입니다. 한빛유통은 이 과목에서 열흘 내내 쓸 가상의 생활용품 회사입니다.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회사들도 이렇습니다. 회원 관리는 10년 전에 만든 시스템, 주문은 5년 전에 만든 시스템, 상품은 작년에 새로 만든 시스템처럼 제각각입니다. 그러니 파일 형식도, 글자 인코딩도, 컬럼 이름 짓는 방식도 다 다릅니다. 한빛유통 데이터도 일부러 그렇게 만들어 두었습니다. 셋 중 상품 데이터는 여러분이 특강에서 다룬 JSON 형태입니다.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장면입니다. 고객번호가 0000001인데 read_csv로 그냥 읽으면 1이 됩니다. 자료형도 int64, 즉 숫자가 됩니다. 여기서 중요한 건 에러가 안 난다는 점입니다. 조용히 바뀝니다. 나중에 다른 시스템의 0000001과 합치려고 하면 이제 안 맞습니다. 우편번호나 전화번호처럼 '번호'라는 이름이 붙었지만 더하고 빼지 않는 값은 글자로 다뤄야 합니다. 이런 걸 미리 약속해 두는 게 표준화입니다. 해결책은 dtype=str 옵션인데, 이건 1일차 7교시에 직접 해 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장면입니다. 주문 상태를 적는 컬럼 ORD_ST에 표기가 10가지나 섞여 있습니다. 대소문자가 다르거나, 띄어쓰기가 다르거나, 한글과 영어가 섞여 있는 식입니다. 사람 눈에는 같은 뜻이지만 컴퓨터는 글자가 한 글자만 달라도 다른 값으로 셉니다. 이건 가상 회사만의 문제가 아닙니다. 오른쪽은 실제 공공기관 이야기인데, 행정안전부가 공통표준용어를 정하기 전에는 기관마다 이동전화번호, 휴대폰번호처럼 다르게 부르던 것을 휴대전화번호로 통일했습니다. 이 과목에서 여러분도 한빛유통의 주문 상태를 표준 코드로 통일하게 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장면은 숫자가 틀리는 장면입니다. 주문 파일에서 한 줄은 주문 한 건이 아니라 주문 안의 상품 한 줄입니다. 그런데 배송비는 주문 한 건에 한 번만 붙는 값이에요. 이 값이 상품 줄마다 반복해서 적혀 있으니 그냥 더하면 부풀어 오릅니다. 실습 데이터 전체로 해 보면 약 2.6배가 나옵니다. 보고서에 이 숫자가 올라가면 큰일이죠. 여기서 '한 줄이 무엇을 뜻하는가'라는 질문이 나오는데, 이걸 grain이라고 합니다. 4일차의 핵심 개념입니다.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장면은 AI와 직접 관련된 장면입니다. 우리 실습에는 6월 30일까지의 기록만 보고 7월을 예측한다는 약속이 있어요. 그런데 주문 파일에는 7월 데이터가 317행 섞여 있습니다. 이걸 그대로 AI에게 주면, AI는 시험 전에 답안지를 본 학생처럼 됩니다. 점수는 잘 나오는데 현실에서는 못 씁니다. 이걸 데이터 누수라고 부르고, AI Ready Data를 만들 때 반드시 막아야 하는 것 중 하나입니다.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장면을 한 표로 정리했습니다. 공통점이 보이시나요? pandas가 잘못한 것도, SQL이 잘못한 것도 아닙니다. 데이터에 대한 약속이 없었던 겁니다. 번호는 글자로 다룬다는 약속, 주문 상태는 이 여섯 가지 중 하나만 쓴다는 약속, 한 줄은 무엇을 뜻한다는 약속, 공부용 기간과 정답용 기간을 나눈다는 약속. 이 약속들을 만들고 지키게 하는 게 이 과목입니다. 오른쪽 열에 언제 배우는지도 적어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용어 편입니다. 용어가 많아서 부담스러울 수 있는데, 오늘 다 외울 필요는 없습니다. 열흘 동안 매일 쓰는 말이라서 자연스럽게 익숙해집니다. 대신 용어마다 생활 속 예를 하나씩 붙여 두었으니, 예를 기억해 두면 나중에 용어가 나왔을 때 떠올리기 쉽습니다.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용어는 과목 이름에 들어 있는 데이터 표준화입니다. 어렵게 말하면 여러 가지가 있지만 쉽게 말하면 약속 정하기입니다. 약속할 대상은 세 가지, 이름과 형식과 값입니다. 공공기관들이 따르는 데이터베이스 표준화 지침에도 비슷하게 정의되어 있습니다. 코드, 용어, 도메인, 메타데이터라는 말이 나오는데, 바로 다음 장부터 하나씩 설명합니다. 축구 규칙처럼 약속이 같아야 다른 팀과 경기를 할 수 있듯이, 데이터도 약속이 같아야 합칠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약속을 머릿속에만 두면 안 되겠죠. 적어 두는 곳이 표준 사전입니다. 네 가지로 나뉩니다. 단어는 가장 작은 뜻의 조각, 도메인은 값의 모양, 용어는 단어를 조합해서 만든 컬럼 이름, 코드는 허용하는 값의 목록입니다. 2일차에 여러분이 Google Sheets로 네 시트를 직접 채우고, 검사 프로그램으로 확인까지 합니다. 다음 장들에서 하나씩 더 자세히 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 단어는 뜻의 가장 작은 조각입니다. 고객, 주문, 번호, 일자 같은 것들이죠. 각 단어에 영문 약어를 하나씩 정합니다. 고객은 CUST, 번호는 NO 이런 식입니다. 왜 단어부터 정하냐면, 단어를 한 번 정해 두면 그 단어가 들어가는 컬럼 이름이 전부 자동으로 맞춰지기 때문입니다. 레고 블록 모양이 통일되어 있어야 뭘 만들어도 끼워 맞출 수 있는 것과 같습니다. 참고로 ITEM, 항목이라는 단어는 5일차에 여러분이 직접 추가하게 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도메인입니다. 값의 모양, 즉 글자인지 숫자인지, 몇 자리인지를 정합니다. 공공기관이 쓰는 공통표준도메인은 이름 자체를 '분류 + 타입 + 길이'로 짓습니다. 연월일C8은 날짜를 글자 8자리로, 금액N15는 금액을 숫자 15자리로 담는다는 뜻입니다. 번호 도메인을 글자로 정해 두면 장면 1의 0000001이 1로 바뀌는 사고가 규칙으로 막힙니다. 신발 사이즈 칸에 숫자 세 자리만 적게 해 두는 것과 같은 이치입니다.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표준 용어입니다. 표준 단어 두세 개를 조합하고 도메인을 붙이면 용어가 됩니다. 고객 더하기 번호는 고객번호, 물리명은 CUST_NO, 도메인은 번호입니다. 물리명이라는 말이 처음 나왔는데, 데이터베이스 안에서 실제로 쓰는 컬럼 이름을 말합니다. 우리 과목에서는 물리명을 대문자로 쓰기로 정했습니다. 용어가 정해지면 원천 파일에서 뭐라고 불렀든 상관없이 표준화한 뒤에는 모두 CUST_NO 하나로 부릅니다.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표준 코드입니다. 주문 상태처럼 몇 가지 중 하나를 고르는 값은 목록을 만들어 둡니다. 코드값 하나에 의미 하나, 일대일로 정합니다. 한빛유통 주문 상태는 표준 여섯 가지로 정해 두었고, 원천에 있는 표기 10가지를 이 여섯 가지로 모으는 게 2~3일차 실습입니다. 신호등에 연두색 불이 켜지면 고장이듯, 목록에 없는 코드가 들어오면 데이터가 고장 난 겁니다.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배우는 표준 사전 네 가지가 실제로 쓰이는 곳을 보겠습니다. 공공기관은 행정안전부가 정한 공통표준용어를 따라 데이터베이스를 만들어야 하고, 공공기관 데이터베이스 표준화 지침에 코드정의서, 표준용어정의서 같은 문서를 작성하도록 정해져 있습니다. 또 공공데이터 품질인증이라는 평가 제도도 있습니다. 여러분이 한빛유통에서 만드는 사전은 이 구조의 축소판입니다. 공공 데이터 사업에 들어가면 바로 이 문서들을 다루게 됩니다. (출처: 공공데이터포털 공통표준용어 안내, 공공기관의 데이터베이스 표준화 지침)</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명명 규칙은 이름 짓는 방법 자체에 대한 약속입니다. 왼쪽처럼 같은 뜻인데 소문자 대문자 섞기, 밑줄 쓰기, 붙여 쓰기, 한글 쓰기가 다 섞여 있으면 혼란스럽죠. 우리 과목은 물리명을 대문자로, 단어 약어를 밑줄로 연결하고, 한글명과 물리명을 하나씩 짝짓기로 정했습니다. 아파트 주소 쓰는 방법이 통일되어 있어야 택배가 제대로 도착하는 것과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메타데이터는 데이터를 설명하는 데이터입니다. 왼쪽이 데이터 자체라면, 오른쪽처럼 이 컬럼이 무슨 뜻이고 어떤 모양이고 빈 값을 허용하는지 적어 둔 것이 메타데이터입니다. 우유팩 뒷면을 생각하면 쉽습니다. 뒷면에 유통기한이 없으면 마셔도 되는지 알 수가 없죠. 우리가 만드는 표준 사전, 6일차에 만들 데이터 카탈로그가 전부 메타데이터입니다. 날짜 값은 설명용 예시입니다.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매핑표는 원래 이름과 값을 표준 이름과 값으로 바꾸는 대응표입니다. 왼쪽은 컬럼 이름을 바꾸는 컬럼 매핑, 오른쪽은 값을 바꾸는 코드 매핑입니다. 여기서 AS-IS와 TO-BE라는 말이 처음 나옵니다. AS-IS는 지금 있는 그대로, TO-BE는 앞으로 되어야 할 모습입니다. 과목 내내 나오는 말이니 꼭 기억해 두세요. 매핑표는 번역표라고 생각하면 됩니다. 한 번 잘 만들어 두면 누가 바꿔도 같은 결과가 나옵니다.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데이터가 좋은지 나쁜지를 막연하게 말하면 안 되고, 기준을 가지고 말해야 합니다. 여섯 가지 기준을 많이 씁니다. 빠진 게 없는지 보는 완전성, 정해진 모양을 지키는지 보는 유효성, 실제와 맞는지 보는 정확성, 같은 것을 같게 적었는지 보는 일관성, 하나여야 할 게 하나인지 보는 유일성, 필요한 기간의 데이터인지 보는 적시성입니다. 오른쪽 열의 예들은 전부 한빛유통 데이터에 실제로 들어 있는 문제입니다. 여러분이 3일차에 직접 찾아냅니다.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프로파일링은 데이터 건강검진입니다. 고치기 전에 먼저 어떤 상태인지 숫자로 확인합니다. 몇 줄인지, 빈 값이 몇 개인지, 값이 몇 종류인지, 날짜나 금액이 어떤 모양으로 적혀 있는지를 봅니다. 병원에서도 검사부터 하고 처방을 내리죠. 3일차에 profile_data.py라는 프로그램으로 한빛유통 데이터를 검진하고, 그 결과로 AS-IS 품질보고서를 씁니다.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변환 규칙은 데이터를 어떻게 바꿀지 적어 둔 규칙서입니다. 규칙마다 번호를 붙이고, 언제 적용하는지 조건, 어떻게 바꾸는지 처리, 왜 그렇게 하는지 근거를 적습니다. 특히 근거가 중요합니다. 근거가 있어야 나중에 누가 물어봐도 설명할 수 있습니다. 표의 규칙은 예시이고, 실제 규칙은 3일차에 여러분이 직접 씁니다. 레시피에 이유까지 적혀 있으면 누가 만들어도 같은 맛이 나는 것과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과목에서 아주 중요한 개념입니다. 모든 행은 정상, 제거, 제외, 격리 넷 중 하나로 분류됩니다. 정상은 그대로 쓰는 행, 제거는 지워도 정보가 안 줄어드는 행, 예를 들어 완전히 똑같은 줄이 두 번 있는 경우입니다. 제외와 격리가 헷갈리는데요, 제외는 판단이 끝난 겁니다. 비회원 주문은 고객 분석에서 빼기로 우리가 정했으니 제외합니다. 격리는 판단을 못 한 겁니다. 정보가 모자라서 맞는지 틀린지 알 수 없으니 지우지 않고 따로 모아 두고 이유를 적어 둡니다.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숫자를 보겠습니다. 한빛유통 주문 파일 3,952행을 규칙대로 분류하면 정상 2,915, 제거 20, 제외 899, 격리 118이 나옵니다. 네 개를 더하면 정확히 3,952입니다. 이게 중요합니다. 처리하고 나서 한 줄도 몰래 사라지지 않았다는 걸 숫자로 보여줄 수 있어야 합니다. 공항 보안검색대를 떠올려 보세요. 판단이 안 되는 가방은 버리지 않고 정밀검사 대기실로 보냅니다. 격리가 그것입니다.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모델링 용어입니다. 데이터 모델은 데이터를 어떤 덩어리로 나누고 어떻게 잇는지 그린 설계도입니다. 관리할 대상을 엔터티, 대상이 가진 정보를 속성, 대상을 하나로 짚어 내는 값을 식별자라고 합니다. 학급 명단으로 생각하면 쉽습니다. 이름은 같은 학생이 있을 수 있으니 식별자가 될 수 없고, 학번이 식별자입니다. 4일차에 재미있는 함정이 하나 있는데요, 한빛유통 고객 이름이 우연히 전부 다릅니다. 그래도 이름을 식별자로 쓰면 안 됩니다. 지금 안 겹친다고 앞으로도 안 겹친다는 보장이 없으니까요.</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grain은 한 행의 의미입니다. 이 표에서 한 줄은 무엇 하나를 뜻하는지를 묻는 겁니다. 주문 파일은 3,952줄인데 실제 주문은 1,500건입니다. 한 줄이 주문 한 건이 아니라 주문 안의 상품 한 줄이기 때문이죠. 그래서 누가 '주문 몇 건이에요?' 하고 물을 때 len(df) 값을 대답하면 틀립니다. 앞에서 본 배송비 부풀림도 grain을 모르고 더해서 생긴 문제입니다. 4일차에 처음 하는 질문이 바로 이것입니다.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정규화는 값을 자기가 속한 곳에 한 번만 적는 것입니다. 배송비는 주문 단위 값이니까 주문 테이블로 옮기면 한 번만 적히고, 더해도 부풀지 않습니다. 그림처럼 고객 한 명은 주문을 여러 번 할 수 있고, 주문 한 건에는 상품 줄이 여러 개 있고, 상품 하나는 여러 주문에 들어갈 수 있습니다. PK는 한 줄을 짚어 내는 값, FK는 다른 테이블을 가리키는 값입니다. 주문항목은 주문번호와 순번 두 개를 합쳐야 한 줄이 정해집니다. 4일차에 설계하고 5일차에 MySQL에 직접 만듭니다.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과목 이름의 두 번째 단어, AI Ready Data입니다. AI나 분석 도구가 바로 읽고, 믿고, 쓸 수 있는 데이터라는 뜻입니다. 조건을 다섯 가지로 정리했습니다. 표준화되어 있을 것, 품질이 검증되어 있을 것, 설명이 붙어 있을 것, 누가 다시 만들어도 같은 결과가 나올 것, 그리고 미래 정보가 섞이지 않았을 것. 밀키트를 떠올려 보세요. 손질되어 있고, 상한 재료는 없고, 레시피 카드가 있고, 누가 만들어도 같은 맛이 납니다. 바로 요리에 들어갈 수 있는 재료, 그게 AI Ready Data입니다.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개념이 교과서에만 있는 게 아닙니다. 행정안전부가 공공데이터에 AI-레디라는 개념을 처음 도입하면서 기준을 내놓았습니다. 요약하면 네 가지입니다. AI가 바로 읽을 수 있는 형식으로 제공하고, 결측률 같은 요약 통계와 갱신 주기, 변경 이력을 메타데이터로 담고, 식별 값에는 표준코드를 쓰고, 품질 기준을 만족해야 한다는 겁니다. 아래 박스처럼 우리 과목에서 하는 일과 하나하나 겹칩니다. (출처: 행정안전부 발표 관련 문화일보 보도)</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두 가지 모양이 있습니다. 저장용은 정규화된 여러 테이블로 중복 없이 잘 보관하는 모양입니다. 활용용은 분석이나 AI에 바로 넣을 수 있게 고객 한 명당 한 줄로 모은 모양입니다. 창고와 진열대를 생각하면 됩니다. 창고가 잘 정리되어 있어야 진열대를 빠르고 정확하게 채울 수 있죠. 5~6일차에 창고를 만들고, 7일차에 진열대를 채웁니다.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나온 용어를 한 장에 모았습니다. 이 화면은 나중에 헷갈릴 때 다시 보여 드리겠습니다. 오른쪽 열에 처음 쓰는 날을 적어 두었으니, 그날 그 용어가 다시 나온다고 생각하면 됩니다. 오늘 다 외울 필요는 전혀 없습니다.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일하는 순서를 보겠습니다. 표준화는 한 번에 끝나는 일이 아니고 단계가 있습니다. 그리고 단계마다 결과물을 파일로 남깁니다. 그 파일들이 모이면 여러분의 포트폴리오가 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흐름을 아홉 단계로 그렸습니다. 무엇이 있는지 보고, 상태를 검진하고, 약속을 정하고, 바꾸는 규칙을 만들고, 테이블을 어떻게 나눌지 설계하고, 데이터베이스에 담고, 잘 됐는지 검증하고, 설명서를 쓰고, 마지막으로 AI에 줄 데이터를 만듭니다. 앞 단계 결과가 다음 단계 재료가 되기 때문에 순서를 건너뛰면 결국 다시 돌아오게 됩니다.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단계에서 답해야 하는 질문과 남기는 파일을 표로 정리했습니다. 오른쪽 열의 파일들이 열흘 동안 여러분이 직접 만드는 것들입니다. 파일 이름이 낯설어도 괜찮습니다. 그날 그날 하나씩 만들면서 익숙해집니다. 한 가지 기억할 점은, 모든 파일이 '어떤 질문에 대한 답'이라는 것입니다. 면접에서도 이 질문과 답으로 이야기하게 됩니다.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과목에서 가장 중요한 원칙입니다. 판단할 수 없는 데이터는 지우지 않습니다. 격리하고, 왜 판단할 수 없는지 근거를 남깁니다. pandas에서 dropna 한 줄이면 데이터가 깨끗해 보이죠. 그런데 지운 줄 안에 진짜 주문이 있었다면 그 매출은 조용히 사라집니다. 평가에서도 이 원칙이 가장 높은 기준입니다. 오류를 0건으로 만든 사람보다, 판단 못 한 데이터를 격리하고 근거를 남긴 사람이 더 높은 점수를 받습니다.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원칙은 수업 방식입니다. 정의부터 외우지 않고 틀리는 장면을 먼저 봅니다. 매 교시 강사 시연, 같이 치기, 혼자 치기 세 박자로 진행합니다. 오늘 본 네 장면처럼 틀린 결과를 먼저 겪으면 규칙이 왜 필요한지 몸으로 알게 됩니다. 자전거도 한 번 휘청해 봐야 핸들 잡는 법이 기억에 남죠.</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원칙은 사람 눈 대신 검사 프로그램으로 확인한다는 것입니다. '잘 된 것 같아요'가 아니라 '검사 결과 0건입니다'라고 말할 수 있어야 합니다. 과목에서 쓰는 검사 프로그램 목록입니다. 매일 1교시에 check_env.py로 환경을 확인하고, 일차마다 그날 만든 산출물을 검사합니다. 현장에서도 데이터 품질은 자동 검사로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원칙은 재현성입니다. 누가 몇 번을 돌려도 같은 결과가 나와야 합니다. 그래서 실습 데이터도 여러분이 1일차에 직접 생성합니다. 시드가 고정되어 있어서 모두의 데이터가 한 글자까지 같습니다. 그리고 처리 과정을 두 번 돌려도 결과가 두 배가 되지 않아야 하는데, 이걸 멱등성이라고 합니다. 자판기 버튼을 두 번 눌렀는데 음료가 두 개 나오면 곤란하죠.</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열흘의 방향입니다. 네 단원으로 되어 있고, 매일 만든 파일이 다음 날 재료가 됩니다. 그래서 하루를 놓치면 다음 날이 어려워집니다. 대신 막히면 바로 이어갈 수 있게 복구 파일도 준비되어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개의 단원입니다. 1~3일차에 표준을 세우고, 4~6일차에 설계하고 데이터베이스로 만들고, 7~8일차에 AI가 쓸 수 있는 데이터를 완성하고, 9~10일차에 팀 프로젝트를 합니다. 프로젝트 주제는 '레거시 데이터의 AI Ready Data 변환 및 표준 사전 구축'입니다. 레거시는 오래된 시스템이라는 뜻입니다. 1~8일차에 혼자 익힌 과정을 팀이 새 데이터로 처음부터 다시 해 보는 겁니다.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일차별 로드맵입니다. 왼쪽이 그날 배우는 것, 오른쪽이 그날 만드는 것입니다. 8일차가 끝나면 공통 데이터로 전체 과정을 한 번 완주한 결과물이 여러분 폴더에 다 모여 있게 됩니다. 9~10일차에는 팀 데이터로 그 과정을 다시 합니다.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1~8일차는 전부 혼자 실습합니다. 모두 같은 데이터를 쓰니까 옆 사람과 결과를 맞춰 볼 수 있어요. 9~10일차는 세 팀으로 나뉘는데, 팀마다 조금씩 다른 데이터를 받습니다. 컬럼 이름도, 상태 코드 체계도, 금액 단위도 다릅니다. 그래서 공통 데이터로 만든 규칙을 그대로 쓰면 안 맞고, 팀이 함께 진단하고 고쳐야 합니다. 실제 현장이 바로 이렇습니다.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방식입니다. 팀 점수 100점이 설계와 표준 30, 변환 구현 30, 품질 검증 25, 재현성과 설명 15로 나뉩니다. 여기에 개인 계수 0.8에서 1.0을 곱합니다. 개인 계수는 10일차에 한 명씩 확인하는데, 질문은 딱 하나입니다. 본인 코드의 처리 기준을 근거와 함께 설명할 수 있는가. 이건 사실 면접 질문과 똑같습니다. 그리고 품질 검증에서 가장 높이 보는 건, 오류를 0건으로 만든 것이 아니라 판단 못 한 데이터를 격리하고 근거를 남긴 것입니다.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매일 지킬 약속 네 가지입니다. 아침에 check_env.py부터 돌립니다. 작업 폴더는 반드시 C 드라이브 dstd 폴더입니다. 한글이나 공백이 들어간 경로, OneDrive 폴더는 문제를 일으킵니다. 코드는 셀 단위로 Shift+Enter로만 실행합니다. 실행 방법이 여러 개면 결과도 달라질 수 있습니다. 에러가 나면 길게 나와도 겁먹지 말고, 에러 종류가 적힌 줄부터 읽으세요.</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가장 궁금해하실 부분, 취업입니다. 이 과목에서 배우는 것이 어떤 직무로 이어지는지, 공공 분야에서는 어떤지, 어떤 자격증과 연결되는지, 그리고 이 열흘의 결과물을 어떻게 포트폴리오와 면접에 쓰는지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이야기를 먼저 하겠습니다. AI 프로젝트를 한다고 하면 모델 만드는 걸 떠올리는데, 실제로 먼저 막히는 곳은 데이터 준비입니다. 데이터가 없어서가 아니라, 흩어져 있고, 이름과 코드가 제각각이고, 믿을 수 있는지 아무도 모르는 상태라서 멈춥니다. 오늘 본 네 장면은 현장에서 매일 만나는 장면입니다. 모델을 만드는 일은 점점 도구가 도와주고 있지만, 이 데이터를 믿어도 되는지 판단하고 설명하는 일은 사람에게 남습니다. 이 과목이 바로 그 능력을 기르는 과목입니다.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연결되는 직무를 두 장에 나눠 보겠습니다. 첫 번째 묶음은 데이터를 설계하고 흐르게 하는 사람들입니다. 데이터 엔지니어는 데이터가 흐르는 길, 즉 파이프라인을 만듭니다. 데이터 아키텍트나 모델러는 표준을 정하고 설계도를 그립니다. DBA는 데이터베이스를 만들고 지킵니다. 카드 아래쪽에 이 과목에서 어느 부분이 연결되는지 적어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묶음은 데이터를 관리하고 활용하는 사람들입니다. 데이터 품질이나 거버넌스 담당자는 표준과 품질 기준을 관리합니다. 데이터 분석가와 AI 엔지니어는 분석이나 모델링 전에 데이터를 점검하고 누수 없는 학습 데이터를 만들어야 합니다. 공공기관이나 기업의 시스템 구축 사업, 흔히 SI라고 하는 곳에서는 표준 정의서, 코드 정의서, 데이터 이관 업무가 많습니다. 어느 쪽으로 가든 이 과목의 내용이 기초가 됩니다.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 분야를 따로 한 장 넣었습니다. 공공기관은 표준을 지키도록 지침으로 정해져 있고, 품질인증으로 평가를 받고, 최근에는 AI-레디 기준까지 준비해야 합니다. 그러다 보니 공공 데이터 구축 사업, 개방 사업, 시스템 고도화 사업에는 표준 정의서를 쓰고 품질을 점검하고 데이터를 옮기는 사람이 꾸준히 필요합니다. 여러분이 만드는 표준 사전, 매핑표, 품질보고서가 바로 그 사업의 산출물과 같은 종류입니다.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채용공고를 보면 어려운 단어가 많습니다. 그 단어를 여러분이 만든 파일로 번역해 보겠습니다. 데이터 표준화라고 쓰여 있으면 표준사전.xlsx, 품질 관리라고 쓰여 있으면 품질보고서와 검사 결과, 모델링이라고 쓰여 있으면 ERD 그림, ETL이라고 쓰여 있으면 etl.py입니다. 이렇게 공고의 단어 옆에 '제가 만든 이 파일입니다'라고 말할 수 있으면 다른 신입과 확실히 달라집니다.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관련 자격증입니다. 가장 먼저 추천하는 건 SQLD입니다. 5~6일차 내용과 많이 겹칩니다. 그다음 눈여겨볼 것이 DAsP, 데이터아키텍처 준전문가입니다. 다음 장에서 보겠지만 시험 과목 이름이 우리 과목과 거의 같습니다. ADsP, 빅데이터분석기사는 분석 쪽, 정보처리기사는 개발 전반입니다. 데이터 관련 자격은 대부분 한국데이터산업진흥원에서 시행하니 일정은 공식 사이트에서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DAsP를 조금 더 자세히 보겠습니다. 시험 과목이 네 개인데, 전사아키텍처 이해, 데이터 요건 분석, 데이터 표준화, 데이터 모델링입니다. 우리 과목 내용과 거의 그대로 겹칩니다. 참고로 DAsP는 국가공인이 아니라 민간등록자격입니다. 그래서 자격증 자체의 무게보다는, 이 과목에서 손으로 해 본 것을 이론으로 정리하는 용도로 좋다고 생각하시면 됩니다. 한국데이터산업진흥원 공식 안내를 기준으로 정리했습니다.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포트폴리오 만드는 법입니다. 열흘 동안 만든 파일을 그냥 나열하지 말고, README 한 장에 다섯 단계 이야기로 묶습니다. 문제가 뭐였는지, 무엇을 약속했는지, 어떻게 바꿨는지, 맞다는 증거가 뭔지, 결과가 뭔지. 특히 4번 검증이 중요합니다. 아래 예처럼 네 가지 분류 숫자의 합이 원래 행 수와 같다는 한 줄이, 데이터를 한 줄도 잃지 않았다는 가장 강한 증거가 됩니다. README 쓰기는 10일차에 함께 합니다.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이력서 한 줄 쓰는 법입니다. 위쪽처럼 'Pandas로 전처리했다'는 문장은 누구나 씁니다. 읽는 사람 입장에서는 아무 정보가 없어요. 아래처럼 쓰면 달라집니다. 원천이 어땠는지, 무엇을 기준으로 바꿨는지, 판단 못 한 건 어떻게 했는지, 결과를 어떻게 증명했는지가 다 들어 있습니다. 괄호 안 숫자는 공통 데이터 기준 예시입니다. 여러분은 여러분이 만든 숫자로 쓰면 됩니다.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면접에서 실제로 자주 나오는 질문들입니다. 결측치는 어떻게 했냐, 왜 삭제 안 했냐, 다시 돌려도 같냐, 맞는지 어떻게 확인했냐. 답할 때는 상황, 기준, 근거, 숫자 네 박자로 답하면 됩니다. 오른쪽이 첫 번째 질문에 대한 답의 예입니다. 10일차 개인 확인에서 제가 여러분께 묻는 질문이 바로 이 형식입니다. 그러니까 10일차 개인 확인이 곧 면접 연습이라고 생각하세요.</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앞으로의 길입니다. 지금 바로 할 일은 SQL을 손에 붙이는 것, 과정 중에 할 일은 매일 만든 파일로 포트폴리오 저장소를 채워 가는 것입니다. 과정이 끝나면 더 큰 데이터와 클라우드 도구로 넓혀 가면 됩니다. 도구는 계속 바뀝니다. 하지만 약속을 정하고, 검사하고, 근거를 남기고, 다시 만들 수 있게 한다는 원칙은 어떤 도구를 쓰든 그대로 갑니다.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 문장으로 정리하겠습니다. 표준은 약속이고, 품질은 그 약속을 지켰다는 증거이고, AI Ready Data는 그 약속과 증거가 함께 붙어 있는 데이터입니다. 열흘 동안 이 문장을 여러분 손으로 만들어 보는 겁니다. 궁금한 점 있으면 지금 편하게 물어보세요.</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184923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2A65A"/>
                </a:solidFill>
                <a:latin typeface="Noto Sans KR" pitchFamily="34" charset="0"/>
                <a:ea typeface="Noto Sans KR" pitchFamily="34" charset="-122"/>
                <a:cs typeface="Noto Sans KR" pitchFamily="34" charset="-120"/>
              </a:rPr>
              <a:t>과목 오리엔테이션</a:t>
            </a:r>
            <a:endParaRPr lang="en-US" sz="1300" dirty="0"/>
          </a:p>
        </p:txBody>
      </p:sp>
      <p:sp>
        <p:nvSpPr>
          <p:cNvPr id="3" name="Text 1"/>
          <p:cNvSpPr/>
          <p:nvPr/>
        </p:nvSpPr>
        <p:spPr>
          <a:xfrm>
            <a:off x="812800" y="2308920"/>
            <a:ext cx="10883392" cy="1544241"/>
          </a:xfrm>
          <a:prstGeom prst="rect">
            <a:avLst/>
          </a:prstGeom>
          <a:noFill/>
          <a:ln/>
        </p:spPr>
        <p:txBody>
          <a:bodyPr wrap="square" lIns="0" tIns="0" rIns="0" bIns="0" rtlCol="0" anchor="t">
            <a:normAutofit/>
          </a:bodyPr>
          <a:lstStyle/>
          <a:p>
            <a:pPr marL="0" indent="0" algn="l">
              <a:lnSpc>
                <a:spcPts val="5980"/>
              </a:lnSpc>
              <a:buNone/>
            </a:pPr>
            <a:r>
              <a:rPr lang="en-US" sz="5200" b="1" dirty="0">
                <a:solidFill>
                  <a:srgbClr val="F6F4EF"/>
                </a:solidFill>
                <a:latin typeface="Noto Sans KR" pitchFamily="34" charset="0"/>
                <a:ea typeface="Noto Sans KR" pitchFamily="34" charset="-122"/>
                <a:cs typeface="Noto Sans KR" pitchFamily="34" charset="-120"/>
              </a:rPr>
              <a:t>데이터 표준화와</a:t>
            </a:r>
            <a:endParaRPr lang="en-US" sz="5200" dirty="0"/>
          </a:p>
          <a:p>
            <a:pPr marL="0" indent="0" algn="l">
              <a:lnSpc>
                <a:spcPts val="5980"/>
              </a:lnSpc>
              <a:buNone/>
            </a:pPr>
            <a:r>
              <a:rPr lang="en-US" sz="5200" b="1" dirty="0">
                <a:solidFill>
                  <a:srgbClr val="F6F4EF"/>
                </a:solidFill>
                <a:latin typeface="Noto Sans KR" pitchFamily="34" charset="0"/>
                <a:ea typeface="Noto Sans KR" pitchFamily="34" charset="-122"/>
                <a:cs typeface="Noto Sans KR" pitchFamily="34" charset="-120"/>
              </a:rPr>
              <a:t>AI Ready Data</a:t>
            </a:r>
            <a:endParaRPr lang="en-US" sz="5200" dirty="0"/>
          </a:p>
        </p:txBody>
      </p:sp>
      <p:sp>
        <p:nvSpPr>
          <p:cNvPr id="4" name="Text 2"/>
          <p:cNvSpPr/>
          <p:nvPr/>
        </p:nvSpPr>
        <p:spPr>
          <a:xfrm>
            <a:off x="812800" y="4056360"/>
            <a:ext cx="10883392" cy="391120"/>
          </a:xfrm>
          <a:prstGeom prst="rect">
            <a:avLst/>
          </a:prstGeom>
          <a:noFill/>
          <a:ln/>
        </p:spPr>
        <p:txBody>
          <a:bodyPr wrap="square" lIns="0" tIns="0" rIns="0" bIns="0" rtlCol="0" anchor="t">
            <a:normAutofit/>
          </a:bodyPr>
          <a:lstStyle/>
          <a:p>
            <a:pPr marL="0" indent="0" algn="l">
              <a:lnSpc>
                <a:spcPts val="2880"/>
              </a:lnSpc>
              <a:buNone/>
            </a:pPr>
            <a:r>
              <a:rPr lang="en-US" sz="1800" dirty="0">
                <a:solidFill>
                  <a:srgbClr val="C9D3E0"/>
                </a:solidFill>
                <a:latin typeface="Noto Sans KR" pitchFamily="34" charset="0"/>
                <a:ea typeface="Noto Sans KR" pitchFamily="34" charset="-122"/>
                <a:cs typeface="Noto Sans KR" pitchFamily="34" charset="-120"/>
              </a:rPr>
              <a:t>용어 · 방법 · 방향, 그리고 이 공부가 어떤 일로 이어지는가</a:t>
            </a:r>
            <a:endParaRPr lang="en-US" sz="1800" dirty="0"/>
          </a:p>
        </p:txBody>
      </p:sp>
      <p:sp>
        <p:nvSpPr>
          <p:cNvPr id="5" name="Shape 3"/>
          <p:cNvSpPr/>
          <p:nvPr/>
        </p:nvSpPr>
        <p:spPr>
          <a:xfrm>
            <a:off x="812800" y="4650680"/>
            <a:ext cx="1076424" cy="358080"/>
          </a:xfrm>
          <a:prstGeom prst="roundRect">
            <a:avLst>
              <a:gd name="adj" fmla="val 50000"/>
            </a:avLst>
          </a:prstGeom>
          <a:solidFill>
            <a:srgbClr val="2E3F5F"/>
          </a:solidFill>
          <a:ln/>
        </p:spPr>
        <p:txBody>
          <a:bodyPr/>
          <a:lstStyle/>
          <a:p>
            <a:endParaRPr lang="ko-KR" altLang="en-US"/>
          </a:p>
        </p:txBody>
      </p:sp>
      <p:sp>
        <p:nvSpPr>
          <p:cNvPr id="6" name="Text 4"/>
          <p:cNvSpPr/>
          <p:nvPr/>
        </p:nvSpPr>
        <p:spPr>
          <a:xfrm>
            <a:off x="952500" y="4714180"/>
            <a:ext cx="8478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Noto Sans KR" pitchFamily="34" charset="0"/>
                <a:ea typeface="Noto Sans KR" pitchFamily="34" charset="-122"/>
                <a:cs typeface="Noto Sans KR" pitchFamily="34" charset="-120"/>
              </a:rPr>
              <a:t>용어와 정의</a:t>
            </a:r>
            <a:endParaRPr lang="en-US" sz="1300" dirty="0"/>
          </a:p>
        </p:txBody>
      </p:sp>
      <p:sp>
        <p:nvSpPr>
          <p:cNvPr id="7" name="Shape 5"/>
          <p:cNvSpPr/>
          <p:nvPr/>
        </p:nvSpPr>
        <p:spPr>
          <a:xfrm>
            <a:off x="1990824" y="4650680"/>
            <a:ext cx="1076424" cy="358080"/>
          </a:xfrm>
          <a:prstGeom prst="roundRect">
            <a:avLst>
              <a:gd name="adj" fmla="val 50000"/>
            </a:avLst>
          </a:prstGeom>
          <a:solidFill>
            <a:srgbClr val="2E3F5F"/>
          </a:solidFill>
          <a:ln/>
        </p:spPr>
        <p:txBody>
          <a:bodyPr/>
          <a:lstStyle/>
          <a:p>
            <a:endParaRPr lang="ko-KR" altLang="en-US"/>
          </a:p>
        </p:txBody>
      </p:sp>
      <p:sp>
        <p:nvSpPr>
          <p:cNvPr id="8" name="Text 6"/>
          <p:cNvSpPr/>
          <p:nvPr/>
        </p:nvSpPr>
        <p:spPr>
          <a:xfrm>
            <a:off x="2130524" y="4714180"/>
            <a:ext cx="8478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Noto Sans KR" pitchFamily="34" charset="0"/>
                <a:ea typeface="Noto Sans KR" pitchFamily="34" charset="-122"/>
                <a:cs typeface="Noto Sans KR" pitchFamily="34" charset="-120"/>
              </a:rPr>
              <a:t>방법과 순서</a:t>
            </a:r>
            <a:endParaRPr lang="en-US" sz="1300" dirty="0"/>
          </a:p>
        </p:txBody>
      </p:sp>
      <p:sp>
        <p:nvSpPr>
          <p:cNvPr id="9" name="Shape 7"/>
          <p:cNvSpPr/>
          <p:nvPr/>
        </p:nvSpPr>
        <p:spPr>
          <a:xfrm>
            <a:off x="3168848" y="4650680"/>
            <a:ext cx="1119287" cy="358080"/>
          </a:xfrm>
          <a:prstGeom prst="roundRect">
            <a:avLst>
              <a:gd name="adj" fmla="val 50000"/>
            </a:avLst>
          </a:prstGeom>
          <a:solidFill>
            <a:srgbClr val="2E3F5F"/>
          </a:solidFill>
          <a:ln/>
        </p:spPr>
        <p:txBody>
          <a:bodyPr/>
          <a:lstStyle/>
          <a:p>
            <a:endParaRPr lang="ko-KR" altLang="en-US"/>
          </a:p>
        </p:txBody>
      </p:sp>
      <p:sp>
        <p:nvSpPr>
          <p:cNvPr id="10" name="Text 8"/>
          <p:cNvSpPr/>
          <p:nvPr/>
        </p:nvSpPr>
        <p:spPr>
          <a:xfrm>
            <a:off x="3308548" y="4714180"/>
            <a:ext cx="89068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Noto Sans KR" pitchFamily="34" charset="0"/>
                <a:ea typeface="Noto Sans KR" pitchFamily="34" charset="-122"/>
                <a:cs typeface="Noto Sans KR" pitchFamily="34" charset="-120"/>
              </a:rPr>
              <a:t>10일의 방향</a:t>
            </a:r>
            <a:endParaRPr lang="en-US" sz="1300" dirty="0"/>
          </a:p>
        </p:txBody>
      </p:sp>
      <p:sp>
        <p:nvSpPr>
          <p:cNvPr id="11" name="Shape 9"/>
          <p:cNvSpPr/>
          <p:nvPr/>
        </p:nvSpPr>
        <p:spPr>
          <a:xfrm>
            <a:off x="4389735" y="4650680"/>
            <a:ext cx="924520" cy="358080"/>
          </a:xfrm>
          <a:prstGeom prst="roundRect">
            <a:avLst>
              <a:gd name="adj" fmla="val 50000"/>
            </a:avLst>
          </a:prstGeom>
          <a:solidFill>
            <a:srgbClr val="2E3F5F"/>
          </a:solidFill>
          <a:ln/>
        </p:spPr>
        <p:txBody>
          <a:bodyPr/>
          <a:lstStyle/>
          <a:p>
            <a:endParaRPr lang="ko-KR" altLang="en-US"/>
          </a:p>
        </p:txBody>
      </p:sp>
      <p:sp>
        <p:nvSpPr>
          <p:cNvPr id="12" name="Text 10"/>
          <p:cNvSpPr/>
          <p:nvPr/>
        </p:nvSpPr>
        <p:spPr>
          <a:xfrm>
            <a:off x="4529435" y="4714180"/>
            <a:ext cx="6959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4EF"/>
                </a:solidFill>
                <a:latin typeface="Noto Sans KR" pitchFamily="34" charset="0"/>
                <a:ea typeface="Noto Sans KR" pitchFamily="34" charset="-122"/>
                <a:cs typeface="Noto Sans KR" pitchFamily="34" charset="-120"/>
              </a:rPr>
              <a:t>취업 연결</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오늘의 순서</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다섯 가지 질문에 답하면서 갑니다</a:t>
            </a:r>
            <a:endParaRPr lang="en-US" sz="3000" dirty="0"/>
          </a:p>
        </p:txBody>
      </p:sp>
      <p:sp>
        <p:nvSpPr>
          <p:cNvPr id="4" name="Text 2"/>
          <p:cNvSpPr/>
          <p:nvPr/>
        </p:nvSpPr>
        <p:spPr>
          <a:xfrm>
            <a:off x="812800" y="1894780"/>
            <a:ext cx="622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A94E12"/>
                </a:solidFill>
                <a:latin typeface="Noto Sans KR" pitchFamily="34" charset="0"/>
                <a:ea typeface="Noto Sans KR" pitchFamily="34" charset="-122"/>
                <a:cs typeface="Noto Sans KR" pitchFamily="34" charset="-120"/>
              </a:rPr>
              <a:t>1</a:t>
            </a:r>
            <a:endParaRPr lang="en-US" sz="2800" dirty="0"/>
          </a:p>
        </p:txBody>
      </p:sp>
      <p:sp>
        <p:nvSpPr>
          <p:cNvPr id="5" name="Text 3"/>
          <p:cNvSpPr/>
          <p:nvPr/>
        </p:nvSpPr>
        <p:spPr>
          <a:xfrm>
            <a:off x="1536700" y="1813520"/>
            <a:ext cx="3712449"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왜 표준화가 필요할까?</a:t>
            </a:r>
            <a:endParaRPr lang="en-US" sz="1800" dirty="0"/>
          </a:p>
        </p:txBody>
      </p:sp>
      <p:sp>
        <p:nvSpPr>
          <p:cNvPr id="6" name="Text 4"/>
          <p:cNvSpPr/>
          <p:nvPr/>
        </p:nvSpPr>
        <p:spPr>
          <a:xfrm>
            <a:off x="1536700" y="2136080"/>
            <a:ext cx="371244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E6673"/>
                </a:solidFill>
                <a:latin typeface="Noto Sans KR" pitchFamily="34" charset="0"/>
                <a:ea typeface="Noto Sans KR" pitchFamily="34" charset="-122"/>
                <a:cs typeface="Noto Sans KR" pitchFamily="34" charset="-120"/>
              </a:rPr>
              <a:t>방금 배운 pandas로 읽은 데이터, 그대로 믿어도 될까</a:t>
            </a:r>
            <a:endParaRPr lang="en-US" sz="1300" dirty="0"/>
          </a:p>
        </p:txBody>
      </p:sp>
      <p:sp>
        <p:nvSpPr>
          <p:cNvPr id="7" name="Text 5"/>
          <p:cNvSpPr/>
          <p:nvPr/>
        </p:nvSpPr>
        <p:spPr>
          <a:xfrm>
            <a:off x="812800" y="2588121"/>
            <a:ext cx="622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A94E12"/>
                </a:solidFill>
                <a:latin typeface="Noto Sans KR" pitchFamily="34" charset="0"/>
                <a:ea typeface="Noto Sans KR" pitchFamily="34" charset="-122"/>
                <a:cs typeface="Noto Sans KR" pitchFamily="34" charset="-120"/>
              </a:rPr>
              <a:t>2</a:t>
            </a:r>
            <a:endParaRPr lang="en-US" sz="2800" dirty="0"/>
          </a:p>
        </p:txBody>
      </p:sp>
      <p:sp>
        <p:nvSpPr>
          <p:cNvPr id="8" name="Text 6"/>
          <p:cNvSpPr/>
          <p:nvPr/>
        </p:nvSpPr>
        <p:spPr>
          <a:xfrm>
            <a:off x="1536700" y="2506861"/>
            <a:ext cx="3174084"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꼭 알아야 할 용어는?</a:t>
            </a:r>
            <a:endParaRPr lang="en-US" sz="1800" dirty="0"/>
          </a:p>
        </p:txBody>
      </p:sp>
      <p:sp>
        <p:nvSpPr>
          <p:cNvPr id="9" name="Text 7"/>
          <p:cNvSpPr/>
          <p:nvPr/>
        </p:nvSpPr>
        <p:spPr>
          <a:xfrm>
            <a:off x="1536700" y="2829421"/>
            <a:ext cx="31740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E6673"/>
                </a:solidFill>
                <a:latin typeface="Noto Sans KR" pitchFamily="34" charset="0"/>
                <a:ea typeface="Noto Sans KR" pitchFamily="34" charset="-122"/>
                <a:cs typeface="Noto Sans KR" pitchFamily="34" charset="-120"/>
              </a:rPr>
              <a:t>표준 사전 4종 · 품질 · 모델 · AI Ready Data</a:t>
            </a:r>
            <a:endParaRPr lang="en-US" sz="1300" dirty="0"/>
          </a:p>
        </p:txBody>
      </p:sp>
      <p:sp>
        <p:nvSpPr>
          <p:cNvPr id="10" name="Text 8"/>
          <p:cNvSpPr/>
          <p:nvPr/>
        </p:nvSpPr>
        <p:spPr>
          <a:xfrm>
            <a:off x="812800" y="3281462"/>
            <a:ext cx="622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A94E12"/>
                </a:solidFill>
                <a:latin typeface="Noto Sans KR" pitchFamily="34" charset="0"/>
                <a:ea typeface="Noto Sans KR" pitchFamily="34" charset="-122"/>
                <a:cs typeface="Noto Sans KR" pitchFamily="34" charset="-120"/>
              </a:rPr>
              <a:t>3</a:t>
            </a:r>
            <a:endParaRPr lang="en-US" sz="2800" dirty="0"/>
          </a:p>
        </p:txBody>
      </p:sp>
      <p:sp>
        <p:nvSpPr>
          <p:cNvPr id="11" name="Text 9"/>
          <p:cNvSpPr/>
          <p:nvPr/>
        </p:nvSpPr>
        <p:spPr>
          <a:xfrm>
            <a:off x="1536700" y="3200202"/>
            <a:ext cx="3044705"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어떤 순서로 할까?</a:t>
            </a:r>
            <a:endParaRPr lang="en-US" sz="1800" dirty="0"/>
          </a:p>
        </p:txBody>
      </p:sp>
      <p:sp>
        <p:nvSpPr>
          <p:cNvPr id="12" name="Text 10"/>
          <p:cNvSpPr/>
          <p:nvPr/>
        </p:nvSpPr>
        <p:spPr>
          <a:xfrm>
            <a:off x="1536700" y="3522762"/>
            <a:ext cx="304470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E6673"/>
                </a:solidFill>
                <a:latin typeface="Noto Sans KR" pitchFamily="34" charset="0"/>
                <a:ea typeface="Noto Sans KR" pitchFamily="34" charset="-122"/>
                <a:cs typeface="Noto Sans KR" pitchFamily="34" charset="-120"/>
              </a:rPr>
              <a:t>현황 파악부터 활용 데이터까지 한 줄의 흐름</a:t>
            </a:r>
            <a:endParaRPr lang="en-US" sz="1300" dirty="0"/>
          </a:p>
        </p:txBody>
      </p:sp>
      <p:sp>
        <p:nvSpPr>
          <p:cNvPr id="13" name="Text 11"/>
          <p:cNvSpPr/>
          <p:nvPr/>
        </p:nvSpPr>
        <p:spPr>
          <a:xfrm>
            <a:off x="812800" y="3974802"/>
            <a:ext cx="622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A94E12"/>
                </a:solidFill>
                <a:latin typeface="Noto Sans KR" pitchFamily="34" charset="0"/>
                <a:ea typeface="Noto Sans KR" pitchFamily="34" charset="-122"/>
                <a:cs typeface="Noto Sans KR" pitchFamily="34" charset="-120"/>
              </a:rPr>
              <a:t>4</a:t>
            </a:r>
            <a:endParaRPr lang="en-US" sz="2800" dirty="0"/>
          </a:p>
        </p:txBody>
      </p:sp>
      <p:sp>
        <p:nvSpPr>
          <p:cNvPr id="14" name="Text 12"/>
          <p:cNvSpPr/>
          <p:nvPr/>
        </p:nvSpPr>
        <p:spPr>
          <a:xfrm>
            <a:off x="1536700" y="3893542"/>
            <a:ext cx="2447680"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열흘 동안 무엇을 만들까?</a:t>
            </a:r>
            <a:endParaRPr lang="en-US" sz="1800" dirty="0"/>
          </a:p>
        </p:txBody>
      </p:sp>
      <p:sp>
        <p:nvSpPr>
          <p:cNvPr id="15" name="Text 13"/>
          <p:cNvSpPr/>
          <p:nvPr/>
        </p:nvSpPr>
        <p:spPr>
          <a:xfrm>
            <a:off x="1536700" y="4216102"/>
            <a:ext cx="24476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E6673"/>
                </a:solidFill>
                <a:latin typeface="Noto Sans KR" pitchFamily="34" charset="0"/>
                <a:ea typeface="Noto Sans KR" pitchFamily="34" charset="-122"/>
                <a:cs typeface="Noto Sans KR" pitchFamily="34" charset="-120"/>
              </a:rPr>
              <a:t>일차별 산출물과 평가 방식</a:t>
            </a:r>
            <a:endParaRPr lang="en-US" sz="1300" dirty="0"/>
          </a:p>
        </p:txBody>
      </p:sp>
      <p:sp>
        <p:nvSpPr>
          <p:cNvPr id="16" name="Text 14"/>
          <p:cNvSpPr/>
          <p:nvPr/>
        </p:nvSpPr>
        <p:spPr>
          <a:xfrm>
            <a:off x="812800" y="4668143"/>
            <a:ext cx="622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A94E12"/>
                </a:solidFill>
                <a:latin typeface="Noto Sans KR" pitchFamily="34" charset="0"/>
                <a:ea typeface="Noto Sans KR" pitchFamily="34" charset="-122"/>
                <a:cs typeface="Noto Sans KR" pitchFamily="34" charset="-120"/>
              </a:rPr>
              <a:t>5</a:t>
            </a:r>
            <a:endParaRPr lang="en-US" sz="2800" dirty="0"/>
          </a:p>
        </p:txBody>
      </p:sp>
      <p:sp>
        <p:nvSpPr>
          <p:cNvPr id="17" name="Text 15"/>
          <p:cNvSpPr/>
          <p:nvPr/>
        </p:nvSpPr>
        <p:spPr>
          <a:xfrm>
            <a:off x="1536700" y="4586883"/>
            <a:ext cx="2934334"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이 공부는 어떤 일로 이어질까?</a:t>
            </a:r>
            <a:endParaRPr lang="en-US" sz="1800" dirty="0"/>
          </a:p>
        </p:txBody>
      </p:sp>
      <p:sp>
        <p:nvSpPr>
          <p:cNvPr id="18" name="Text 16"/>
          <p:cNvSpPr/>
          <p:nvPr/>
        </p:nvSpPr>
        <p:spPr>
          <a:xfrm>
            <a:off x="1536700" y="4909443"/>
            <a:ext cx="293433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E6673"/>
                </a:solidFill>
                <a:latin typeface="Noto Sans KR" pitchFamily="34" charset="0"/>
                <a:ea typeface="Noto Sans KR" pitchFamily="34" charset="-122"/>
                <a:cs typeface="Noto Sans KR" pitchFamily="34" charset="-120"/>
              </a:rPr>
              <a:t>직무 · 자격증 · 포트폴리오 · 면접</a:t>
            </a:r>
            <a:endParaRPr lang="en-US" sz="13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 / 60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지금까지와 앞으로</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읽는 법은 배웠습니다. 이제 믿을 수 있게 만드는 법을 배웁니다</a:t>
            </a:r>
            <a:endParaRPr lang="en-US" sz="3000" dirty="0"/>
          </a:p>
        </p:txBody>
      </p:sp>
      <p:sp>
        <p:nvSpPr>
          <p:cNvPr id="4" name="Shape 2"/>
          <p:cNvSpPr/>
          <p:nvPr/>
        </p:nvSpPr>
        <p:spPr>
          <a:xfrm>
            <a:off x="815975" y="1816695"/>
            <a:ext cx="4921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45914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지금까지 — JSON · pandas</a:t>
            </a:r>
            <a:endParaRPr lang="en-US" sz="1200" dirty="0"/>
          </a:p>
        </p:txBody>
      </p:sp>
      <p:sp>
        <p:nvSpPr>
          <p:cNvPr id="6" name="Text 4"/>
          <p:cNvSpPr/>
          <p:nvPr/>
        </p:nvSpPr>
        <p:spPr>
          <a:xfrm>
            <a:off x="1047750" y="2350691"/>
            <a:ext cx="459143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데이터를 읽고 다루는 법</a:t>
            </a:r>
            <a:endParaRPr lang="en-US" sz="1800" dirty="0"/>
          </a:p>
        </p:txBody>
      </p:sp>
      <p:sp>
        <p:nvSpPr>
          <p:cNvPr id="7" name="Text 5"/>
          <p:cNvSpPr/>
          <p:nvPr/>
        </p:nvSpPr>
        <p:spPr>
          <a:xfrm>
            <a:off x="1047750" y="2736751"/>
            <a:ext cx="459143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파일을 열고, 표로 만들고, 고르고, 묶고, 합치는 기술을 익혔습니다. 도구를 손에 쥔 단계입니다.</a:t>
            </a:r>
            <a:endParaRPr lang="en-US" sz="1300" dirty="0"/>
          </a:p>
        </p:txBody>
      </p:sp>
      <p:sp>
        <p:nvSpPr>
          <p:cNvPr id="8" name="Text 6"/>
          <p:cNvSpPr/>
          <p:nvPr/>
        </p:nvSpPr>
        <p:spPr>
          <a:xfrm>
            <a:off x="5918200" y="2407841"/>
            <a:ext cx="4064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5E6673"/>
                </a:solidFill>
                <a:latin typeface="Noto Sans KR" pitchFamily="34" charset="0"/>
                <a:ea typeface="Noto Sans KR" pitchFamily="34" charset="-122"/>
                <a:cs typeface="Noto Sans KR" pitchFamily="34" charset="-120"/>
              </a:rPr>
              <a:t>→</a:t>
            </a:r>
            <a:endParaRPr lang="en-US" sz="2800" dirty="0"/>
          </a:p>
        </p:txBody>
      </p:sp>
      <p:sp>
        <p:nvSpPr>
          <p:cNvPr id="9" name="Shape 7"/>
          <p:cNvSpPr/>
          <p:nvPr/>
        </p:nvSpPr>
        <p:spPr>
          <a:xfrm>
            <a:off x="6454775" y="1816695"/>
            <a:ext cx="4921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10" name="Text 8"/>
          <p:cNvSpPr/>
          <p:nvPr/>
        </p:nvSpPr>
        <p:spPr>
          <a:xfrm>
            <a:off x="6686550" y="2048470"/>
            <a:ext cx="45914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앞으로 — 표준화 · AI Ready</a:t>
            </a:r>
            <a:endParaRPr lang="en-US" sz="1200" dirty="0"/>
          </a:p>
        </p:txBody>
      </p:sp>
      <p:sp>
        <p:nvSpPr>
          <p:cNvPr id="11" name="Text 9"/>
          <p:cNvSpPr/>
          <p:nvPr/>
        </p:nvSpPr>
        <p:spPr>
          <a:xfrm>
            <a:off x="6686550" y="2350691"/>
            <a:ext cx="459143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데이터를 믿을 수 있게 만드는 법</a:t>
            </a:r>
            <a:endParaRPr lang="en-US" sz="1800" dirty="0"/>
          </a:p>
        </p:txBody>
      </p:sp>
      <p:sp>
        <p:nvSpPr>
          <p:cNvPr id="12" name="Text 10"/>
          <p:cNvSpPr/>
          <p:nvPr/>
        </p:nvSpPr>
        <p:spPr>
          <a:xfrm>
            <a:off x="6686550" y="2736751"/>
            <a:ext cx="459143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이름·형식·값에 약속을 정하고, 틀린 데이터를 찾아내고, 그 과정을 누구나 다시 할 수 있게 남기는 기술입니다.</a:t>
            </a:r>
            <a:endParaRPr lang="en-US" sz="1300" dirty="0"/>
          </a:p>
        </p:txBody>
      </p:sp>
      <p:sp>
        <p:nvSpPr>
          <p:cNvPr id="13" name="Shape 11"/>
          <p:cNvSpPr/>
          <p:nvPr/>
        </p:nvSpPr>
        <p:spPr>
          <a:xfrm>
            <a:off x="812800" y="3753941"/>
            <a:ext cx="10566400" cy="1282601"/>
          </a:xfrm>
          <a:prstGeom prst="roundRect">
            <a:avLst>
              <a:gd name="adj" fmla="val 5941"/>
            </a:avLst>
          </a:prstGeom>
          <a:solidFill>
            <a:srgbClr val="E3EFE7"/>
          </a:solidFill>
          <a:ln/>
        </p:spPr>
        <p:txBody>
          <a:bodyPr/>
          <a:lstStyle/>
          <a:p>
            <a:endParaRPr lang="ko-KR" altLang="en-US"/>
          </a:p>
        </p:txBody>
      </p:sp>
      <p:sp>
        <p:nvSpPr>
          <p:cNvPr id="14" name="Shape 12"/>
          <p:cNvSpPr/>
          <p:nvPr/>
        </p:nvSpPr>
        <p:spPr>
          <a:xfrm>
            <a:off x="812800" y="375394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5" name="Text 13"/>
          <p:cNvSpPr/>
          <p:nvPr/>
        </p:nvSpPr>
        <p:spPr>
          <a:xfrm>
            <a:off x="1117600" y="395714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요리</a:t>
            </a:r>
            <a:endParaRPr lang="en-US" sz="1300" dirty="0"/>
          </a:p>
        </p:txBody>
      </p:sp>
      <p:sp>
        <p:nvSpPr>
          <p:cNvPr id="16" name="Text 14"/>
          <p:cNvSpPr/>
          <p:nvPr/>
        </p:nvSpPr>
        <p:spPr>
          <a:xfrm>
            <a:off x="1117600" y="426442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칼질을 배웠다고 바로 식당 음식을 낼 수는 없습니다. 재료가 상했는지 보고, 손질 기준을 정하고, 누가 만들어도 같은 맛이 나게 레시피를 적어 두어야 합니다. pandas가 칼질이라면, 이 과목은 재료 검수와 레시피입니다.</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 / 60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19102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2A65A"/>
                </a:solidFill>
                <a:latin typeface="Noto Sans KR" pitchFamily="34" charset="0"/>
                <a:ea typeface="Noto Sans KR" pitchFamily="34" charset="-122"/>
                <a:cs typeface="Noto Sans KR" pitchFamily="34" charset="-120"/>
              </a:rPr>
              <a:t>질문 하나</a:t>
            </a:r>
            <a:endParaRPr lang="en-US" sz="1400" dirty="0"/>
          </a:p>
        </p:txBody>
      </p:sp>
      <p:sp>
        <p:nvSpPr>
          <p:cNvPr id="3" name="Text 1"/>
          <p:cNvSpPr/>
          <p:nvPr/>
        </p:nvSpPr>
        <p:spPr>
          <a:xfrm>
            <a:off x="812800" y="2413099"/>
            <a:ext cx="10883392" cy="1412081"/>
          </a:xfrm>
          <a:prstGeom prst="rect">
            <a:avLst/>
          </a:prstGeom>
          <a:noFill/>
          <a:ln/>
        </p:spPr>
        <p:txBody>
          <a:bodyPr wrap="square" lIns="0" tIns="0" rIns="0" bIns="0" rtlCol="0" anchor="t">
            <a:normAutofit/>
          </a:bodyPr>
          <a:lstStyle/>
          <a:p>
            <a:pPr marL="0" indent="0" algn="l">
              <a:lnSpc>
                <a:spcPts val="5460"/>
              </a:lnSpc>
              <a:buNone/>
            </a:pPr>
            <a:r>
              <a:rPr lang="en-US" sz="4200" b="1" dirty="0">
                <a:solidFill>
                  <a:srgbClr val="F6F4EF"/>
                </a:solidFill>
                <a:latin typeface="Noto Sans KR" pitchFamily="34" charset="0"/>
                <a:ea typeface="Noto Sans KR" pitchFamily="34" charset="-122"/>
                <a:cs typeface="Noto Sans KR" pitchFamily="34" charset="-120"/>
              </a:rPr>
              <a:t>여러분이 방금 pandas로 읽은 그 데이터,</a:t>
            </a:r>
            <a:endParaRPr lang="en-US" sz="4200" dirty="0"/>
          </a:p>
          <a:p>
            <a:pPr marL="0" indent="0" algn="l">
              <a:lnSpc>
                <a:spcPts val="5460"/>
              </a:lnSpc>
              <a:buNone/>
            </a:pPr>
            <a:r>
              <a:rPr lang="en-US" sz="4200" b="1" dirty="0">
                <a:solidFill>
                  <a:srgbClr val="F6F4EF"/>
                </a:solidFill>
                <a:latin typeface="Noto Sans KR" pitchFamily="34" charset="0"/>
                <a:ea typeface="Noto Sans KR" pitchFamily="34" charset="-122"/>
                <a:cs typeface="Noto Sans KR" pitchFamily="34" charset="-120"/>
              </a:rPr>
              <a:t>그대로 믿어도 될까요?</a:t>
            </a:r>
            <a:endParaRPr lang="en-US" sz="4200" dirty="0"/>
          </a:p>
        </p:txBody>
      </p:sp>
      <p:sp>
        <p:nvSpPr>
          <p:cNvPr id="4" name="Text 2"/>
          <p:cNvSpPr/>
          <p:nvPr/>
        </p:nvSpPr>
        <p:spPr>
          <a:xfrm>
            <a:off x="812800" y="4053780"/>
            <a:ext cx="10883392" cy="716161"/>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한빛유통이라는 가상 회사의 실제 실습 데이터로 네 장면을 보겠습니다.</a:t>
            </a:r>
            <a:endParaRPr lang="en-US" sz="1700" dirty="0"/>
          </a:p>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전부 수업 자료를 만들며 직접 실행해서 나온 결과입니다.</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Noto Sans KR" pitchFamily="34" charset="0"/>
                <a:ea typeface="Noto Sans KR" pitchFamily="34" charset="-122"/>
                <a:cs typeface="Noto Sans KR" pitchFamily="34" charset="-120"/>
              </a:rPr>
              <a:t>4 / 60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실습 회사 소개</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한빛유통 — 시스템 세 개에서 데이터가 나옵니다</a:t>
            </a:r>
            <a:endParaRPr lang="en-US" sz="3000" dirty="0"/>
          </a:p>
        </p:txBody>
      </p:sp>
      <p:sp>
        <p:nvSpPr>
          <p:cNvPr id="4" name="Shape 2"/>
          <p:cNvSpPr/>
          <p:nvPr/>
        </p:nvSpPr>
        <p:spPr>
          <a:xfrm>
            <a:off x="8159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회원관리 시스템</a:t>
            </a:r>
            <a:endParaRPr lang="en-US" sz="1200" dirty="0"/>
          </a:p>
        </p:txBody>
      </p:sp>
      <p:sp>
        <p:nvSpPr>
          <p:cNvPr id="6" name="Text 4"/>
          <p:cNvSpPr/>
          <p:nvPr/>
        </p:nvSpPr>
        <p:spPr>
          <a:xfrm>
            <a:off x="10477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고객 정보 CSV</a:t>
            </a:r>
            <a:endParaRPr lang="en-US" sz="1800" dirty="0"/>
          </a:p>
        </p:txBody>
      </p:sp>
      <p:sp>
        <p:nvSpPr>
          <p:cNvPr id="7" name="Text 5"/>
          <p:cNvSpPr/>
          <p:nvPr/>
        </p:nvSpPr>
        <p:spPr>
          <a:xfrm>
            <a:off x="10477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글자 인코딩 </a:t>
            </a:r>
            <a:r>
              <a:rPr lang="en-US" sz="1300" b="1" dirty="0">
                <a:solidFill>
                  <a:srgbClr val="3D4757"/>
                </a:solidFill>
                <a:latin typeface="Noto Sans KR" pitchFamily="34" charset="0"/>
                <a:ea typeface="Noto Sans KR" pitchFamily="34" charset="-122"/>
                <a:cs typeface="Noto Sans KR" pitchFamily="34" charset="-120"/>
              </a:rPr>
              <a:t>EUC-KR</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오래된 시스템에서 나온 파일</a:t>
            </a:r>
            <a:endParaRPr lang="en-US" sz="1300" dirty="0"/>
          </a:p>
        </p:txBody>
      </p:sp>
      <p:sp>
        <p:nvSpPr>
          <p:cNvPr id="8" name="Shape 6"/>
          <p:cNvSpPr/>
          <p:nvPr/>
        </p:nvSpPr>
        <p:spPr>
          <a:xfrm>
            <a:off x="43973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구 주문관리 시스템</a:t>
            </a:r>
            <a:endParaRPr lang="en-US" sz="1200" dirty="0"/>
          </a:p>
        </p:txBody>
      </p:sp>
      <p:sp>
        <p:nvSpPr>
          <p:cNvPr id="10" name="Text 8"/>
          <p:cNvSpPr/>
          <p:nvPr/>
        </p:nvSpPr>
        <p:spPr>
          <a:xfrm>
            <a:off x="46291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주문 CSV</a:t>
            </a:r>
            <a:endParaRPr lang="en-US" sz="1800" dirty="0"/>
          </a:p>
        </p:txBody>
      </p:sp>
      <p:sp>
        <p:nvSpPr>
          <p:cNvPr id="11" name="Text 9"/>
          <p:cNvSpPr/>
          <p:nvPr/>
        </p:nvSpPr>
        <p:spPr>
          <a:xfrm>
            <a:off x="46291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글자 인코딩 </a:t>
            </a:r>
            <a:r>
              <a:rPr lang="en-US" sz="1300" b="1" dirty="0">
                <a:solidFill>
                  <a:srgbClr val="3D4757"/>
                </a:solidFill>
                <a:latin typeface="Noto Sans KR" pitchFamily="34" charset="0"/>
                <a:ea typeface="Noto Sans KR" pitchFamily="34" charset="-122"/>
                <a:cs typeface="Noto Sans KR" pitchFamily="34" charset="-120"/>
              </a:rPr>
              <a:t>UTF-8 BOM</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한 줄 = 주문 안의 </a:t>
            </a:r>
            <a:r>
              <a:rPr lang="en-US" sz="1300" b="1" dirty="0">
                <a:solidFill>
                  <a:srgbClr val="3D4757"/>
                </a:solidFill>
                <a:latin typeface="Noto Sans KR" pitchFamily="34" charset="0"/>
                <a:ea typeface="Noto Sans KR" pitchFamily="34" charset="-122"/>
                <a:cs typeface="Noto Sans KR" pitchFamily="34" charset="-120"/>
              </a:rPr>
              <a:t>상품 한 줄</a:t>
            </a:r>
            <a:endParaRPr lang="en-US" sz="1300" dirty="0"/>
          </a:p>
        </p:txBody>
      </p:sp>
      <p:sp>
        <p:nvSpPr>
          <p:cNvPr id="12" name="Shape 10"/>
          <p:cNvSpPr/>
          <p:nvPr/>
        </p:nvSpPr>
        <p:spPr>
          <a:xfrm>
            <a:off x="79787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신 상품 시스템</a:t>
            </a:r>
            <a:endParaRPr lang="en-US" sz="1200" dirty="0"/>
          </a:p>
        </p:txBody>
      </p:sp>
      <p:sp>
        <p:nvSpPr>
          <p:cNvPr id="14" name="Text 12"/>
          <p:cNvSpPr/>
          <p:nvPr/>
        </p:nvSpPr>
        <p:spPr>
          <a:xfrm>
            <a:off x="82105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상품 API 응답 JSON</a:t>
            </a:r>
            <a:endParaRPr lang="en-US" sz="1800" dirty="0"/>
          </a:p>
        </p:txBody>
      </p:sp>
      <p:sp>
        <p:nvSpPr>
          <p:cNvPr id="15" name="Text 13"/>
          <p:cNvSpPr/>
          <p:nvPr/>
        </p:nvSpPr>
        <p:spPr>
          <a:xfrm>
            <a:off x="82105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특강에서 배운 바로 그 JSON</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이름 짓는 방식이 또 다름</a:t>
            </a:r>
            <a:endParaRPr lang="en-US" sz="1300" dirty="0"/>
          </a:p>
        </p:txBody>
      </p:sp>
      <p:sp>
        <p:nvSpPr>
          <p:cNvPr id="16" name="Shape 14"/>
          <p:cNvSpPr/>
          <p:nvPr/>
        </p:nvSpPr>
        <p:spPr>
          <a:xfrm>
            <a:off x="812800" y="3753941"/>
            <a:ext cx="10566400" cy="1219101"/>
          </a:xfrm>
          <a:prstGeom prst="roundRect">
            <a:avLst>
              <a:gd name="adj" fmla="val 6251"/>
            </a:avLst>
          </a:prstGeom>
          <a:solidFill>
            <a:srgbClr val="F8EBDD"/>
          </a:solidFill>
          <a:ln/>
        </p:spPr>
        <p:txBody>
          <a:bodyPr/>
          <a:lstStyle/>
          <a:p>
            <a:endParaRPr lang="ko-KR" altLang="en-US"/>
          </a:p>
        </p:txBody>
      </p:sp>
      <p:sp>
        <p:nvSpPr>
          <p:cNvPr id="17" name="Shape 15"/>
          <p:cNvSpPr/>
          <p:nvPr/>
        </p:nvSpPr>
        <p:spPr>
          <a:xfrm>
            <a:off x="812800" y="3753941"/>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A94E12"/>
          </a:solidFill>
          <a:ln/>
        </p:spPr>
        <p:txBody>
          <a:bodyPr/>
          <a:lstStyle/>
          <a:p>
            <a:endParaRPr lang="ko-KR" altLang="en-US"/>
          </a:p>
        </p:txBody>
      </p:sp>
      <p:sp>
        <p:nvSpPr>
          <p:cNvPr id="18" name="Text 16"/>
          <p:cNvSpPr/>
          <p:nvPr/>
        </p:nvSpPr>
        <p:spPr>
          <a:xfrm>
            <a:off x="1092200" y="3931741"/>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4E12"/>
                </a:solidFill>
                <a:latin typeface="Noto Sans KR" pitchFamily="34" charset="0"/>
                <a:ea typeface="Noto Sans KR" pitchFamily="34" charset="-122"/>
                <a:cs typeface="Noto Sans KR" pitchFamily="34" charset="-120"/>
              </a:rPr>
              <a:t>핵심</a:t>
            </a:r>
            <a:endParaRPr lang="en-US" sz="1300" dirty="0"/>
          </a:p>
        </p:txBody>
      </p:sp>
      <p:sp>
        <p:nvSpPr>
          <p:cNvPr id="19" name="Text 17"/>
          <p:cNvSpPr/>
          <p:nvPr/>
        </p:nvSpPr>
        <p:spPr>
          <a:xfrm>
            <a:off x="1092200" y="422632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만든 시기도, 만든 사람도, 이름 짓는 습관도 다른 시스템 세 개. 이 데이터를 </a:t>
            </a:r>
            <a:r>
              <a:rPr lang="en-US" sz="1400" b="1" dirty="0">
                <a:solidFill>
                  <a:srgbClr val="3D4757"/>
                </a:solidFill>
                <a:latin typeface="Noto Sans KR" pitchFamily="34" charset="0"/>
                <a:ea typeface="Noto Sans KR" pitchFamily="34" charset="-122"/>
                <a:cs typeface="Noto Sans KR" pitchFamily="34" charset="-120"/>
              </a:rPr>
              <a:t>하나로 모아 분석과 AI에 쓸 수 있게</a:t>
            </a:r>
            <a:r>
              <a:rPr lang="en-US" sz="1400" dirty="0">
                <a:solidFill>
                  <a:srgbClr val="3D4757"/>
                </a:solidFill>
                <a:latin typeface="Noto Sans KR" pitchFamily="34" charset="0"/>
                <a:ea typeface="Noto Sans KR" pitchFamily="34" charset="-122"/>
                <a:cs typeface="Noto Sans KR" pitchFamily="34" charset="-120"/>
              </a:rPr>
              <a:t> 만드는 것이 이 과목 전체의 목표입니다.</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 / 60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장면 ① · 읽자마자 바뀐 값</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고객번호 0000001이 1이 됩니다</a:t>
            </a:r>
            <a:endParaRPr lang="en-US" sz="3000" dirty="0"/>
          </a:p>
        </p:txBody>
      </p:sp>
      <p:sp>
        <p:nvSpPr>
          <p:cNvPr id="4" name="Text 2"/>
          <p:cNvSpPr/>
          <p:nvPr/>
        </p:nvSpPr>
        <p:spPr>
          <a:xfrm>
            <a:off x="812800" y="1813520"/>
            <a:ext cx="3008630" cy="289520"/>
          </a:xfrm>
          <a:prstGeom prst="rect">
            <a:avLst/>
          </a:prstGeom>
          <a:noFill/>
          <a:ln/>
        </p:spPr>
        <p:txBody>
          <a:bodyPr wrap="square" lIns="0" tIns="0" rIns="0" bIns="0" rtlCol="0" anchor="t">
            <a:normAutofit/>
          </a:bodyPr>
          <a:lstStyle/>
          <a:p>
            <a:pPr marL="0" indent="0" algn="l">
              <a:lnSpc>
                <a:spcPts val="2080"/>
              </a:lnSpc>
              <a:buNone/>
            </a:pPr>
            <a:r>
              <a:rPr lang="en-US" sz="1300" b="1" dirty="0">
                <a:solidFill>
                  <a:srgbClr val="5E6673"/>
                </a:solidFill>
                <a:latin typeface="Noto Sans KR" pitchFamily="34" charset="0"/>
                <a:ea typeface="Noto Sans KR" pitchFamily="34" charset="-122"/>
                <a:cs typeface="Noto Sans KR" pitchFamily="34" charset="-120"/>
              </a:rPr>
              <a:t>원천 파일에 적힌 값</a:t>
            </a:r>
            <a:endParaRPr lang="en-US" sz="1300" dirty="0"/>
          </a:p>
        </p:txBody>
      </p:sp>
      <p:sp>
        <p:nvSpPr>
          <p:cNvPr id="5" name="Shape 3"/>
          <p:cNvSpPr/>
          <p:nvPr/>
        </p:nvSpPr>
        <p:spPr>
          <a:xfrm>
            <a:off x="819150" y="2160191"/>
            <a:ext cx="2908300" cy="829270"/>
          </a:xfrm>
          <a:prstGeom prst="roundRect">
            <a:avLst>
              <a:gd name="adj" fmla="val 9955"/>
            </a:avLst>
          </a:prstGeom>
          <a:solidFill>
            <a:srgbClr val="FFFDF8"/>
          </a:solidFill>
          <a:ln w="12700">
            <a:solidFill>
              <a:srgbClr val="D9D4C7"/>
            </a:solidFill>
            <a:prstDash val="solid"/>
          </a:ln>
        </p:spPr>
        <p:txBody>
          <a:bodyPr/>
          <a:lstStyle/>
          <a:p>
            <a:endParaRPr lang="ko-KR" altLang="en-US"/>
          </a:p>
        </p:txBody>
      </p:sp>
      <p:sp>
        <p:nvSpPr>
          <p:cNvPr id="6" name="Text 4"/>
          <p:cNvSpPr/>
          <p:nvPr/>
        </p:nvSpPr>
        <p:spPr>
          <a:xfrm>
            <a:off x="1854498" y="2318941"/>
            <a:ext cx="837605"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1B2A44"/>
                </a:solidFill>
                <a:latin typeface="Noto Sans KR" pitchFamily="34" charset="0"/>
                <a:ea typeface="Noto Sans KR" pitchFamily="34" charset="-122"/>
                <a:cs typeface="Noto Sans KR" pitchFamily="34" charset="-120"/>
              </a:rPr>
              <a:t>0000001</a:t>
            </a:r>
            <a:endParaRPr lang="en-US" sz="1500" dirty="0"/>
          </a:p>
        </p:txBody>
      </p:sp>
      <p:sp>
        <p:nvSpPr>
          <p:cNvPr id="7" name="Text 5"/>
          <p:cNvSpPr/>
          <p:nvPr/>
        </p:nvSpPr>
        <p:spPr>
          <a:xfrm>
            <a:off x="1550789" y="2617391"/>
            <a:ext cx="14450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고객번호 · 글자 7자리</a:t>
            </a:r>
            <a:endParaRPr lang="en-US" sz="1200" dirty="0"/>
          </a:p>
        </p:txBody>
      </p:sp>
      <p:sp>
        <p:nvSpPr>
          <p:cNvPr id="8" name="Text 6"/>
          <p:cNvSpPr/>
          <p:nvPr/>
        </p:nvSpPr>
        <p:spPr>
          <a:xfrm>
            <a:off x="3962400" y="2155726"/>
            <a:ext cx="4064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3231B"/>
                </a:solidFill>
                <a:latin typeface="Noto Sans KR" pitchFamily="34" charset="0"/>
                <a:ea typeface="Noto Sans KR" pitchFamily="34" charset="-122"/>
                <a:cs typeface="Noto Sans KR" pitchFamily="34" charset="-120"/>
              </a:rPr>
              <a:t>→</a:t>
            </a:r>
            <a:endParaRPr lang="en-US" sz="2800" dirty="0"/>
          </a:p>
        </p:txBody>
      </p:sp>
      <p:sp>
        <p:nvSpPr>
          <p:cNvPr id="9" name="Text 7"/>
          <p:cNvSpPr/>
          <p:nvPr/>
        </p:nvSpPr>
        <p:spPr>
          <a:xfrm>
            <a:off x="4546600" y="1813520"/>
            <a:ext cx="3008630" cy="289520"/>
          </a:xfrm>
          <a:prstGeom prst="rect">
            <a:avLst/>
          </a:prstGeom>
          <a:noFill/>
          <a:ln/>
        </p:spPr>
        <p:txBody>
          <a:bodyPr wrap="square" lIns="0" tIns="0" rIns="0" bIns="0" rtlCol="0" anchor="t">
            <a:normAutofit/>
          </a:bodyPr>
          <a:lstStyle/>
          <a:p>
            <a:pPr marL="0" indent="0" algn="l">
              <a:lnSpc>
                <a:spcPts val="2080"/>
              </a:lnSpc>
              <a:buNone/>
            </a:pPr>
            <a:r>
              <a:rPr lang="en-US" sz="1300" b="1" dirty="0">
                <a:solidFill>
                  <a:srgbClr val="5E6673"/>
                </a:solidFill>
                <a:latin typeface="Noto Sans KR" pitchFamily="34" charset="0"/>
                <a:ea typeface="Noto Sans KR" pitchFamily="34" charset="-122"/>
                <a:cs typeface="Noto Sans KR" pitchFamily="34" charset="-120"/>
              </a:rPr>
              <a:t>옵션 없이 read_csv 로 읽은 값</a:t>
            </a:r>
            <a:endParaRPr lang="en-US" sz="1300" dirty="0"/>
          </a:p>
        </p:txBody>
      </p:sp>
      <p:sp>
        <p:nvSpPr>
          <p:cNvPr id="10" name="Shape 8"/>
          <p:cNvSpPr/>
          <p:nvPr/>
        </p:nvSpPr>
        <p:spPr>
          <a:xfrm>
            <a:off x="4552950" y="2160191"/>
            <a:ext cx="2908300" cy="829270"/>
          </a:xfrm>
          <a:prstGeom prst="roundRect">
            <a:avLst>
              <a:gd name="adj" fmla="val 9955"/>
            </a:avLst>
          </a:prstGeom>
          <a:solidFill>
            <a:srgbClr val="FBE9E6"/>
          </a:solidFill>
          <a:ln w="12700">
            <a:solidFill>
              <a:srgbClr val="E3A69F"/>
            </a:solidFill>
            <a:prstDash val="solid"/>
          </a:ln>
        </p:spPr>
        <p:txBody>
          <a:bodyPr/>
          <a:lstStyle/>
          <a:p>
            <a:endParaRPr lang="ko-KR" altLang="en-US"/>
          </a:p>
        </p:txBody>
      </p:sp>
      <p:sp>
        <p:nvSpPr>
          <p:cNvPr id="11" name="Text 9"/>
          <p:cNvSpPr/>
          <p:nvPr/>
        </p:nvSpPr>
        <p:spPr>
          <a:xfrm>
            <a:off x="5925443" y="2318941"/>
            <a:ext cx="163215"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A3231B"/>
                </a:solidFill>
                <a:latin typeface="Noto Sans KR" pitchFamily="34" charset="0"/>
                <a:ea typeface="Noto Sans KR" pitchFamily="34" charset="-122"/>
                <a:cs typeface="Noto Sans KR" pitchFamily="34" charset="-120"/>
              </a:rPr>
              <a:t>1</a:t>
            </a:r>
            <a:endParaRPr lang="en-US" sz="1500" dirty="0"/>
          </a:p>
        </p:txBody>
      </p:sp>
      <p:sp>
        <p:nvSpPr>
          <p:cNvPr id="12" name="Text 10"/>
          <p:cNvSpPr/>
          <p:nvPr/>
        </p:nvSpPr>
        <p:spPr>
          <a:xfrm>
            <a:off x="5356423" y="2617391"/>
            <a:ext cx="130125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3231B"/>
                </a:solidFill>
                <a:latin typeface="Noto Sans KR" pitchFamily="34" charset="0"/>
                <a:ea typeface="Noto Sans KR" pitchFamily="34" charset="-122"/>
                <a:cs typeface="Noto Sans KR" pitchFamily="34" charset="-120"/>
              </a:rPr>
              <a:t>자료형 int64 · 숫자</a:t>
            </a:r>
            <a:endParaRPr lang="en-US" sz="1200" dirty="0"/>
          </a:p>
        </p:txBody>
      </p:sp>
      <p:sp>
        <p:nvSpPr>
          <p:cNvPr id="13" name="Text 11"/>
          <p:cNvSpPr/>
          <p:nvPr/>
        </p:nvSpPr>
        <p:spPr>
          <a:xfrm>
            <a:off x="812800" y="3249811"/>
            <a:ext cx="10883392" cy="635000"/>
          </a:xfrm>
          <a:prstGeom prst="rect">
            <a:avLst/>
          </a:prstGeom>
          <a:noFill/>
          <a:ln/>
        </p:spPr>
        <p:txBody>
          <a:bodyPr wrap="square" lIns="0" tIns="0" rIns="0" bIns="0" rtlCol="0" anchor="t">
            <a:normAutofit/>
          </a:bodyPr>
          <a:lstStyle/>
          <a:p>
            <a:pPr marL="0" indent="0" algn="l">
              <a:lnSpc>
                <a:spcPts val="2400"/>
              </a:lnSpc>
              <a:buNone/>
            </a:pPr>
            <a:r>
              <a:rPr lang="en-US" sz="1500" dirty="0">
                <a:solidFill>
                  <a:srgbClr val="3D4757"/>
                </a:solidFill>
                <a:latin typeface="Noto Sans KR" pitchFamily="34" charset="0"/>
                <a:ea typeface="Noto Sans KR" pitchFamily="34" charset="-122"/>
                <a:cs typeface="Noto Sans KR" pitchFamily="34" charset="-120"/>
              </a:rPr>
              <a:t>pandas는 숫자처럼 생긴 글자를 보면 친절하게 숫자로 바꿔 줍니다. 그 순간 앞의 0 여섯 개가 사라지고, </a:t>
            </a:r>
            <a:r>
              <a:rPr lang="en-US" sz="1500" b="1" dirty="0">
                <a:solidFill>
                  <a:srgbClr val="3D4757"/>
                </a:solidFill>
                <a:latin typeface="Noto Sans KR" pitchFamily="34" charset="0"/>
                <a:ea typeface="Noto Sans KR" pitchFamily="34" charset="-122"/>
                <a:cs typeface="Noto Sans KR" pitchFamily="34" charset="-120"/>
              </a:rPr>
              <a:t>다른 시스템의 고객번호와 더 이상 맞춰 볼 수 없게</a:t>
            </a:r>
            <a:r>
              <a:rPr lang="en-US" sz="1500" dirty="0">
                <a:solidFill>
                  <a:srgbClr val="3D4757"/>
                </a:solidFill>
                <a:latin typeface="Noto Sans KR" pitchFamily="34" charset="0"/>
                <a:ea typeface="Noto Sans KR" pitchFamily="34" charset="-122"/>
                <a:cs typeface="Noto Sans KR" pitchFamily="34" charset="-120"/>
              </a:rPr>
              <a:t> 됩니다. 에러는 나지 않습니다.</a:t>
            </a:r>
            <a:endParaRPr lang="en-US" sz="1500" dirty="0"/>
          </a:p>
        </p:txBody>
      </p:sp>
      <p:sp>
        <p:nvSpPr>
          <p:cNvPr id="14" name="Shape 12"/>
          <p:cNvSpPr/>
          <p:nvPr/>
        </p:nvSpPr>
        <p:spPr>
          <a:xfrm>
            <a:off x="812800" y="4113411"/>
            <a:ext cx="10566400" cy="1282601"/>
          </a:xfrm>
          <a:prstGeom prst="roundRect">
            <a:avLst>
              <a:gd name="adj" fmla="val 5941"/>
            </a:avLst>
          </a:prstGeom>
          <a:solidFill>
            <a:srgbClr val="E3EFE7"/>
          </a:solidFill>
          <a:ln/>
        </p:spPr>
        <p:txBody>
          <a:bodyPr/>
          <a:lstStyle/>
          <a:p>
            <a:endParaRPr lang="ko-KR" altLang="en-US"/>
          </a:p>
        </p:txBody>
      </p:sp>
      <p:sp>
        <p:nvSpPr>
          <p:cNvPr id="15" name="Shape 13"/>
          <p:cNvSpPr/>
          <p:nvPr/>
        </p:nvSpPr>
        <p:spPr>
          <a:xfrm>
            <a:off x="812800" y="411341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6" name="Text 14"/>
          <p:cNvSpPr/>
          <p:nvPr/>
        </p:nvSpPr>
        <p:spPr>
          <a:xfrm>
            <a:off x="1117600" y="431661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우편번호</a:t>
            </a:r>
            <a:endParaRPr lang="en-US" sz="1300" dirty="0"/>
          </a:p>
        </p:txBody>
      </p:sp>
      <p:sp>
        <p:nvSpPr>
          <p:cNvPr id="17" name="Text 15"/>
          <p:cNvSpPr/>
          <p:nvPr/>
        </p:nvSpPr>
        <p:spPr>
          <a:xfrm>
            <a:off x="1117600" y="4623891"/>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우편번호 06236을 숫자로 저장하면 6236이 됩니다. 계산할 일이 없는 '번호'는 숫자가 아니라 글자입니다. 무엇을 글자로, 무엇을 숫자로 둘지 미리 약속하는 것이 표준화의 한 부분입니다.</a:t>
            </a:r>
            <a:endParaRPr lang="en-US" sz="14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6 / 60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장면 ② · 같은 뜻, 다른 표기</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주문 상태 하나를 적는 방법이 10가지입니다</a:t>
            </a:r>
            <a:endParaRPr lang="en-US" sz="3000" dirty="0"/>
          </a:p>
        </p:txBody>
      </p:sp>
      <p:sp>
        <p:nvSpPr>
          <p:cNvPr id="4" name="Text 2"/>
          <p:cNvSpPr/>
          <p:nvPr/>
        </p:nvSpPr>
        <p:spPr>
          <a:xfrm>
            <a:off x="812800" y="1813520"/>
            <a:ext cx="6854444"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주문 파일의 주문 상태 컬럼 ORD_ST</a:t>
            </a:r>
            <a:endParaRPr lang="en-US" sz="1500" dirty="0"/>
          </a:p>
        </p:txBody>
      </p:sp>
      <p:sp>
        <p:nvSpPr>
          <p:cNvPr id="5" name="Text 3"/>
          <p:cNvSpPr/>
          <p:nvPr/>
        </p:nvSpPr>
        <p:spPr>
          <a:xfrm>
            <a:off x="812800" y="2245320"/>
            <a:ext cx="6854444"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실제로 들어 있는 서로 다른 표기가 </a:t>
            </a:r>
            <a:r>
              <a:rPr lang="en-US" sz="1400" b="1" dirty="0">
                <a:solidFill>
                  <a:srgbClr val="3D4757"/>
                </a:solidFill>
                <a:latin typeface="Noto Sans KR" pitchFamily="34" charset="0"/>
                <a:ea typeface="Noto Sans KR" pitchFamily="34" charset="-122"/>
                <a:cs typeface="Noto Sans KR" pitchFamily="34" charset="-120"/>
              </a:rPr>
              <a:t>10가지</a:t>
            </a:r>
            <a:r>
              <a:rPr lang="en-US" sz="1400" dirty="0">
                <a:solidFill>
                  <a:srgbClr val="3D4757"/>
                </a:solidFill>
                <a:latin typeface="Noto Sans KR" pitchFamily="34" charset="0"/>
                <a:ea typeface="Noto Sans KR" pitchFamily="34" charset="-122"/>
                <a:cs typeface="Noto Sans KR" pitchFamily="34" charset="-120"/>
              </a:rPr>
              <a:t>입니다. 사람은 비슷한 말이라고 알아보지만, 컴퓨터에게는 전부 다른 값입니다.</a:t>
            </a:r>
            <a:endParaRPr lang="en-US" sz="1400" dirty="0"/>
          </a:p>
        </p:txBody>
      </p:sp>
      <p:sp>
        <p:nvSpPr>
          <p:cNvPr id="6" name="Text 4"/>
          <p:cNvSpPr/>
          <p:nvPr/>
        </p:nvSpPr>
        <p:spPr>
          <a:xfrm>
            <a:off x="812800" y="2941241"/>
            <a:ext cx="6854444" cy="3098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그대로 개수를 세면 '결제 완료 주문 수' 같은 숫자가 여러 칸으로 쪼개져 나옵니다.</a:t>
            </a:r>
            <a:endParaRPr lang="en-US" sz="1400" dirty="0"/>
          </a:p>
        </p:txBody>
      </p:sp>
      <p:sp>
        <p:nvSpPr>
          <p:cNvPr id="7" name="Text 5"/>
          <p:cNvSpPr/>
          <p:nvPr/>
        </p:nvSpPr>
        <p:spPr>
          <a:xfrm>
            <a:off x="7823200" y="1813520"/>
            <a:ext cx="3662680" cy="289520"/>
          </a:xfrm>
          <a:prstGeom prst="rect">
            <a:avLst/>
          </a:prstGeom>
          <a:noFill/>
          <a:ln/>
        </p:spPr>
        <p:txBody>
          <a:bodyPr wrap="square" lIns="0" tIns="0" rIns="0" bIns="0" rtlCol="0" anchor="t">
            <a:normAutofit/>
          </a:bodyPr>
          <a:lstStyle/>
          <a:p>
            <a:pPr marL="0" indent="0" algn="l">
              <a:lnSpc>
                <a:spcPts val="2080"/>
              </a:lnSpc>
              <a:buNone/>
            </a:pPr>
            <a:r>
              <a:rPr lang="en-US" sz="1300" b="1" dirty="0">
                <a:solidFill>
                  <a:srgbClr val="2458A6"/>
                </a:solidFill>
                <a:latin typeface="Noto Sans KR" pitchFamily="34" charset="0"/>
                <a:ea typeface="Noto Sans KR" pitchFamily="34" charset="-122"/>
                <a:cs typeface="Noto Sans KR" pitchFamily="34" charset="-120"/>
              </a:rPr>
              <a:t>공공기관에서 실제로 있었던 일</a:t>
            </a:r>
            <a:endParaRPr lang="en-US" sz="1300" dirty="0"/>
          </a:p>
        </p:txBody>
      </p:sp>
      <p:sp>
        <p:nvSpPr>
          <p:cNvPr id="8" name="Shape 6"/>
          <p:cNvSpPr/>
          <p:nvPr/>
        </p:nvSpPr>
        <p:spPr>
          <a:xfrm>
            <a:off x="7829550" y="2147491"/>
            <a:ext cx="3543300" cy="317500"/>
          </a:xfrm>
          <a:prstGeom prst="roundRect">
            <a:avLst>
              <a:gd name="adj" fmla="val 26000"/>
            </a:avLst>
          </a:prstGeom>
          <a:solidFill>
            <a:srgbClr val="FFFDF8"/>
          </a:solidFill>
          <a:ln w="12700">
            <a:solidFill>
              <a:srgbClr val="D9D4C7"/>
            </a:solidFill>
            <a:prstDash val="solid"/>
          </a:ln>
        </p:spPr>
        <p:txBody>
          <a:bodyPr/>
          <a:lstStyle/>
          <a:p>
            <a:endParaRPr lang="ko-KR" altLang="en-US"/>
          </a:p>
        </p:txBody>
      </p:sp>
      <p:sp>
        <p:nvSpPr>
          <p:cNvPr id="9" name="Text 7"/>
          <p:cNvSpPr/>
          <p:nvPr/>
        </p:nvSpPr>
        <p:spPr>
          <a:xfrm>
            <a:off x="9260284" y="2306241"/>
            <a:ext cx="681831"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1B2A44"/>
                </a:solidFill>
                <a:latin typeface="Noto Sans KR" pitchFamily="34" charset="0"/>
                <a:ea typeface="Noto Sans KR" pitchFamily="34" charset="-122"/>
                <a:cs typeface="Noto Sans KR" pitchFamily="34" charset="-120"/>
              </a:rPr>
              <a:t>이동전화번호</a:t>
            </a:r>
            <a:endParaRPr lang="en-US" sz="900" dirty="0"/>
          </a:p>
        </p:txBody>
      </p:sp>
      <p:sp>
        <p:nvSpPr>
          <p:cNvPr id="10" name="Shape 8"/>
          <p:cNvSpPr/>
          <p:nvPr/>
        </p:nvSpPr>
        <p:spPr>
          <a:xfrm>
            <a:off x="7829550" y="2541191"/>
            <a:ext cx="3543300" cy="317500"/>
          </a:xfrm>
          <a:prstGeom prst="roundRect">
            <a:avLst>
              <a:gd name="adj" fmla="val 26000"/>
            </a:avLst>
          </a:prstGeom>
          <a:solidFill>
            <a:srgbClr val="FFFDF8"/>
          </a:solidFill>
          <a:ln w="12700">
            <a:solidFill>
              <a:srgbClr val="D9D4C7"/>
            </a:solidFill>
            <a:prstDash val="solid"/>
          </a:ln>
        </p:spPr>
        <p:txBody>
          <a:bodyPr/>
          <a:lstStyle/>
          <a:p>
            <a:endParaRPr lang="ko-KR" altLang="en-US"/>
          </a:p>
        </p:txBody>
      </p:sp>
      <p:sp>
        <p:nvSpPr>
          <p:cNvPr id="11" name="Text 9"/>
          <p:cNvSpPr/>
          <p:nvPr/>
        </p:nvSpPr>
        <p:spPr>
          <a:xfrm>
            <a:off x="9312870" y="2699941"/>
            <a:ext cx="576659"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1B2A44"/>
                </a:solidFill>
                <a:latin typeface="Noto Sans KR" pitchFamily="34" charset="0"/>
                <a:ea typeface="Noto Sans KR" pitchFamily="34" charset="-122"/>
                <a:cs typeface="Noto Sans KR" pitchFamily="34" charset="-120"/>
              </a:rPr>
              <a:t>휴대폰번호</a:t>
            </a:r>
            <a:endParaRPr lang="en-US" sz="900" dirty="0"/>
          </a:p>
        </p:txBody>
      </p:sp>
      <p:sp>
        <p:nvSpPr>
          <p:cNvPr id="12" name="Text 10"/>
          <p:cNvSpPr/>
          <p:nvPr/>
        </p:nvSpPr>
        <p:spPr>
          <a:xfrm>
            <a:off x="7769860" y="2928541"/>
            <a:ext cx="3662680"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5E6673"/>
                </a:solidFill>
                <a:latin typeface="Noto Sans KR" pitchFamily="34" charset="0"/>
                <a:ea typeface="Noto Sans KR" pitchFamily="34" charset="-122"/>
                <a:cs typeface="Noto Sans KR" pitchFamily="34" charset="-120"/>
              </a:rPr>
              <a:t>↓</a:t>
            </a:r>
            <a:endParaRPr lang="en-US" sz="1800" dirty="0"/>
          </a:p>
        </p:txBody>
      </p:sp>
      <p:sp>
        <p:nvSpPr>
          <p:cNvPr id="13" name="Shape 11"/>
          <p:cNvSpPr/>
          <p:nvPr/>
        </p:nvSpPr>
        <p:spPr>
          <a:xfrm>
            <a:off x="7829550" y="3318371"/>
            <a:ext cx="3543300" cy="317500"/>
          </a:xfrm>
          <a:prstGeom prst="roundRect">
            <a:avLst>
              <a:gd name="adj" fmla="val 26000"/>
            </a:avLst>
          </a:prstGeom>
          <a:solidFill>
            <a:srgbClr val="E4ECF7"/>
          </a:solidFill>
          <a:ln w="12700">
            <a:solidFill>
              <a:srgbClr val="9DB6DC"/>
            </a:solidFill>
            <a:prstDash val="solid"/>
          </a:ln>
        </p:spPr>
        <p:txBody>
          <a:bodyPr/>
          <a:lstStyle/>
          <a:p>
            <a:endParaRPr lang="ko-KR" altLang="en-US"/>
          </a:p>
        </p:txBody>
      </p:sp>
      <p:sp>
        <p:nvSpPr>
          <p:cNvPr id="14" name="Text 12"/>
          <p:cNvSpPr/>
          <p:nvPr/>
        </p:nvSpPr>
        <p:spPr>
          <a:xfrm>
            <a:off x="9260284" y="3477121"/>
            <a:ext cx="681831"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2458A6"/>
                </a:solidFill>
                <a:latin typeface="Noto Sans KR" pitchFamily="34" charset="0"/>
                <a:ea typeface="Noto Sans KR" pitchFamily="34" charset="-122"/>
                <a:cs typeface="Noto Sans KR" pitchFamily="34" charset="-120"/>
              </a:rPr>
              <a:t>휴대전화번호</a:t>
            </a:r>
            <a:endParaRPr lang="en-US" sz="900" dirty="0"/>
          </a:p>
        </p:txBody>
      </p:sp>
      <p:sp>
        <p:nvSpPr>
          <p:cNvPr id="15" name="Text 13"/>
          <p:cNvSpPr/>
          <p:nvPr/>
        </p:nvSpPr>
        <p:spPr>
          <a:xfrm>
            <a:off x="9186962" y="3527921"/>
            <a:ext cx="828477" cy="25400"/>
          </a:xfrm>
          <a:prstGeom prst="rect">
            <a:avLst/>
          </a:prstGeom>
          <a:noFill/>
          <a:ln/>
        </p:spPr>
        <p:txBody>
          <a:bodyPr wrap="square" lIns="0" tIns="0" rIns="0" bIns="0" rtlCol="0" anchor="t">
            <a:normAutofit/>
          </a:bodyPr>
          <a:lstStyle/>
          <a:p>
            <a:pPr marL="0" indent="0" algn="ctr">
              <a:lnSpc>
                <a:spcPts val="1008"/>
              </a:lnSpc>
              <a:buNone/>
            </a:pPr>
            <a:r>
              <a:rPr lang="en-US" sz="720" dirty="0">
                <a:solidFill>
                  <a:srgbClr val="2458A6"/>
                </a:solidFill>
                <a:latin typeface="Noto Sans KR" pitchFamily="34" charset="0"/>
                <a:ea typeface="Noto Sans KR" pitchFamily="34" charset="-122"/>
                <a:cs typeface="Noto Sans KR" pitchFamily="34" charset="-120"/>
              </a:rPr>
              <a:t>공통표준용어로 통일</a:t>
            </a:r>
            <a:endParaRPr lang="en-US" sz="720" dirty="0"/>
          </a:p>
        </p:txBody>
      </p:sp>
      <p:sp>
        <p:nvSpPr>
          <p:cNvPr id="16" name="Shape 14"/>
          <p:cNvSpPr/>
          <p:nvPr/>
        </p:nvSpPr>
        <p:spPr>
          <a:xfrm>
            <a:off x="812800" y="3896221"/>
            <a:ext cx="10566400" cy="934641"/>
          </a:xfrm>
          <a:prstGeom prst="roundRect">
            <a:avLst>
              <a:gd name="adj" fmla="val 8153"/>
            </a:avLst>
          </a:prstGeom>
          <a:solidFill>
            <a:srgbClr val="E4ECF7"/>
          </a:solidFill>
          <a:ln/>
        </p:spPr>
        <p:txBody>
          <a:bodyPr/>
          <a:lstStyle/>
          <a:p>
            <a:endParaRPr lang="ko-KR" altLang="en-US"/>
          </a:p>
        </p:txBody>
      </p:sp>
      <p:sp>
        <p:nvSpPr>
          <p:cNvPr id="17" name="Shape 15"/>
          <p:cNvSpPr/>
          <p:nvPr/>
        </p:nvSpPr>
        <p:spPr>
          <a:xfrm>
            <a:off x="812800" y="3896221"/>
            <a:ext cx="10566400" cy="934641"/>
          </a:xfrm>
          <a:custGeom>
            <a:avLst/>
            <a:gdLst/>
            <a:ahLst/>
            <a:cxnLst/>
            <a:rect l="l" t="t" r="r" b="b"/>
            <a:pathLst>
              <a:path w="10566400" h="934641">
                <a:moveTo>
                  <a:pt x="76200" y="934641"/>
                </a:moveTo>
                <a:lnTo>
                  <a:pt x="76200" y="934641"/>
                </a:lnTo>
                <a:arcTo wR="76200" hR="76200" stAng="5400000" swAng="5400000"/>
                <a:lnTo>
                  <a:pt x="0" y="76200"/>
                </a:lnTo>
                <a:arcTo wR="76200" hR="76200" stAng="10800000" swAng="5400000"/>
                <a:lnTo>
                  <a:pt x="76200" y="0"/>
                </a:lnTo>
                <a:arcTo wR="25400" hR="76200" stAng="16200000" swAng="-5400000"/>
                <a:lnTo>
                  <a:pt x="50800" y="858441"/>
                </a:lnTo>
                <a:arcTo wR="25400" hR="76200" stAng="10800000" swAng="-5400000"/>
                <a:close/>
              </a:path>
            </a:pathLst>
          </a:custGeom>
          <a:solidFill>
            <a:srgbClr val="2458A6"/>
          </a:solidFill>
          <a:ln/>
        </p:spPr>
        <p:txBody>
          <a:bodyPr/>
          <a:lstStyle/>
          <a:p>
            <a:endParaRPr lang="ko-KR" altLang="en-US"/>
          </a:p>
        </p:txBody>
      </p:sp>
      <p:sp>
        <p:nvSpPr>
          <p:cNvPr id="18" name="Text 16"/>
          <p:cNvSpPr/>
          <p:nvPr/>
        </p:nvSpPr>
        <p:spPr>
          <a:xfrm>
            <a:off x="1092200" y="4074021"/>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오늘의 한 문장</a:t>
            </a:r>
            <a:endParaRPr lang="en-US" sz="1300" dirty="0"/>
          </a:p>
        </p:txBody>
      </p:sp>
      <p:sp>
        <p:nvSpPr>
          <p:cNvPr id="19" name="Text 17"/>
          <p:cNvSpPr/>
          <p:nvPr/>
        </p:nvSpPr>
        <p:spPr>
          <a:xfrm>
            <a:off x="1092200" y="4368602"/>
            <a:ext cx="10360152" cy="3098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같은 뜻이면 같은 이름, 같은 값으로 적는다. 이 약속을 정하고 지키게 만드는 일이 </a:t>
            </a:r>
            <a:r>
              <a:rPr lang="en-US" sz="1400" b="1" dirty="0">
                <a:solidFill>
                  <a:srgbClr val="3D4757"/>
                </a:solidFill>
                <a:latin typeface="Noto Sans KR" pitchFamily="34" charset="0"/>
                <a:ea typeface="Noto Sans KR" pitchFamily="34" charset="-122"/>
                <a:cs typeface="Noto Sans KR" pitchFamily="34" charset="-120"/>
              </a:rPr>
              <a:t>데이터 표준화</a:t>
            </a:r>
            <a:r>
              <a:rPr lang="en-US" sz="1400" dirty="0">
                <a:solidFill>
                  <a:srgbClr val="3D4757"/>
                </a:solidFill>
                <a:latin typeface="Noto Sans KR" pitchFamily="34" charset="0"/>
                <a:ea typeface="Noto Sans KR" pitchFamily="34" charset="-122"/>
                <a:cs typeface="Noto Sans KR" pitchFamily="34" charset="-120"/>
              </a:rPr>
              <a:t>입니다.</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7 / 60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장면 ③ · 부풀려진 합계</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배송비를 그냥 더하면 약 2.6배가 됩니다</a:t>
            </a:r>
            <a:endParaRPr lang="en-US" sz="3000" dirty="0"/>
          </a:p>
        </p:txBody>
      </p:sp>
      <p:sp>
        <p:nvSpPr>
          <p:cNvPr id="4" name="Text 2"/>
          <p:cNvSpPr/>
          <p:nvPr/>
        </p:nvSpPr>
        <p:spPr>
          <a:xfrm>
            <a:off x="812800" y="1813520"/>
            <a:ext cx="5363210"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1B2A44"/>
                </a:solidFill>
                <a:latin typeface="Noto Sans KR" pitchFamily="34" charset="0"/>
                <a:ea typeface="Noto Sans KR" pitchFamily="34" charset="-122"/>
                <a:cs typeface="Noto Sans KR" pitchFamily="34" charset="-120"/>
              </a:rPr>
              <a:t>주문 파일은 한 줄이 '주문 안의 상품 한 줄'입니다</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12280"/>
          <a:ext cx="5194300" cy="1543844"/>
        </p:xfrm>
        <a:graphic>
          <a:graphicData uri="http://schemas.openxmlformats.org/drawingml/2006/table">
            <a:tbl>
              <a:tblPr/>
              <a:tblGrid>
                <a:gridCol w="1454404">
                  <a:extLst>
                    <a:ext uri="{9D8B030D-6E8A-4147-A177-3AD203B41FA5}">
                      <a16:colId xmlns:a16="http://schemas.microsoft.com/office/drawing/2014/main" val="20000"/>
                    </a:ext>
                  </a:extLst>
                </a:gridCol>
                <a:gridCol w="934974">
                  <a:extLst>
                    <a:ext uri="{9D8B030D-6E8A-4147-A177-3AD203B41FA5}">
                      <a16:colId xmlns:a16="http://schemas.microsoft.com/office/drawing/2014/main" val="20001"/>
                    </a:ext>
                  </a:extLst>
                </a:gridCol>
                <a:gridCol w="1454404">
                  <a:extLst>
                    <a:ext uri="{9D8B030D-6E8A-4147-A177-3AD203B41FA5}">
                      <a16:colId xmlns:a16="http://schemas.microsoft.com/office/drawing/2014/main" val="20002"/>
                    </a:ext>
                  </a:extLst>
                </a:gridCol>
                <a:gridCol w="1350518">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주문번호</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순번</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상품</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배송비</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A001</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1</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치약</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2,500</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A001</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2</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칫솔</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2,500</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A001</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3</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수건</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2,500</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6" name="Text 3"/>
          <p:cNvSpPr/>
          <p:nvPr/>
        </p:nvSpPr>
        <p:spPr>
          <a:xfrm>
            <a:off x="812800" y="3857724"/>
            <a:ext cx="5363210" cy="269180"/>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5E6673"/>
                </a:solidFill>
                <a:latin typeface="Noto Sans KR" pitchFamily="34" charset="0"/>
                <a:ea typeface="Noto Sans KR" pitchFamily="34" charset="-122"/>
                <a:cs typeface="Noto Sans KR" pitchFamily="34" charset="-120"/>
              </a:rPr>
              <a:t>표의 숫자는 설명용 예시입니다</a:t>
            </a:r>
            <a:endParaRPr lang="en-US" sz="1200" dirty="0"/>
          </a:p>
        </p:txBody>
      </p:sp>
      <p:sp>
        <p:nvSpPr>
          <p:cNvPr id="7" name="Text 4"/>
          <p:cNvSpPr/>
          <p:nvPr/>
        </p:nvSpPr>
        <p:spPr>
          <a:xfrm>
            <a:off x="6324600" y="1813520"/>
            <a:ext cx="5206238"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1B2A44"/>
                </a:solidFill>
                <a:latin typeface="Noto Sans KR" pitchFamily="34" charset="0"/>
                <a:ea typeface="Noto Sans KR" pitchFamily="34" charset="-122"/>
                <a:cs typeface="Noto Sans KR" pitchFamily="34" charset="-120"/>
              </a:rPr>
              <a:t>무슨 일이 벌어질까?</a:t>
            </a:r>
            <a:endParaRPr lang="en-US" sz="1400" dirty="0"/>
          </a:p>
        </p:txBody>
      </p:sp>
      <p:sp>
        <p:nvSpPr>
          <p:cNvPr id="8" name="Text 5"/>
          <p:cNvSpPr/>
          <p:nvPr/>
        </p:nvSpPr>
        <p:spPr>
          <a:xfrm>
            <a:off x="6324600" y="2212280"/>
            <a:ext cx="520623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주문 A001의 배송비는 한 번, 2,500원입니다. 그런데 상품 줄마다 반복해서 적혀 있으니 </a:t>
            </a:r>
            <a:r>
              <a:rPr lang="en-US" sz="1400" b="1" dirty="0">
                <a:solidFill>
                  <a:srgbClr val="3D4757"/>
                </a:solidFill>
                <a:latin typeface="Noto Sans KR" pitchFamily="34" charset="0"/>
                <a:ea typeface="Noto Sans KR" pitchFamily="34" charset="-122"/>
                <a:cs typeface="Noto Sans KR" pitchFamily="34" charset="-120"/>
              </a:rPr>
              <a:t>SUM 하면 7,500원</a:t>
            </a:r>
            <a:r>
              <a:rPr lang="en-US" sz="1400" dirty="0">
                <a:solidFill>
                  <a:srgbClr val="3D4757"/>
                </a:solidFill>
                <a:latin typeface="Noto Sans KR" pitchFamily="34" charset="0"/>
                <a:ea typeface="Noto Sans KR" pitchFamily="34" charset="-122"/>
                <a:cs typeface="Noto Sans KR" pitchFamily="34" charset="-120"/>
              </a:rPr>
              <a:t>이 됩니다.</a:t>
            </a:r>
            <a:endParaRPr lang="en-US" sz="1400" dirty="0"/>
          </a:p>
        </p:txBody>
      </p:sp>
      <p:sp>
        <p:nvSpPr>
          <p:cNvPr id="9" name="Text 6"/>
          <p:cNvSpPr/>
          <p:nvPr/>
        </p:nvSpPr>
        <p:spPr>
          <a:xfrm>
            <a:off x="6324600" y="2895501"/>
            <a:ext cx="5206238" cy="59432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A3231B"/>
                </a:solidFill>
                <a:latin typeface="Noto Sans KR" pitchFamily="34" charset="0"/>
                <a:ea typeface="Noto Sans KR" pitchFamily="34" charset="-122"/>
                <a:cs typeface="Noto Sans KR" pitchFamily="34" charset="-120"/>
              </a:rPr>
              <a:t>전체 데이터로 계산하면 배송비 합계가 실제보다 약 2.6배로 부풀어 나옵니다.</a:t>
            </a:r>
            <a:endParaRPr lang="en-US" sz="1400" dirty="0"/>
          </a:p>
        </p:txBody>
      </p:sp>
      <p:sp>
        <p:nvSpPr>
          <p:cNvPr id="10" name="Shape 7"/>
          <p:cNvSpPr/>
          <p:nvPr/>
        </p:nvSpPr>
        <p:spPr>
          <a:xfrm>
            <a:off x="812800" y="4355505"/>
            <a:ext cx="10566400" cy="1282601"/>
          </a:xfrm>
          <a:prstGeom prst="roundRect">
            <a:avLst>
              <a:gd name="adj" fmla="val 5941"/>
            </a:avLst>
          </a:prstGeom>
          <a:solidFill>
            <a:srgbClr val="E3EFE7"/>
          </a:solidFill>
          <a:ln/>
        </p:spPr>
        <p:txBody>
          <a:bodyPr/>
          <a:lstStyle/>
          <a:p>
            <a:endParaRPr lang="ko-KR" altLang="en-US"/>
          </a:p>
        </p:txBody>
      </p:sp>
      <p:sp>
        <p:nvSpPr>
          <p:cNvPr id="11" name="Shape 8"/>
          <p:cNvSpPr/>
          <p:nvPr/>
        </p:nvSpPr>
        <p:spPr>
          <a:xfrm>
            <a:off x="812800" y="4355505"/>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2" name="Text 9"/>
          <p:cNvSpPr/>
          <p:nvPr/>
        </p:nvSpPr>
        <p:spPr>
          <a:xfrm>
            <a:off x="1117600" y="4558705"/>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영수증 한 장과 영수증 한 줄</a:t>
            </a:r>
            <a:endParaRPr lang="en-US" sz="1300" dirty="0"/>
          </a:p>
        </p:txBody>
      </p:sp>
      <p:sp>
        <p:nvSpPr>
          <p:cNvPr id="13" name="Text 10"/>
          <p:cNvSpPr/>
          <p:nvPr/>
        </p:nvSpPr>
        <p:spPr>
          <a:xfrm>
            <a:off x="1117600" y="4865985"/>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배송비는 '영수증 한 장'에 붙는 값이고, 상품 가격은 '영수증 한 줄'에 붙는 값입니다. 한 줄이 무엇을 뜻하는지 모르고 더하면 숫자가 틀립니다. 이 개념을 </a:t>
            </a:r>
            <a:r>
              <a:rPr lang="en-US" sz="1400" b="1" dirty="0">
                <a:solidFill>
                  <a:srgbClr val="2B3A33"/>
                </a:solidFill>
                <a:latin typeface="Noto Sans KR" pitchFamily="34" charset="0"/>
                <a:ea typeface="Noto Sans KR" pitchFamily="34" charset="-122"/>
                <a:cs typeface="Noto Sans KR" pitchFamily="34" charset="-120"/>
              </a:rPr>
              <a:t>grain(한 행의 의미)</a:t>
            </a:r>
            <a:r>
              <a:rPr lang="en-US" sz="1400" dirty="0">
                <a:solidFill>
                  <a:srgbClr val="2B3A33"/>
                </a:solidFill>
                <a:latin typeface="Noto Sans KR" pitchFamily="34" charset="0"/>
                <a:ea typeface="Noto Sans KR" pitchFamily="34" charset="-122"/>
                <a:cs typeface="Noto Sans KR" pitchFamily="34" charset="-120"/>
              </a:rPr>
              <a:t>이라고 부르며 4일차에 제대로 다룹니다.</a:t>
            </a:r>
            <a:endParaRPr lang="en-US" sz="14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8 / 60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장면 ④ · 섞여 들어온 미래</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1~6월 데이터 파일에 7월 주문이 317행 들어 있습니다</a:t>
            </a:r>
            <a:endParaRPr lang="en-US" sz="3000" dirty="0"/>
          </a:p>
        </p:txBody>
      </p:sp>
      <p:sp>
        <p:nvSpPr>
          <p:cNvPr id="4" name="Shape 2"/>
          <p:cNvSpPr/>
          <p:nvPr/>
        </p:nvSpPr>
        <p:spPr>
          <a:xfrm>
            <a:off x="819150" y="1819870"/>
            <a:ext cx="5181600" cy="1042591"/>
          </a:xfrm>
          <a:prstGeom prst="roundRect">
            <a:avLst>
              <a:gd name="adj" fmla="val 7918"/>
            </a:avLst>
          </a:prstGeom>
          <a:solidFill>
            <a:srgbClr val="E4ECF7"/>
          </a:solidFill>
          <a:ln w="12700">
            <a:solidFill>
              <a:srgbClr val="9DB6DC"/>
            </a:solidFill>
            <a:prstDash val="solid"/>
          </a:ln>
        </p:spPr>
        <p:txBody>
          <a:bodyPr/>
          <a:lstStyle/>
          <a:p>
            <a:endParaRPr lang="ko-KR" altLang="en-US"/>
          </a:p>
        </p:txBody>
      </p:sp>
      <p:sp>
        <p:nvSpPr>
          <p:cNvPr id="5" name="Text 3"/>
          <p:cNvSpPr/>
          <p:nvPr/>
        </p:nvSpPr>
        <p:spPr>
          <a:xfrm>
            <a:off x="3012380" y="1978620"/>
            <a:ext cx="795139"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2458A6"/>
                </a:solidFill>
                <a:latin typeface="Noto Sans KR" pitchFamily="34" charset="0"/>
                <a:ea typeface="Noto Sans KR" pitchFamily="34" charset="-122"/>
                <a:cs typeface="Noto Sans KR" pitchFamily="34" charset="-120"/>
              </a:rPr>
              <a:t>관측 기간</a:t>
            </a:r>
            <a:endParaRPr lang="en-US" sz="1500" dirty="0"/>
          </a:p>
        </p:txBody>
      </p:sp>
      <p:sp>
        <p:nvSpPr>
          <p:cNvPr id="6" name="Text 4"/>
          <p:cNvSpPr/>
          <p:nvPr/>
        </p:nvSpPr>
        <p:spPr>
          <a:xfrm>
            <a:off x="2720876" y="2277070"/>
            <a:ext cx="1378148"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458A6"/>
                </a:solidFill>
                <a:latin typeface="Noto Sans KR" pitchFamily="34" charset="0"/>
                <a:ea typeface="Noto Sans KR" pitchFamily="34" charset="-122"/>
                <a:cs typeface="Noto Sans KR" pitchFamily="34" charset="-120"/>
              </a:rPr>
              <a:t>1월 ~ 6월</a:t>
            </a:r>
            <a:endParaRPr lang="en-US" sz="1200" dirty="0"/>
          </a:p>
          <a:p>
            <a:pPr marL="0" indent="0" algn="ctr">
              <a:lnSpc>
                <a:spcPts val="1680"/>
              </a:lnSpc>
              <a:buNone/>
            </a:pPr>
            <a:r>
              <a:rPr lang="en-US" sz="1200" dirty="0">
                <a:solidFill>
                  <a:srgbClr val="2458A6"/>
                </a:solidFill>
                <a:latin typeface="Noto Sans KR" pitchFamily="34" charset="0"/>
                <a:ea typeface="Noto Sans KR" pitchFamily="34" charset="-122"/>
                <a:cs typeface="Noto Sans KR" pitchFamily="34" charset="-120"/>
              </a:rPr>
              <a:t>AI가 공부하는 데이터</a:t>
            </a:r>
            <a:endParaRPr lang="en-US" sz="1200" dirty="0"/>
          </a:p>
        </p:txBody>
      </p:sp>
      <p:sp>
        <p:nvSpPr>
          <p:cNvPr id="7" name="Shape 5"/>
          <p:cNvSpPr/>
          <p:nvPr/>
        </p:nvSpPr>
        <p:spPr>
          <a:xfrm>
            <a:off x="6191250" y="1819870"/>
            <a:ext cx="5181600" cy="1042591"/>
          </a:xfrm>
          <a:prstGeom prst="roundRect">
            <a:avLst>
              <a:gd name="adj" fmla="val 7918"/>
            </a:avLst>
          </a:prstGeom>
          <a:solidFill>
            <a:srgbClr val="F8EBDD"/>
          </a:solidFill>
          <a:ln w="12700">
            <a:solidFill>
              <a:srgbClr val="E0B48C"/>
            </a:solidFill>
            <a:prstDash val="solid"/>
          </a:ln>
        </p:spPr>
        <p:txBody>
          <a:bodyPr/>
          <a:lstStyle/>
          <a:p>
            <a:endParaRPr lang="ko-KR" altLang="en-US"/>
          </a:p>
        </p:txBody>
      </p:sp>
      <p:sp>
        <p:nvSpPr>
          <p:cNvPr id="8" name="Text 6"/>
          <p:cNvSpPr/>
          <p:nvPr/>
        </p:nvSpPr>
        <p:spPr>
          <a:xfrm>
            <a:off x="8384480" y="1978620"/>
            <a:ext cx="795139"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A94E12"/>
                </a:solidFill>
                <a:latin typeface="Noto Sans KR" pitchFamily="34" charset="0"/>
                <a:ea typeface="Noto Sans KR" pitchFamily="34" charset="-122"/>
                <a:cs typeface="Noto Sans KR" pitchFamily="34" charset="-120"/>
              </a:rPr>
              <a:t>정답 기간</a:t>
            </a:r>
            <a:endParaRPr lang="en-US" sz="1500" dirty="0"/>
          </a:p>
        </p:txBody>
      </p:sp>
      <p:sp>
        <p:nvSpPr>
          <p:cNvPr id="9" name="Text 7"/>
          <p:cNvSpPr/>
          <p:nvPr/>
        </p:nvSpPr>
        <p:spPr>
          <a:xfrm>
            <a:off x="8146058" y="2277070"/>
            <a:ext cx="1271984"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94E12"/>
                </a:solidFill>
                <a:latin typeface="Noto Sans KR" pitchFamily="34" charset="0"/>
                <a:ea typeface="Noto Sans KR" pitchFamily="34" charset="-122"/>
                <a:cs typeface="Noto Sans KR" pitchFamily="34" charset="-120"/>
              </a:rPr>
              <a:t>7월</a:t>
            </a:r>
            <a:endParaRPr lang="en-US" sz="1200" dirty="0"/>
          </a:p>
          <a:p>
            <a:pPr marL="0" indent="0" algn="ctr">
              <a:lnSpc>
                <a:spcPts val="1680"/>
              </a:lnSpc>
              <a:buNone/>
            </a:pPr>
            <a:r>
              <a:rPr lang="en-US" sz="1200" dirty="0">
                <a:solidFill>
                  <a:srgbClr val="A94E12"/>
                </a:solidFill>
                <a:latin typeface="Noto Sans KR" pitchFamily="34" charset="0"/>
                <a:ea typeface="Noto Sans KR" pitchFamily="34" charset="-122"/>
                <a:cs typeface="Noto Sans KR" pitchFamily="34" charset="-120"/>
              </a:rPr>
              <a:t>AI가 맞혀야 할 미래</a:t>
            </a:r>
            <a:endParaRPr lang="en-US" sz="1200" dirty="0"/>
          </a:p>
        </p:txBody>
      </p:sp>
      <p:sp>
        <p:nvSpPr>
          <p:cNvPr id="10" name="Text 8"/>
          <p:cNvSpPr/>
          <p:nvPr/>
        </p:nvSpPr>
        <p:spPr>
          <a:xfrm>
            <a:off x="812800" y="3122811"/>
            <a:ext cx="10883392" cy="635000"/>
          </a:xfrm>
          <a:prstGeom prst="rect">
            <a:avLst/>
          </a:prstGeom>
          <a:noFill/>
          <a:ln/>
        </p:spPr>
        <p:txBody>
          <a:bodyPr wrap="square" lIns="0" tIns="0" rIns="0" bIns="0" rtlCol="0" anchor="t">
            <a:normAutofit/>
          </a:bodyPr>
          <a:lstStyle/>
          <a:p>
            <a:pPr marL="0" indent="0" algn="l">
              <a:lnSpc>
                <a:spcPts val="2400"/>
              </a:lnSpc>
              <a:buNone/>
            </a:pPr>
            <a:r>
              <a:rPr lang="en-US" sz="1500" dirty="0">
                <a:solidFill>
                  <a:srgbClr val="3D4757"/>
                </a:solidFill>
                <a:latin typeface="Noto Sans KR" pitchFamily="34" charset="0"/>
                <a:ea typeface="Noto Sans KR" pitchFamily="34" charset="-122"/>
                <a:cs typeface="Noto Sans KR" pitchFamily="34" charset="-120"/>
              </a:rPr>
              <a:t>이 과목에는 '6월 말까지의 기록으로 7월을 예측한다'는 약속이 있습니다. 그런데 주문 파일에는 7월 데이터가 함께 들어 있습니다. 걸러 내지 않고 AI에게 주면, </a:t>
            </a:r>
            <a:r>
              <a:rPr lang="en-US" sz="1500" b="1" dirty="0">
                <a:solidFill>
                  <a:srgbClr val="3D4757"/>
                </a:solidFill>
                <a:latin typeface="Noto Sans KR" pitchFamily="34" charset="0"/>
                <a:ea typeface="Noto Sans KR" pitchFamily="34" charset="-122"/>
                <a:cs typeface="Noto Sans KR" pitchFamily="34" charset="-120"/>
              </a:rPr>
              <a:t>AI는 미래를 미리 보고 공부한 셈</a:t>
            </a:r>
            <a:r>
              <a:rPr lang="en-US" sz="1500" dirty="0">
                <a:solidFill>
                  <a:srgbClr val="3D4757"/>
                </a:solidFill>
                <a:latin typeface="Noto Sans KR" pitchFamily="34" charset="0"/>
                <a:ea typeface="Noto Sans KR" pitchFamily="34" charset="-122"/>
                <a:cs typeface="Noto Sans KR" pitchFamily="34" charset="-120"/>
              </a:rPr>
              <a:t>이 됩니다. 점수는 아주 좋게 나오지만 실제로는 쓸 수 없는 모델이 됩니다.</a:t>
            </a:r>
            <a:endParaRPr lang="en-US" sz="1500" dirty="0"/>
          </a:p>
        </p:txBody>
      </p:sp>
      <p:sp>
        <p:nvSpPr>
          <p:cNvPr id="11" name="Shape 9"/>
          <p:cNvSpPr/>
          <p:nvPr/>
        </p:nvSpPr>
        <p:spPr>
          <a:xfrm>
            <a:off x="812800" y="3986411"/>
            <a:ext cx="10566400" cy="1282601"/>
          </a:xfrm>
          <a:prstGeom prst="roundRect">
            <a:avLst>
              <a:gd name="adj" fmla="val 5941"/>
            </a:avLst>
          </a:prstGeom>
          <a:solidFill>
            <a:srgbClr val="E3EFE7"/>
          </a:solidFill>
          <a:ln/>
        </p:spPr>
        <p:txBody>
          <a:bodyPr/>
          <a:lstStyle/>
          <a:p>
            <a:endParaRPr lang="ko-KR" altLang="en-US"/>
          </a:p>
        </p:txBody>
      </p:sp>
      <p:sp>
        <p:nvSpPr>
          <p:cNvPr id="12" name="Shape 10"/>
          <p:cNvSpPr/>
          <p:nvPr/>
        </p:nvSpPr>
        <p:spPr>
          <a:xfrm>
            <a:off x="812800" y="398641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3" name="Text 11"/>
          <p:cNvSpPr/>
          <p:nvPr/>
        </p:nvSpPr>
        <p:spPr>
          <a:xfrm>
            <a:off x="1117600" y="418961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시험 전에 본 답안지</a:t>
            </a:r>
            <a:endParaRPr lang="en-US" sz="1300" dirty="0"/>
          </a:p>
        </p:txBody>
      </p:sp>
      <p:sp>
        <p:nvSpPr>
          <p:cNvPr id="14" name="Text 12"/>
          <p:cNvSpPr/>
          <p:nvPr/>
        </p:nvSpPr>
        <p:spPr>
          <a:xfrm>
            <a:off x="1117600" y="4496891"/>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시험 전날 답안지를 봤다면 100점을 받아도 실력이라고 할 수 없습니다. 미래 정보가 학습 데이터에 섞이는 것을 </a:t>
            </a:r>
            <a:r>
              <a:rPr lang="en-US" sz="1400" b="1" dirty="0">
                <a:solidFill>
                  <a:srgbClr val="2B3A33"/>
                </a:solidFill>
                <a:latin typeface="Noto Sans KR" pitchFamily="34" charset="0"/>
                <a:ea typeface="Noto Sans KR" pitchFamily="34" charset="-122"/>
                <a:cs typeface="Noto Sans KR" pitchFamily="34" charset="-120"/>
              </a:rPr>
              <a:t>데이터 누수(leakage)</a:t>
            </a:r>
            <a:r>
              <a:rPr lang="en-US" sz="1400" dirty="0">
                <a:solidFill>
                  <a:srgbClr val="2B3A33"/>
                </a:solidFill>
                <a:latin typeface="Noto Sans KR" pitchFamily="34" charset="0"/>
                <a:ea typeface="Noto Sans KR" pitchFamily="34" charset="-122"/>
                <a:cs typeface="Noto Sans KR" pitchFamily="34" charset="-120"/>
              </a:rPr>
              <a:t>라고 합니다. 7~8일차에 다룹니다.</a:t>
            </a:r>
            <a:endParaRPr lang="en-US" sz="14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9 / 60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네 장면 정리</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네 장면 모두 원인은 '약속이 없었다'는 것입니다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1929805"/>
        </p:xfrm>
        <a:graphic>
          <a:graphicData uri="http://schemas.openxmlformats.org/drawingml/2006/table">
            <a:tbl>
              <a:tblPr/>
              <a:tblGrid>
                <a:gridCol w="844296">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장면</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무슨 일이 있었나</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필요했던 약속</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배우는 날</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①</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0000001 → 1</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번호는 글자로 다룬다 (도메인)</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1 · 2일차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②</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주문 상태 표기 10가지</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허용하는 값 목록을 정한다 (코드)</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2 · 3일차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③</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배송비 약 2.6배</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한 줄의 의미를 정하고 나눈다 (모델)</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4 · 5일차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④</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7월 317행 혼입</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공부용과 정답용 기간을 나눈다 (누수)</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7 · 8일차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010025"/>
            <a:ext cx="10566400" cy="1219101"/>
          </a:xfrm>
          <a:prstGeom prst="roundRect">
            <a:avLst>
              <a:gd name="adj" fmla="val 6251"/>
            </a:avLst>
          </a:prstGeom>
          <a:solidFill>
            <a:srgbClr val="E4ECF7"/>
          </a:solidFill>
          <a:ln/>
        </p:spPr>
        <p:txBody>
          <a:bodyPr/>
          <a:lstStyle/>
          <a:p>
            <a:endParaRPr lang="ko-KR" altLang="en-US"/>
          </a:p>
        </p:txBody>
      </p:sp>
      <p:sp>
        <p:nvSpPr>
          <p:cNvPr id="6" name="Shape 3"/>
          <p:cNvSpPr/>
          <p:nvPr/>
        </p:nvSpPr>
        <p:spPr>
          <a:xfrm>
            <a:off x="812800" y="4010025"/>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7" name="Text 4"/>
          <p:cNvSpPr/>
          <p:nvPr/>
        </p:nvSpPr>
        <p:spPr>
          <a:xfrm>
            <a:off x="1092200" y="4187825"/>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도구는 시킨 대로 했습니다</a:t>
            </a:r>
            <a:endParaRPr lang="en-US" sz="1300" dirty="0"/>
          </a:p>
        </p:txBody>
      </p:sp>
      <p:sp>
        <p:nvSpPr>
          <p:cNvPr id="8" name="Text 5"/>
          <p:cNvSpPr/>
          <p:nvPr/>
        </p:nvSpPr>
        <p:spPr>
          <a:xfrm>
            <a:off x="1092200" y="4482405"/>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pandas도, SUM도 틀리지 않았습니다. 데이터에 대한 약속이 없었기 때문에 결과가 틀렸습니다. 그 약속을 만들고, 지키는지 검사하고, 문서로 남기는 것이 앞으로 열흘 동안 할 일입니다.</a:t>
            </a:r>
            <a:endParaRPr lang="en-US" sz="14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10 / 60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23216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Noto Sans KR" pitchFamily="34" charset="0"/>
                <a:ea typeface="Noto Sans KR" pitchFamily="34" charset="-122"/>
                <a:cs typeface="Noto Sans KR" pitchFamily="34" charset="-120"/>
              </a:rPr>
              <a:t>PART 2</a:t>
            </a:r>
            <a:endParaRPr lang="en-US" sz="1200" dirty="0"/>
          </a:p>
        </p:txBody>
      </p:sp>
      <p:sp>
        <p:nvSpPr>
          <p:cNvPr id="3" name="Text 1"/>
          <p:cNvSpPr/>
          <p:nvPr/>
        </p:nvSpPr>
        <p:spPr>
          <a:xfrm>
            <a:off x="812800" y="2738140"/>
            <a:ext cx="10883392" cy="726380"/>
          </a:xfrm>
          <a:prstGeom prst="rect">
            <a:avLst/>
          </a:prstGeom>
          <a:noFill/>
          <a:ln/>
        </p:spPr>
        <p:txBody>
          <a:bodyPr wrap="square" lIns="0" tIns="0" rIns="0" bIns="0" rtlCol="0" anchor="t">
            <a:normAutofit/>
          </a:bodyPr>
          <a:lstStyle/>
          <a:p>
            <a:pPr marL="0" indent="0" algn="l">
              <a:lnSpc>
                <a:spcPts val="5520"/>
              </a:lnSpc>
              <a:buNone/>
            </a:pPr>
            <a:r>
              <a:rPr lang="en-US" sz="4800" b="1" dirty="0">
                <a:solidFill>
                  <a:srgbClr val="F6F4EF"/>
                </a:solidFill>
                <a:latin typeface="Noto Sans KR" pitchFamily="34" charset="0"/>
                <a:ea typeface="Noto Sans KR" pitchFamily="34" charset="-122"/>
                <a:cs typeface="Noto Sans KR" pitchFamily="34" charset="-120"/>
              </a:rPr>
              <a:t>꼭 알아야 할 용어</a:t>
            </a:r>
            <a:endParaRPr lang="en-US" sz="4800" dirty="0"/>
          </a:p>
        </p:txBody>
      </p:sp>
      <p:sp>
        <p:nvSpPr>
          <p:cNvPr id="4" name="Text 2"/>
          <p:cNvSpPr/>
          <p:nvPr/>
        </p:nvSpPr>
        <p:spPr>
          <a:xfrm>
            <a:off x="812800" y="3642320"/>
            <a:ext cx="10883392" cy="716161"/>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과목 내내 나오는 말들을 생활 속 예와 함께 하나씩 정리합니다.</a:t>
            </a:r>
            <a:endParaRPr lang="en-US" sz="1700" dirty="0"/>
          </a:p>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외우지 않아도 됩니다. 열흘 동안 계속 쓰면서 익숙해집니다.</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Noto Sans KR" pitchFamily="34" charset="0"/>
                <a:ea typeface="Noto Sans KR" pitchFamily="34" charset="-122"/>
                <a:cs typeface="Noto Sans KR" pitchFamily="34" charset="-120"/>
              </a:rPr>
              <a:t>11 / 60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7629"/>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A94E12"/>
                </a:solidFill>
                <a:latin typeface="Noto Sans KR" pitchFamily="34" charset="0"/>
                <a:ea typeface="Noto Sans KR" pitchFamily="34" charset="-122"/>
                <a:cs typeface="Noto Sans KR" pitchFamily="34" charset="-120"/>
              </a:rPr>
              <a:t>용어 1 · 데이터 표준화</a:t>
            </a:r>
            <a:endParaRPr lang="en-US" sz="1196" dirty="0"/>
          </a:p>
        </p:txBody>
      </p:sp>
      <p:sp>
        <p:nvSpPr>
          <p:cNvPr id="3" name="Text 1"/>
          <p:cNvSpPr/>
          <p:nvPr/>
        </p:nvSpPr>
        <p:spPr>
          <a:xfrm>
            <a:off x="812800" y="1101229"/>
            <a:ext cx="10883392" cy="480318"/>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데이터에 대한 약속을 정하고, 모든 데이터에 똑같이 적용하는 일</a:t>
            </a:r>
            <a:endParaRPr lang="en-US" sz="3000" dirty="0"/>
          </a:p>
        </p:txBody>
      </p:sp>
      <p:sp>
        <p:nvSpPr>
          <p:cNvPr id="4" name="Shape 2"/>
          <p:cNvSpPr/>
          <p:nvPr/>
        </p:nvSpPr>
        <p:spPr>
          <a:xfrm>
            <a:off x="815975" y="1813322"/>
            <a:ext cx="3397250" cy="1672530"/>
          </a:xfrm>
          <a:prstGeom prst="roundRect">
            <a:avLst>
              <a:gd name="adj" fmla="val 5885"/>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5097"/>
            <a:ext cx="3021711" cy="23723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A94E12"/>
                </a:solidFill>
                <a:latin typeface="Noto Sans KR" pitchFamily="34" charset="0"/>
                <a:ea typeface="Noto Sans KR" pitchFamily="34" charset="-122"/>
                <a:cs typeface="Noto Sans KR" pitchFamily="34" charset="-120"/>
              </a:rPr>
              <a:t>이름</a:t>
            </a:r>
            <a:endParaRPr lang="en-US" sz="1196" dirty="0"/>
          </a:p>
        </p:txBody>
      </p:sp>
      <p:sp>
        <p:nvSpPr>
          <p:cNvPr id="6" name="Text 4"/>
          <p:cNvSpPr/>
          <p:nvPr/>
        </p:nvSpPr>
        <p:spPr>
          <a:xfrm>
            <a:off x="1047750" y="2345829"/>
            <a:ext cx="3021711" cy="320377"/>
          </a:xfrm>
          <a:prstGeom prst="rect">
            <a:avLst/>
          </a:prstGeom>
          <a:noFill/>
          <a:ln/>
        </p:spPr>
        <p:txBody>
          <a:bodyPr wrap="square" lIns="0" tIns="0" rIns="0" bIns="0" rtlCol="0" anchor="t">
            <a:normAutofit/>
          </a:bodyPr>
          <a:lstStyle/>
          <a:p>
            <a:pPr marL="0" indent="0" algn="l">
              <a:lnSpc>
                <a:spcPts val="2318"/>
              </a:lnSpc>
              <a:buNone/>
            </a:pPr>
            <a:r>
              <a:rPr lang="en-US" sz="1783" b="1" dirty="0">
                <a:solidFill>
                  <a:srgbClr val="1B2A44"/>
                </a:solidFill>
                <a:latin typeface="Noto Sans KR" pitchFamily="34" charset="0"/>
                <a:ea typeface="Noto Sans KR" pitchFamily="34" charset="-122"/>
                <a:cs typeface="Noto Sans KR" pitchFamily="34" charset="-120"/>
              </a:rPr>
              <a:t>무엇이라고 부를까?</a:t>
            </a:r>
            <a:endParaRPr lang="en-US" sz="1783" dirty="0"/>
          </a:p>
        </p:txBody>
      </p:sp>
      <p:sp>
        <p:nvSpPr>
          <p:cNvPr id="7" name="Text 5"/>
          <p:cNvSpPr/>
          <p:nvPr/>
        </p:nvSpPr>
        <p:spPr>
          <a:xfrm>
            <a:off x="1047750" y="2729706"/>
            <a:ext cx="3021711" cy="54977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고객번호 · 회원번호 · CUSTNO</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 하나로 정한다</a:t>
            </a:r>
            <a:endParaRPr lang="en-US" sz="1300" dirty="0"/>
          </a:p>
        </p:txBody>
      </p:sp>
      <p:sp>
        <p:nvSpPr>
          <p:cNvPr id="8" name="Shape 6"/>
          <p:cNvSpPr/>
          <p:nvPr/>
        </p:nvSpPr>
        <p:spPr>
          <a:xfrm>
            <a:off x="4397375" y="1813322"/>
            <a:ext cx="3397250" cy="1672530"/>
          </a:xfrm>
          <a:prstGeom prst="roundRect">
            <a:avLst>
              <a:gd name="adj" fmla="val 5885"/>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5097"/>
            <a:ext cx="3021711" cy="23723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A94E12"/>
                </a:solidFill>
                <a:latin typeface="Noto Sans KR" pitchFamily="34" charset="0"/>
                <a:ea typeface="Noto Sans KR" pitchFamily="34" charset="-122"/>
                <a:cs typeface="Noto Sans KR" pitchFamily="34" charset="-120"/>
              </a:rPr>
              <a:t>형식</a:t>
            </a:r>
            <a:endParaRPr lang="en-US" sz="1196" dirty="0"/>
          </a:p>
        </p:txBody>
      </p:sp>
      <p:sp>
        <p:nvSpPr>
          <p:cNvPr id="10" name="Text 8"/>
          <p:cNvSpPr/>
          <p:nvPr/>
        </p:nvSpPr>
        <p:spPr>
          <a:xfrm>
            <a:off x="4629150" y="2345829"/>
            <a:ext cx="3021711" cy="320377"/>
          </a:xfrm>
          <a:prstGeom prst="rect">
            <a:avLst/>
          </a:prstGeom>
          <a:noFill/>
          <a:ln/>
        </p:spPr>
        <p:txBody>
          <a:bodyPr wrap="square" lIns="0" tIns="0" rIns="0" bIns="0" rtlCol="0" anchor="t">
            <a:normAutofit/>
          </a:bodyPr>
          <a:lstStyle/>
          <a:p>
            <a:pPr marL="0" indent="0" algn="l">
              <a:lnSpc>
                <a:spcPts val="2318"/>
              </a:lnSpc>
              <a:buNone/>
            </a:pPr>
            <a:r>
              <a:rPr lang="en-US" sz="1783" b="1" dirty="0">
                <a:solidFill>
                  <a:srgbClr val="1B2A44"/>
                </a:solidFill>
                <a:latin typeface="Noto Sans KR" pitchFamily="34" charset="0"/>
                <a:ea typeface="Noto Sans KR" pitchFamily="34" charset="-122"/>
                <a:cs typeface="Noto Sans KR" pitchFamily="34" charset="-120"/>
              </a:rPr>
              <a:t>어떤 모양으로 담을까?</a:t>
            </a:r>
            <a:endParaRPr lang="en-US" sz="1783" dirty="0"/>
          </a:p>
        </p:txBody>
      </p:sp>
      <p:sp>
        <p:nvSpPr>
          <p:cNvPr id="11" name="Text 9"/>
          <p:cNvSpPr/>
          <p:nvPr/>
        </p:nvSpPr>
        <p:spPr>
          <a:xfrm>
            <a:off x="4629150" y="2729706"/>
            <a:ext cx="3021711" cy="54977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글자인가 숫자인가, 몇 자리인가, 날짜는 어떤 모양인가</a:t>
            </a:r>
            <a:endParaRPr lang="en-US" sz="1300" dirty="0"/>
          </a:p>
        </p:txBody>
      </p:sp>
      <p:sp>
        <p:nvSpPr>
          <p:cNvPr id="12" name="Shape 10"/>
          <p:cNvSpPr/>
          <p:nvPr/>
        </p:nvSpPr>
        <p:spPr>
          <a:xfrm>
            <a:off x="7978775" y="1813322"/>
            <a:ext cx="3397250" cy="1672530"/>
          </a:xfrm>
          <a:prstGeom prst="roundRect">
            <a:avLst>
              <a:gd name="adj" fmla="val 5885"/>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5097"/>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값</a:t>
            </a:r>
            <a:endParaRPr lang="en-US" sz="1200" dirty="0"/>
          </a:p>
        </p:txBody>
      </p:sp>
      <p:sp>
        <p:nvSpPr>
          <p:cNvPr id="14" name="Text 12"/>
          <p:cNvSpPr/>
          <p:nvPr/>
        </p:nvSpPr>
        <p:spPr>
          <a:xfrm>
            <a:off x="8210550" y="2347317"/>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어떤 값만 허용할까?</a:t>
            </a:r>
            <a:endParaRPr lang="en-US" sz="1800" dirty="0"/>
          </a:p>
        </p:txBody>
      </p:sp>
      <p:sp>
        <p:nvSpPr>
          <p:cNvPr id="15" name="Text 13"/>
          <p:cNvSpPr/>
          <p:nvPr/>
        </p:nvSpPr>
        <p:spPr>
          <a:xfrm>
            <a:off x="8210550" y="2733377"/>
            <a:ext cx="3021711"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주문 상태는 정해진 여섯 가지 중 하나만</a:t>
            </a:r>
            <a:endParaRPr lang="en-US" sz="1300" dirty="0"/>
          </a:p>
        </p:txBody>
      </p:sp>
      <p:sp>
        <p:nvSpPr>
          <p:cNvPr id="16" name="Text 14"/>
          <p:cNvSpPr/>
          <p:nvPr/>
        </p:nvSpPr>
        <p:spPr>
          <a:xfrm>
            <a:off x="812800" y="3743027"/>
            <a:ext cx="10883392" cy="591741"/>
          </a:xfrm>
          <a:prstGeom prst="rect">
            <a:avLst/>
          </a:prstGeom>
          <a:noFill/>
          <a:ln/>
        </p:spPr>
        <p:txBody>
          <a:bodyPr wrap="square" lIns="0" tIns="0" rIns="0" bIns="0" rtlCol="0" anchor="t">
            <a:normAutofit/>
          </a:bodyPr>
          <a:lstStyle/>
          <a:p>
            <a:pPr marL="0" indent="0" algn="l">
              <a:lnSpc>
                <a:spcPts val="2233"/>
              </a:lnSpc>
              <a:buNone/>
            </a:pPr>
            <a:r>
              <a:rPr lang="en-US" sz="1396" dirty="0">
                <a:solidFill>
                  <a:srgbClr val="3D4757"/>
                </a:solidFill>
                <a:latin typeface="Noto Sans KR" pitchFamily="34" charset="0"/>
                <a:ea typeface="Noto Sans KR" pitchFamily="34" charset="-122"/>
                <a:cs typeface="Noto Sans KR" pitchFamily="34" charset="-120"/>
              </a:rPr>
              <a:t>공공기관의 데이터베이스 표준화 지침도 표준화를 </a:t>
            </a:r>
            <a:r>
              <a:rPr lang="en-US" sz="1396" b="1" dirty="0">
                <a:solidFill>
                  <a:srgbClr val="3D4757"/>
                </a:solidFill>
                <a:latin typeface="Noto Sans KR" pitchFamily="34" charset="0"/>
                <a:ea typeface="Noto Sans KR" pitchFamily="34" charset="-122"/>
                <a:cs typeface="Noto Sans KR" pitchFamily="34" charset="-120"/>
              </a:rPr>
              <a:t>코드·용어·도메인·메타데이터 같은 표준을 세워 데이터베이스에 일관되게 적용하는 활동</a:t>
            </a:r>
            <a:r>
              <a:rPr lang="en-US" sz="1396" dirty="0">
                <a:solidFill>
                  <a:srgbClr val="3D4757"/>
                </a:solidFill>
                <a:latin typeface="Noto Sans KR" pitchFamily="34" charset="0"/>
                <a:ea typeface="Noto Sans KR" pitchFamily="34" charset="-122"/>
                <a:cs typeface="Noto Sans KR" pitchFamily="34" charset="-120"/>
              </a:rPr>
              <a:t>이라고 설명합니다. 우리 과목의 정의와 같은 이야기입니다.</a:t>
            </a:r>
            <a:endParaRPr lang="en-US" sz="1396" dirty="0"/>
          </a:p>
        </p:txBody>
      </p:sp>
      <p:sp>
        <p:nvSpPr>
          <p:cNvPr id="17" name="Shape 15"/>
          <p:cNvSpPr/>
          <p:nvPr/>
        </p:nvSpPr>
        <p:spPr>
          <a:xfrm>
            <a:off x="812800" y="4563368"/>
            <a:ext cx="10566400" cy="1278632"/>
          </a:xfrm>
          <a:prstGeom prst="roundRect">
            <a:avLst>
              <a:gd name="adj" fmla="val 5959"/>
            </a:avLst>
          </a:prstGeom>
          <a:solidFill>
            <a:srgbClr val="E3EFE7"/>
          </a:solidFill>
          <a:ln/>
        </p:spPr>
        <p:txBody>
          <a:bodyPr/>
          <a:lstStyle/>
          <a:p>
            <a:endParaRPr lang="ko-KR" altLang="en-US"/>
          </a:p>
        </p:txBody>
      </p:sp>
      <p:sp>
        <p:nvSpPr>
          <p:cNvPr id="18" name="Shape 16"/>
          <p:cNvSpPr/>
          <p:nvPr/>
        </p:nvSpPr>
        <p:spPr>
          <a:xfrm>
            <a:off x="812800" y="4563368"/>
            <a:ext cx="10566400" cy="1278632"/>
          </a:xfrm>
          <a:custGeom>
            <a:avLst/>
            <a:gdLst/>
            <a:ahLst/>
            <a:cxnLst/>
            <a:rect l="l" t="t" r="r" b="b"/>
            <a:pathLst>
              <a:path w="10566400" h="1278632">
                <a:moveTo>
                  <a:pt x="76200" y="1278632"/>
                </a:moveTo>
                <a:lnTo>
                  <a:pt x="76200" y="1278632"/>
                </a:lnTo>
                <a:arcTo wR="76200" hR="76200" stAng="5400000" swAng="5400000"/>
                <a:lnTo>
                  <a:pt x="0" y="76200"/>
                </a:lnTo>
                <a:arcTo wR="76200" hR="76200" stAng="10800000" swAng="5400000"/>
                <a:lnTo>
                  <a:pt x="76200" y="0"/>
                </a:lnTo>
                <a:arcTo wR="25400" hR="76200" stAng="16200000" swAng="-5400000"/>
                <a:lnTo>
                  <a:pt x="50800" y="1202432"/>
                </a:lnTo>
                <a:arcTo wR="25400" hR="76200" stAng="10800000" swAng="-5400000"/>
                <a:close/>
              </a:path>
            </a:pathLst>
          </a:custGeom>
          <a:solidFill>
            <a:srgbClr val="2E6B4F"/>
          </a:solidFill>
          <a:ln/>
        </p:spPr>
        <p:txBody>
          <a:bodyPr/>
          <a:lstStyle/>
          <a:p>
            <a:endParaRPr lang="ko-KR" altLang="en-US"/>
          </a:p>
        </p:txBody>
      </p:sp>
      <p:sp>
        <p:nvSpPr>
          <p:cNvPr id="19" name="Text 17"/>
          <p:cNvSpPr/>
          <p:nvPr/>
        </p:nvSpPr>
        <p:spPr>
          <a:xfrm>
            <a:off x="1117600" y="4766568"/>
            <a:ext cx="10307828" cy="25529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축구 경기 규칙</a:t>
            </a:r>
            <a:endParaRPr lang="en-US" sz="1300" dirty="0"/>
          </a:p>
        </p:txBody>
      </p:sp>
      <p:sp>
        <p:nvSpPr>
          <p:cNvPr id="20" name="Text 18"/>
          <p:cNvSpPr/>
          <p:nvPr/>
        </p:nvSpPr>
        <p:spPr>
          <a:xfrm>
            <a:off x="1117600" y="5072658"/>
            <a:ext cx="10307828" cy="591542"/>
          </a:xfrm>
          <a:prstGeom prst="rect">
            <a:avLst/>
          </a:prstGeom>
          <a:noFill/>
          <a:ln/>
        </p:spPr>
        <p:txBody>
          <a:bodyPr wrap="square" lIns="0" tIns="0" rIns="0" bIns="0" rtlCol="0" anchor="t">
            <a:normAutofit/>
          </a:bodyPr>
          <a:lstStyle/>
          <a:p>
            <a:pPr marL="0" indent="0" algn="l">
              <a:lnSpc>
                <a:spcPts val="2233"/>
              </a:lnSpc>
              <a:buNone/>
            </a:pPr>
            <a:r>
              <a:rPr lang="en-US" sz="1396" dirty="0">
                <a:solidFill>
                  <a:srgbClr val="2B3A33"/>
                </a:solidFill>
                <a:latin typeface="Noto Sans KR" pitchFamily="34" charset="0"/>
                <a:ea typeface="Noto Sans KR" pitchFamily="34" charset="-122"/>
                <a:cs typeface="Noto Sans KR" pitchFamily="34" charset="-120"/>
              </a:rPr>
              <a:t>공 크기, 골대 크기, 선수 수가 동네마다 다르면 다른 동네 팀과 경기를 할 수 없습니다. 규칙을 하나로 정해야 어디서든 같은 경기를 할 수 있습니다. 데이터도 약속이 같아야 합칠 수 있습니다.</a:t>
            </a:r>
            <a:endParaRPr lang="en-US" sz="1396"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12 / 60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2 · 표준 사전</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약속을 적어 두는 곳 — 네 개의 시트로 이루어집니다</a:t>
            </a:r>
            <a:endParaRPr lang="en-US" sz="3000" dirty="0"/>
          </a:p>
        </p:txBody>
      </p:sp>
      <p:sp>
        <p:nvSpPr>
          <p:cNvPr id="4" name="Shape 2"/>
          <p:cNvSpPr/>
          <p:nvPr/>
        </p:nvSpPr>
        <p:spPr>
          <a:xfrm>
            <a:off x="815975" y="1816695"/>
            <a:ext cx="2520950" cy="2241352"/>
          </a:xfrm>
          <a:prstGeom prst="roundRect">
            <a:avLst>
              <a:gd name="adj" fmla="val 4391"/>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① 단어</a:t>
            </a:r>
            <a:endParaRPr lang="en-US" sz="1200" dirty="0"/>
          </a:p>
        </p:txBody>
      </p:sp>
      <p:sp>
        <p:nvSpPr>
          <p:cNvPr id="6" name="Text 4"/>
          <p:cNvSpPr/>
          <p:nvPr/>
        </p:nvSpPr>
        <p:spPr>
          <a:xfrm>
            <a:off x="10477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가장 작은 뜻의 조각</a:t>
            </a:r>
            <a:endParaRPr lang="en-US" sz="1800" dirty="0"/>
          </a:p>
        </p:txBody>
      </p:sp>
      <p:sp>
        <p:nvSpPr>
          <p:cNvPr id="7" name="Text 5"/>
          <p:cNvSpPr/>
          <p:nvPr/>
        </p:nvSpPr>
        <p:spPr>
          <a:xfrm>
            <a:off x="10477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고객 = CUST</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번호 = NO</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주문 = ORD</a:t>
            </a:r>
            <a:endParaRPr lang="en-US" sz="1300" dirty="0"/>
          </a:p>
        </p:txBody>
      </p:sp>
      <p:sp>
        <p:nvSpPr>
          <p:cNvPr id="8" name="Shape 6"/>
          <p:cNvSpPr/>
          <p:nvPr/>
        </p:nvSpPr>
        <p:spPr>
          <a:xfrm>
            <a:off x="3495675" y="1816695"/>
            <a:ext cx="2520950" cy="2241352"/>
          </a:xfrm>
          <a:prstGeom prst="roundRect">
            <a:avLst>
              <a:gd name="adj" fmla="val 4391"/>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37274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② 도메인</a:t>
            </a:r>
            <a:endParaRPr lang="en-US" sz="1200" dirty="0"/>
          </a:p>
        </p:txBody>
      </p:sp>
      <p:sp>
        <p:nvSpPr>
          <p:cNvPr id="10" name="Text 8"/>
          <p:cNvSpPr/>
          <p:nvPr/>
        </p:nvSpPr>
        <p:spPr>
          <a:xfrm>
            <a:off x="37274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값의 모양과 범위</a:t>
            </a:r>
            <a:endParaRPr lang="en-US" sz="1800" dirty="0"/>
          </a:p>
        </p:txBody>
      </p:sp>
      <p:sp>
        <p:nvSpPr>
          <p:cNvPr id="11" name="Text 9"/>
          <p:cNvSpPr/>
          <p:nvPr/>
        </p:nvSpPr>
        <p:spPr>
          <a:xfrm>
            <a:off x="37274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번호는 글자 몇 자리</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금액은 숫자</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일자는 날짜</a:t>
            </a:r>
            <a:endParaRPr lang="en-US" sz="1300" dirty="0"/>
          </a:p>
        </p:txBody>
      </p:sp>
      <p:sp>
        <p:nvSpPr>
          <p:cNvPr id="12" name="Shape 10"/>
          <p:cNvSpPr/>
          <p:nvPr/>
        </p:nvSpPr>
        <p:spPr>
          <a:xfrm>
            <a:off x="6175375" y="1816695"/>
            <a:ext cx="2520950" cy="2241352"/>
          </a:xfrm>
          <a:prstGeom prst="roundRect">
            <a:avLst>
              <a:gd name="adj" fmla="val 4391"/>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64071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③ 용어</a:t>
            </a:r>
            <a:endParaRPr lang="en-US" sz="1200" dirty="0"/>
          </a:p>
        </p:txBody>
      </p:sp>
      <p:sp>
        <p:nvSpPr>
          <p:cNvPr id="14" name="Text 12"/>
          <p:cNvSpPr/>
          <p:nvPr/>
        </p:nvSpPr>
        <p:spPr>
          <a:xfrm>
            <a:off x="6407150" y="2350691"/>
            <a:ext cx="2119122"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단어를 조합한 컬럼 이름</a:t>
            </a:r>
            <a:endParaRPr lang="en-US" sz="1800" dirty="0"/>
          </a:p>
        </p:txBody>
      </p:sp>
      <p:sp>
        <p:nvSpPr>
          <p:cNvPr id="15" name="Text 13"/>
          <p:cNvSpPr/>
          <p:nvPr/>
        </p:nvSpPr>
        <p:spPr>
          <a:xfrm>
            <a:off x="6407150" y="303391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고객 + 번호</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 고객번호</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 CUST_NO</a:t>
            </a:r>
            <a:endParaRPr lang="en-US" sz="1300" dirty="0"/>
          </a:p>
        </p:txBody>
      </p:sp>
      <p:sp>
        <p:nvSpPr>
          <p:cNvPr id="16" name="Shape 14"/>
          <p:cNvSpPr/>
          <p:nvPr/>
        </p:nvSpPr>
        <p:spPr>
          <a:xfrm>
            <a:off x="8855075" y="1816695"/>
            <a:ext cx="2520950" cy="2241352"/>
          </a:xfrm>
          <a:prstGeom prst="roundRect">
            <a:avLst>
              <a:gd name="adj" fmla="val 4391"/>
            </a:avLst>
          </a:prstGeom>
          <a:solidFill>
            <a:srgbClr val="FFFDF8"/>
          </a:solidFill>
          <a:ln w="6350">
            <a:solidFill>
              <a:srgbClr val="D9D4C7"/>
            </a:solidFill>
            <a:prstDash val="solid"/>
          </a:ln>
        </p:spPr>
        <p:txBody>
          <a:bodyPr/>
          <a:lstStyle/>
          <a:p>
            <a:endParaRPr lang="ko-KR" altLang="en-US"/>
          </a:p>
        </p:txBody>
      </p:sp>
      <p:sp>
        <p:nvSpPr>
          <p:cNvPr id="17" name="Text 15"/>
          <p:cNvSpPr/>
          <p:nvPr/>
        </p:nvSpPr>
        <p:spPr>
          <a:xfrm>
            <a:off x="90868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④ 코드</a:t>
            </a:r>
            <a:endParaRPr lang="en-US" sz="1200" dirty="0"/>
          </a:p>
        </p:txBody>
      </p:sp>
      <p:sp>
        <p:nvSpPr>
          <p:cNvPr id="18" name="Text 16"/>
          <p:cNvSpPr/>
          <p:nvPr/>
        </p:nvSpPr>
        <p:spPr>
          <a:xfrm>
            <a:off x="90868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허용하는 값의 목록</a:t>
            </a:r>
            <a:endParaRPr lang="en-US" sz="1800" dirty="0"/>
          </a:p>
        </p:txBody>
      </p:sp>
      <p:sp>
        <p:nvSpPr>
          <p:cNvPr id="19" name="Text 17"/>
          <p:cNvSpPr/>
          <p:nvPr/>
        </p:nvSpPr>
        <p:spPr>
          <a:xfrm>
            <a:off x="9086850" y="2736751"/>
            <a:ext cx="211912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주문 상태</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 정해진 여섯 가지</a:t>
            </a:r>
            <a:endParaRPr lang="en-US" sz="1300" dirty="0"/>
          </a:p>
        </p:txBody>
      </p:sp>
      <p:sp>
        <p:nvSpPr>
          <p:cNvPr id="20" name="Shape 18"/>
          <p:cNvSpPr/>
          <p:nvPr/>
        </p:nvSpPr>
        <p:spPr>
          <a:xfrm>
            <a:off x="812800" y="4315222"/>
            <a:ext cx="10566400" cy="1219101"/>
          </a:xfrm>
          <a:prstGeom prst="roundRect">
            <a:avLst>
              <a:gd name="adj" fmla="val 6251"/>
            </a:avLst>
          </a:prstGeom>
          <a:solidFill>
            <a:srgbClr val="F8EBDD"/>
          </a:solidFill>
          <a:ln/>
        </p:spPr>
        <p:txBody>
          <a:bodyPr/>
          <a:lstStyle/>
          <a:p>
            <a:endParaRPr lang="ko-KR" altLang="en-US"/>
          </a:p>
        </p:txBody>
      </p:sp>
      <p:sp>
        <p:nvSpPr>
          <p:cNvPr id="21" name="Shape 19"/>
          <p:cNvSpPr/>
          <p:nvPr/>
        </p:nvSpPr>
        <p:spPr>
          <a:xfrm>
            <a:off x="812800" y="431522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A94E12"/>
          </a:solidFill>
          <a:ln/>
        </p:spPr>
        <p:txBody>
          <a:bodyPr/>
          <a:lstStyle/>
          <a:p>
            <a:endParaRPr lang="ko-KR" altLang="en-US"/>
          </a:p>
        </p:txBody>
      </p:sp>
      <p:sp>
        <p:nvSpPr>
          <p:cNvPr id="22" name="Text 20"/>
          <p:cNvSpPr/>
          <p:nvPr/>
        </p:nvSpPr>
        <p:spPr>
          <a:xfrm>
            <a:off x="1092200" y="449302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4E12"/>
                </a:solidFill>
                <a:latin typeface="Noto Sans KR" pitchFamily="34" charset="0"/>
                <a:ea typeface="Noto Sans KR" pitchFamily="34" charset="-122"/>
                <a:cs typeface="Noto Sans KR" pitchFamily="34" charset="-120"/>
              </a:rPr>
              <a:t>2일차에 여러분이 직접 만듭니다</a:t>
            </a:r>
            <a:endParaRPr lang="en-US" sz="1300" dirty="0"/>
          </a:p>
        </p:txBody>
      </p:sp>
      <p:sp>
        <p:nvSpPr>
          <p:cNvPr id="23" name="Text 21"/>
          <p:cNvSpPr/>
          <p:nvPr/>
        </p:nvSpPr>
        <p:spPr>
          <a:xfrm>
            <a:off x="1092200" y="478760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Google Sheets로 네 시트를 채우고 </a:t>
            </a:r>
            <a:r>
              <a:rPr lang="en-US" sz="1400" b="1" dirty="0">
                <a:solidFill>
                  <a:srgbClr val="3D4757"/>
                </a:solidFill>
                <a:latin typeface="Noto Sans KR" pitchFamily="34" charset="0"/>
                <a:ea typeface="Noto Sans KR" pitchFamily="34" charset="-122"/>
                <a:cs typeface="Noto Sans KR" pitchFamily="34" charset="-120"/>
              </a:rPr>
              <a:t>표준사전.xlsx</a:t>
            </a:r>
            <a:r>
              <a:rPr lang="en-US" sz="1400" dirty="0">
                <a:solidFill>
                  <a:srgbClr val="3D4757"/>
                </a:solidFill>
                <a:latin typeface="Noto Sans KR" pitchFamily="34" charset="0"/>
                <a:ea typeface="Noto Sans KR" pitchFamily="34" charset="-122"/>
                <a:cs typeface="Noto Sans KR" pitchFamily="34" charset="-120"/>
              </a:rPr>
              <a:t>로 내려받아 저장합니다. 검사 프로그램 </a:t>
            </a:r>
            <a:r>
              <a:rPr lang="en-US" sz="1400" b="1" dirty="0">
                <a:solidFill>
                  <a:srgbClr val="3D4757"/>
                </a:solidFill>
                <a:latin typeface="Noto Sans KR" pitchFamily="34" charset="0"/>
                <a:ea typeface="Noto Sans KR" pitchFamily="34" charset="-122"/>
                <a:cs typeface="Noto Sans KR" pitchFamily="34" charset="-120"/>
              </a:rPr>
              <a:t>check_dictionary.py</a:t>
            </a:r>
            <a:r>
              <a:rPr lang="en-US" sz="1400" dirty="0">
                <a:solidFill>
                  <a:srgbClr val="3D4757"/>
                </a:solidFill>
                <a:latin typeface="Noto Sans KR" pitchFamily="34" charset="0"/>
                <a:ea typeface="Noto Sans KR" pitchFamily="34" charset="-122"/>
                <a:cs typeface="Noto Sans KR" pitchFamily="34" charset="-120"/>
              </a:rPr>
              <a:t>가 약속을 제대로 지켰는지 확인해 줍니다.</a:t>
            </a:r>
            <a:endParaRPr lang="en-US" sz="14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13 / 60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6116"/>
          </a:xfrm>
          <a:prstGeom prst="rect">
            <a:avLst/>
          </a:prstGeom>
          <a:noFill/>
          <a:ln/>
        </p:spPr>
        <p:txBody>
          <a:bodyPr wrap="square" lIns="0" tIns="0" rIns="0" bIns="0" rtlCol="0" anchor="t">
            <a:normAutofit/>
          </a:bodyPr>
          <a:lstStyle/>
          <a:p>
            <a:pPr marL="0" indent="0" algn="l">
              <a:lnSpc>
                <a:spcPts val="1008"/>
              </a:lnSpc>
              <a:buNone/>
            </a:pPr>
            <a:r>
              <a:rPr lang="en-US" sz="720" b="1" kern="0" spc="100" dirty="0">
                <a:solidFill>
                  <a:srgbClr val="A94E12"/>
                </a:solidFill>
                <a:latin typeface="Noto Sans KR" pitchFamily="34" charset="0"/>
                <a:ea typeface="Noto Sans KR" pitchFamily="34" charset="-122"/>
                <a:cs typeface="Noto Sans KR" pitchFamily="34" charset="-120"/>
              </a:rPr>
              <a:t>표준 사전 ① · 표준 단어</a:t>
            </a:r>
            <a:endParaRPr lang="en-US" sz="720" dirty="0"/>
          </a:p>
        </p:txBody>
      </p:sp>
      <p:sp>
        <p:nvSpPr>
          <p:cNvPr id="3" name="Text 1"/>
          <p:cNvSpPr/>
          <p:nvPr/>
        </p:nvSpPr>
        <p:spPr>
          <a:xfrm>
            <a:off x="812800" y="899716"/>
            <a:ext cx="10883392" cy="48518"/>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44"/>
                </a:solidFill>
                <a:latin typeface="Noto Sans KR" pitchFamily="34" charset="0"/>
                <a:ea typeface="Noto Sans KR" pitchFamily="34" charset="-122"/>
                <a:cs typeface="Noto Sans KR" pitchFamily="34" charset="-120"/>
              </a:rPr>
              <a:t>뜻의 가장 작은 조각과 그 영문 약어를 정합니다</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189534"/>
          <a:ext cx="10248900" cy="3087688"/>
        </p:xfrm>
        <a:graphic>
          <a:graphicData uri="http://schemas.openxmlformats.org/drawingml/2006/table">
            <a:tbl>
              <a:tblPr/>
              <a:tblGrid>
                <a:gridCol w="2664714">
                  <a:extLst>
                    <a:ext uri="{9D8B030D-6E8A-4147-A177-3AD203B41FA5}">
                      <a16:colId xmlns:a16="http://schemas.microsoft.com/office/drawing/2014/main" val="20000"/>
                    </a:ext>
                  </a:extLst>
                </a:gridCol>
                <a:gridCol w="2459736">
                  <a:extLst>
                    <a:ext uri="{9D8B030D-6E8A-4147-A177-3AD203B41FA5}">
                      <a16:colId xmlns:a16="http://schemas.microsoft.com/office/drawing/2014/main" val="20001"/>
                    </a:ext>
                  </a:extLst>
                </a:gridCol>
                <a:gridCol w="512445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한글 단어</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영문 약어</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뜻</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고객</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CUST</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상품을 사는 사람</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주문</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ORD</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고객이 상품을 사겠다는 요청</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항목</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ITEM</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주문 안의 상품 한 줄</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번호</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NO</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무언가를 구별하는 번호</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일자</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DT</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날짜</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금액</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AMT</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돈의 양</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코드</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CD</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정해진 목록 중 하나의 값</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bl>
          </a:graphicData>
        </a:graphic>
      </p:graphicFrame>
      <p:sp>
        <p:nvSpPr>
          <p:cNvPr id="8" name="Shape 5"/>
          <p:cNvSpPr/>
          <p:nvPr/>
        </p:nvSpPr>
        <p:spPr>
          <a:xfrm>
            <a:off x="812800" y="5348387"/>
            <a:ext cx="10566400" cy="493613"/>
          </a:xfrm>
          <a:prstGeom prst="roundRect">
            <a:avLst>
              <a:gd name="adj" fmla="val 15437"/>
            </a:avLst>
          </a:prstGeom>
          <a:solidFill>
            <a:srgbClr val="E3EFE7"/>
          </a:solidFill>
          <a:ln/>
        </p:spPr>
        <p:txBody>
          <a:bodyPr/>
          <a:lstStyle/>
          <a:p>
            <a:endParaRPr lang="ko-KR" altLang="en-US"/>
          </a:p>
        </p:txBody>
      </p:sp>
      <p:sp>
        <p:nvSpPr>
          <p:cNvPr id="9" name="Shape 6"/>
          <p:cNvSpPr/>
          <p:nvPr/>
        </p:nvSpPr>
        <p:spPr>
          <a:xfrm>
            <a:off x="812800" y="5348387"/>
            <a:ext cx="10566400" cy="493613"/>
          </a:xfrm>
          <a:custGeom>
            <a:avLst/>
            <a:gdLst/>
            <a:ahLst/>
            <a:cxnLst/>
            <a:rect l="l" t="t" r="r" b="b"/>
            <a:pathLst>
              <a:path w="10566400" h="493613">
                <a:moveTo>
                  <a:pt x="76200" y="493613"/>
                </a:moveTo>
                <a:lnTo>
                  <a:pt x="76200" y="493613"/>
                </a:lnTo>
                <a:arcTo wR="76200" hR="76200" stAng="5400000" swAng="5400000"/>
                <a:lnTo>
                  <a:pt x="0" y="76200"/>
                </a:lnTo>
                <a:arcTo wR="76200" hR="76200" stAng="10800000" swAng="5400000"/>
                <a:lnTo>
                  <a:pt x="76200" y="0"/>
                </a:lnTo>
                <a:arcTo wR="25400" hR="76200" stAng="16200000" swAng="-5400000"/>
                <a:lnTo>
                  <a:pt x="50800" y="417413"/>
                </a:lnTo>
                <a:arcTo wR="25400" hR="76200" stAng="10800000" swAng="-5400000"/>
                <a:close/>
              </a:path>
            </a:pathLst>
          </a:custGeom>
          <a:solidFill>
            <a:srgbClr val="2E6B4F"/>
          </a:solidFill>
          <a:ln/>
        </p:spPr>
        <p:txBody>
          <a:bodyPr/>
          <a:lstStyle/>
          <a:p>
            <a:endParaRPr lang="ko-KR" altLang="en-US"/>
          </a:p>
        </p:txBody>
      </p:sp>
      <p:sp>
        <p:nvSpPr>
          <p:cNvPr id="10" name="Text 7"/>
          <p:cNvSpPr/>
          <p:nvPr/>
        </p:nvSpPr>
        <p:spPr>
          <a:xfrm>
            <a:off x="1117600" y="5551587"/>
            <a:ext cx="10307828" cy="30361"/>
          </a:xfrm>
          <a:prstGeom prst="rect">
            <a:avLst/>
          </a:prstGeom>
          <a:noFill/>
          <a:ln/>
        </p:spPr>
        <p:txBody>
          <a:bodyPr wrap="square" lIns="0" tIns="0" rIns="0" bIns="0" rtlCol="0" anchor="t">
            <a:normAutofit/>
          </a:bodyPr>
          <a:lstStyle/>
          <a:p>
            <a:pPr marL="0" indent="0" algn="l">
              <a:lnSpc>
                <a:spcPts val="1092"/>
              </a:lnSpc>
              <a:buNone/>
            </a:pPr>
            <a:r>
              <a:rPr lang="en-US" sz="780" b="1" dirty="0">
                <a:solidFill>
                  <a:srgbClr val="23573F"/>
                </a:solidFill>
                <a:latin typeface="Noto Sans KR" pitchFamily="34" charset="0"/>
                <a:ea typeface="Noto Sans KR" pitchFamily="34" charset="-122"/>
                <a:cs typeface="Noto Sans KR" pitchFamily="34" charset="-120"/>
              </a:rPr>
              <a:t>예 — 레고 블록</a:t>
            </a:r>
            <a:endParaRPr lang="en-US" sz="780" dirty="0"/>
          </a:p>
        </p:txBody>
      </p:sp>
      <p:sp>
        <p:nvSpPr>
          <p:cNvPr id="11" name="Text 8"/>
          <p:cNvSpPr/>
          <p:nvPr/>
        </p:nvSpPr>
        <p:spPr>
          <a:xfrm>
            <a:off x="1117600" y="5632748"/>
            <a:ext cx="10307828" cy="31452"/>
          </a:xfrm>
          <a:prstGeom prst="rect">
            <a:avLst/>
          </a:prstGeom>
          <a:noFill/>
          <a:ln/>
        </p:spPr>
        <p:txBody>
          <a:bodyPr wrap="square" lIns="0" tIns="0" rIns="0" bIns="0" rtlCol="0" anchor="t">
            <a:normAutofit/>
          </a:bodyPr>
          <a:lstStyle/>
          <a:p>
            <a:pPr marL="0" indent="0" algn="l">
              <a:lnSpc>
                <a:spcPts val="1344"/>
              </a:lnSpc>
              <a:buNone/>
            </a:pPr>
            <a:r>
              <a:rPr lang="en-US" sz="840" dirty="0">
                <a:solidFill>
                  <a:srgbClr val="2B3A33"/>
                </a:solidFill>
                <a:latin typeface="Noto Sans KR" pitchFamily="34" charset="0"/>
                <a:ea typeface="Noto Sans KR" pitchFamily="34" charset="-122"/>
                <a:cs typeface="Noto Sans KR" pitchFamily="34" charset="-120"/>
              </a:rPr>
              <a:t>단어는 레고 블록 한 개입니다. 블록 모양이 통일되어 있어야 어떤 작품을 만들어도 서로 끼워 맞출 수 있습니다.</a:t>
            </a:r>
            <a:endParaRPr lang="en-US" sz="84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14 / 60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표준 사전 ② · 표준 도메인</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값이 어떤 모양이어야 하는지를 정합니다</a:t>
            </a:r>
            <a:endParaRPr lang="en-US" sz="3000" dirty="0"/>
          </a:p>
        </p:txBody>
      </p:sp>
      <p:sp>
        <p:nvSpPr>
          <p:cNvPr id="4" name="Text 2"/>
          <p:cNvSpPr/>
          <p:nvPr/>
        </p:nvSpPr>
        <p:spPr>
          <a:xfrm>
            <a:off x="812800" y="1813520"/>
            <a:ext cx="5284724"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2458A6"/>
                </a:solidFill>
                <a:latin typeface="Noto Sans KR" pitchFamily="34" charset="0"/>
                <a:ea typeface="Noto Sans KR" pitchFamily="34" charset="-122"/>
                <a:cs typeface="Noto Sans KR" pitchFamily="34" charset="-120"/>
              </a:rPr>
              <a:t>공공기관 공통표준도메인의 이름 짓는 법</a:t>
            </a:r>
            <a:endParaRPr lang="en-US" sz="1400" dirty="0"/>
          </a:p>
        </p:txBody>
      </p:sp>
      <p:sp>
        <p:nvSpPr>
          <p:cNvPr id="5" name="Text 3"/>
          <p:cNvSpPr/>
          <p:nvPr/>
        </p:nvSpPr>
        <p:spPr>
          <a:xfrm>
            <a:off x="812800" y="2199580"/>
            <a:ext cx="5284724"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분류 + 타입 + 길이</a:t>
            </a:r>
            <a:r>
              <a:rPr lang="en-US" sz="1500" dirty="0">
                <a:solidFill>
                  <a:srgbClr val="1B2A44"/>
                </a:solidFill>
                <a:latin typeface="Noto Sans KR" pitchFamily="34" charset="0"/>
                <a:ea typeface="Noto Sans KR" pitchFamily="34" charset="-122"/>
                <a:cs typeface="Noto Sans KR" pitchFamily="34" charset="-120"/>
              </a:rPr>
              <a:t>로 이름을 짓습니다.</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18680"/>
          <a:ext cx="5118100" cy="1543844"/>
        </p:xfrm>
        <a:graphic>
          <a:graphicData uri="http://schemas.openxmlformats.org/drawingml/2006/table">
            <a:tbl>
              <a:tblPr/>
              <a:tblGrid>
                <a:gridCol w="2047240">
                  <a:extLst>
                    <a:ext uri="{9D8B030D-6E8A-4147-A177-3AD203B41FA5}">
                      <a16:colId xmlns:a16="http://schemas.microsoft.com/office/drawing/2014/main" val="20000"/>
                    </a:ext>
                  </a:extLst>
                </a:gridCol>
                <a:gridCol w="307086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도메인 이름</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읽는 법</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연월일C8</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날짜를 글자 8자리로</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금액N15</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금액을 숫자 15자리로</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여부C1</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예/아니오를 글자 1자리로</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7" name="Text 4"/>
          <p:cNvSpPr/>
          <p:nvPr/>
        </p:nvSpPr>
        <p:spPr>
          <a:xfrm>
            <a:off x="6248400" y="1813520"/>
            <a:ext cx="5284724"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2458A6"/>
                </a:solidFill>
                <a:latin typeface="Noto Sans KR" pitchFamily="34" charset="0"/>
                <a:ea typeface="Noto Sans KR" pitchFamily="34" charset="-122"/>
                <a:cs typeface="Noto Sans KR" pitchFamily="34" charset="-120"/>
              </a:rPr>
              <a:t>그래서 무엇이 좋은가?</a:t>
            </a:r>
            <a:endParaRPr lang="en-US" sz="1400" dirty="0"/>
          </a:p>
        </p:txBody>
      </p:sp>
      <p:sp>
        <p:nvSpPr>
          <p:cNvPr id="8" name="Text 5"/>
          <p:cNvSpPr/>
          <p:nvPr/>
        </p:nvSpPr>
        <p:spPr>
          <a:xfrm>
            <a:off x="6248400" y="2212280"/>
            <a:ext cx="5284724"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'번호' 도메인을 </a:t>
            </a:r>
            <a:r>
              <a:rPr lang="en-US" sz="1400" b="1" dirty="0">
                <a:solidFill>
                  <a:srgbClr val="3D4757"/>
                </a:solidFill>
                <a:latin typeface="Noto Sans KR" pitchFamily="34" charset="0"/>
                <a:ea typeface="Noto Sans KR" pitchFamily="34" charset="-122"/>
                <a:cs typeface="Noto Sans KR" pitchFamily="34" charset="-120"/>
              </a:rPr>
              <a:t>글자</a:t>
            </a:r>
            <a:r>
              <a:rPr lang="en-US" sz="1400" dirty="0">
                <a:solidFill>
                  <a:srgbClr val="3D4757"/>
                </a:solidFill>
                <a:latin typeface="Noto Sans KR" pitchFamily="34" charset="0"/>
                <a:ea typeface="Noto Sans KR" pitchFamily="34" charset="-122"/>
                <a:cs typeface="Noto Sans KR" pitchFamily="34" charset="-120"/>
              </a:rPr>
              <a:t>로 정해 두면, 고객번호·주문번호·상품번호가 전부 글자로 다뤄집니다.</a:t>
            </a:r>
            <a:endParaRPr lang="en-US" sz="1400" dirty="0"/>
          </a:p>
        </p:txBody>
      </p:sp>
      <p:sp>
        <p:nvSpPr>
          <p:cNvPr id="9" name="Text 6"/>
          <p:cNvSpPr/>
          <p:nvPr/>
        </p:nvSpPr>
        <p:spPr>
          <a:xfrm>
            <a:off x="6248400" y="2895501"/>
            <a:ext cx="5284724"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A3231B"/>
                </a:solidFill>
                <a:latin typeface="Noto Sans KR" pitchFamily="34" charset="0"/>
                <a:ea typeface="Noto Sans KR" pitchFamily="34" charset="-122"/>
                <a:cs typeface="Noto Sans KR" pitchFamily="34" charset="-120"/>
              </a:rPr>
              <a:t>장면 ①의 0000001 → 1 사고가 규칙으로 막힙니다.</a:t>
            </a:r>
            <a:endParaRPr lang="en-US" sz="1400" dirty="0"/>
          </a:p>
        </p:txBody>
      </p:sp>
      <p:sp>
        <p:nvSpPr>
          <p:cNvPr id="10" name="Shape 7"/>
          <p:cNvSpPr/>
          <p:nvPr/>
        </p:nvSpPr>
        <p:spPr>
          <a:xfrm>
            <a:off x="812800" y="4416524"/>
            <a:ext cx="10566400" cy="1282601"/>
          </a:xfrm>
          <a:prstGeom prst="roundRect">
            <a:avLst>
              <a:gd name="adj" fmla="val 5941"/>
            </a:avLst>
          </a:prstGeom>
          <a:solidFill>
            <a:srgbClr val="E3EFE7"/>
          </a:solidFill>
          <a:ln/>
        </p:spPr>
        <p:txBody>
          <a:bodyPr/>
          <a:lstStyle/>
          <a:p>
            <a:endParaRPr lang="ko-KR" altLang="en-US"/>
          </a:p>
        </p:txBody>
      </p:sp>
      <p:sp>
        <p:nvSpPr>
          <p:cNvPr id="11" name="Shape 8"/>
          <p:cNvSpPr/>
          <p:nvPr/>
        </p:nvSpPr>
        <p:spPr>
          <a:xfrm>
            <a:off x="812800" y="4416524"/>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2" name="Text 9"/>
          <p:cNvSpPr/>
          <p:nvPr/>
        </p:nvSpPr>
        <p:spPr>
          <a:xfrm>
            <a:off x="1117600" y="4619724"/>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신발 사이즈 칸</a:t>
            </a:r>
            <a:endParaRPr lang="en-US" sz="1300" dirty="0"/>
          </a:p>
        </p:txBody>
      </p:sp>
      <p:sp>
        <p:nvSpPr>
          <p:cNvPr id="13" name="Text 10"/>
          <p:cNvSpPr/>
          <p:nvPr/>
        </p:nvSpPr>
        <p:spPr>
          <a:xfrm>
            <a:off x="1117600" y="4927005"/>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주문서의 신발 사이즈 칸에는 'mm 단위, 숫자 세 자리'만 적게 되어 있습니다. '큰 거', 'L' 같은 답이 들어오지 않게 칸의 모양을 미리 정해 두는 것, 그것이 도메인입니다.</a:t>
            </a:r>
            <a:endParaRPr lang="en-US" sz="14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15 / 60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3937"/>
          </a:xfrm>
          <a:prstGeom prst="rect">
            <a:avLst/>
          </a:prstGeom>
          <a:noFill/>
          <a:ln/>
        </p:spPr>
        <p:txBody>
          <a:bodyPr wrap="square" lIns="0" tIns="0" rIns="0" bIns="0" rtlCol="0" anchor="t">
            <a:normAutofit/>
          </a:bodyPr>
          <a:lstStyle/>
          <a:p>
            <a:pPr marL="0" indent="0" algn="l">
              <a:lnSpc>
                <a:spcPts val="1570"/>
              </a:lnSpc>
              <a:buNone/>
            </a:pPr>
            <a:r>
              <a:rPr lang="en-US" sz="1121" b="1" kern="0" spc="100" dirty="0">
                <a:solidFill>
                  <a:srgbClr val="A94E12"/>
                </a:solidFill>
                <a:latin typeface="Noto Sans KR" pitchFamily="34" charset="0"/>
                <a:ea typeface="Noto Sans KR" pitchFamily="34" charset="-122"/>
                <a:cs typeface="Noto Sans KR" pitchFamily="34" charset="-120"/>
              </a:rPr>
              <a:t>표준 사전 ③ · 표준 용어</a:t>
            </a:r>
            <a:endParaRPr lang="en-US" sz="1121" dirty="0"/>
          </a:p>
        </p:txBody>
      </p:sp>
      <p:sp>
        <p:nvSpPr>
          <p:cNvPr id="3" name="Text 1"/>
          <p:cNvSpPr/>
          <p:nvPr/>
        </p:nvSpPr>
        <p:spPr>
          <a:xfrm>
            <a:off x="812800" y="1087537"/>
            <a:ext cx="10883392" cy="451048"/>
          </a:xfrm>
          <a:prstGeom prst="rect">
            <a:avLst/>
          </a:prstGeom>
          <a:noFill/>
          <a:ln/>
        </p:spPr>
        <p:txBody>
          <a:bodyPr wrap="square" lIns="0" tIns="0" rIns="0" bIns="0" rtlCol="0" anchor="t">
            <a:normAutofit/>
          </a:bodyPr>
          <a:lstStyle/>
          <a:p>
            <a:pPr marL="0" indent="0" algn="l">
              <a:lnSpc>
                <a:spcPts val="3364"/>
              </a:lnSpc>
              <a:buNone/>
            </a:pPr>
            <a:r>
              <a:rPr lang="en-US" sz="2803" b="1" dirty="0">
                <a:solidFill>
                  <a:srgbClr val="1B2A44"/>
                </a:solidFill>
                <a:latin typeface="Noto Sans KR" pitchFamily="34" charset="0"/>
                <a:ea typeface="Noto Sans KR" pitchFamily="34" charset="-122"/>
                <a:cs typeface="Noto Sans KR" pitchFamily="34" charset="-120"/>
              </a:rPr>
              <a:t>단어를 조합하고 도메인을 붙이면 컬럼 이름이 됩니다</a:t>
            </a:r>
            <a:endParaRPr lang="en-US" sz="2803" dirty="0"/>
          </a:p>
        </p:txBody>
      </p:sp>
      <p:sp>
        <p:nvSpPr>
          <p:cNvPr id="4" name="Shape 2"/>
          <p:cNvSpPr/>
          <p:nvPr/>
        </p:nvSpPr>
        <p:spPr>
          <a:xfrm>
            <a:off x="819150" y="1773535"/>
            <a:ext cx="1511300" cy="770830"/>
          </a:xfrm>
          <a:prstGeom prst="roundRect">
            <a:avLst>
              <a:gd name="adj" fmla="val 10709"/>
            </a:avLst>
          </a:prstGeom>
          <a:solidFill>
            <a:srgbClr val="FFFDF8"/>
          </a:solidFill>
          <a:ln w="12700">
            <a:solidFill>
              <a:srgbClr val="D9D4C7"/>
            </a:solidFill>
            <a:prstDash val="solid"/>
          </a:ln>
        </p:spPr>
        <p:txBody>
          <a:bodyPr/>
          <a:lstStyle/>
          <a:p>
            <a:endParaRPr lang="ko-KR" altLang="en-US"/>
          </a:p>
        </p:txBody>
      </p:sp>
      <p:sp>
        <p:nvSpPr>
          <p:cNvPr id="5" name="Text 3"/>
          <p:cNvSpPr/>
          <p:nvPr/>
        </p:nvSpPr>
        <p:spPr>
          <a:xfrm>
            <a:off x="1394321" y="1932285"/>
            <a:ext cx="360859"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고객</a:t>
            </a:r>
            <a:endParaRPr lang="en-US" sz="1327" dirty="0"/>
          </a:p>
        </p:txBody>
      </p:sp>
      <p:sp>
        <p:nvSpPr>
          <p:cNvPr id="6" name="Text 4"/>
          <p:cNvSpPr/>
          <p:nvPr/>
        </p:nvSpPr>
        <p:spPr>
          <a:xfrm>
            <a:off x="1426666" y="2199382"/>
            <a:ext cx="296168"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단어</a:t>
            </a:r>
            <a:endParaRPr lang="en-US" sz="1050" dirty="0"/>
          </a:p>
        </p:txBody>
      </p:sp>
      <p:sp>
        <p:nvSpPr>
          <p:cNvPr id="7" name="Text 5"/>
          <p:cNvSpPr/>
          <p:nvPr/>
        </p:nvSpPr>
        <p:spPr>
          <a:xfrm>
            <a:off x="2463800" y="1981101"/>
            <a:ext cx="200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8" name="Shape 6"/>
          <p:cNvSpPr/>
          <p:nvPr/>
        </p:nvSpPr>
        <p:spPr>
          <a:xfrm>
            <a:off x="2747070" y="1773535"/>
            <a:ext cx="1511300" cy="770830"/>
          </a:xfrm>
          <a:prstGeom prst="roundRect">
            <a:avLst>
              <a:gd name="adj" fmla="val 10709"/>
            </a:avLst>
          </a:prstGeom>
          <a:solidFill>
            <a:srgbClr val="FFFDF8"/>
          </a:solidFill>
          <a:ln w="12700">
            <a:solidFill>
              <a:srgbClr val="D9D4C7"/>
            </a:solidFill>
            <a:prstDash val="solid"/>
          </a:ln>
        </p:spPr>
        <p:txBody>
          <a:bodyPr/>
          <a:lstStyle/>
          <a:p>
            <a:endParaRPr lang="ko-KR" altLang="en-US"/>
          </a:p>
        </p:txBody>
      </p:sp>
      <p:sp>
        <p:nvSpPr>
          <p:cNvPr id="9" name="Text 7"/>
          <p:cNvSpPr/>
          <p:nvPr/>
        </p:nvSpPr>
        <p:spPr>
          <a:xfrm>
            <a:off x="3322241" y="1932285"/>
            <a:ext cx="360859"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번호</a:t>
            </a:r>
            <a:endParaRPr lang="en-US" sz="1327" dirty="0"/>
          </a:p>
        </p:txBody>
      </p:sp>
      <p:sp>
        <p:nvSpPr>
          <p:cNvPr id="10" name="Text 8"/>
          <p:cNvSpPr/>
          <p:nvPr/>
        </p:nvSpPr>
        <p:spPr>
          <a:xfrm>
            <a:off x="3354586" y="2199382"/>
            <a:ext cx="296168"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단어</a:t>
            </a:r>
            <a:endParaRPr lang="en-US" sz="1050" dirty="0"/>
          </a:p>
        </p:txBody>
      </p:sp>
      <p:sp>
        <p:nvSpPr>
          <p:cNvPr id="11" name="Text 9"/>
          <p:cNvSpPr/>
          <p:nvPr/>
        </p:nvSpPr>
        <p:spPr>
          <a:xfrm>
            <a:off x="4391720" y="1981101"/>
            <a:ext cx="200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12" name="Shape 10"/>
          <p:cNvSpPr/>
          <p:nvPr/>
        </p:nvSpPr>
        <p:spPr>
          <a:xfrm>
            <a:off x="4674989" y="1773535"/>
            <a:ext cx="2019300" cy="770830"/>
          </a:xfrm>
          <a:prstGeom prst="roundRect">
            <a:avLst>
              <a:gd name="adj" fmla="val 10709"/>
            </a:avLst>
          </a:prstGeom>
          <a:solidFill>
            <a:srgbClr val="E4ECF7"/>
          </a:solidFill>
          <a:ln w="12700">
            <a:solidFill>
              <a:srgbClr val="9DB6DC"/>
            </a:solidFill>
            <a:prstDash val="solid"/>
          </a:ln>
        </p:spPr>
        <p:txBody>
          <a:bodyPr/>
          <a:lstStyle/>
          <a:p>
            <a:endParaRPr lang="ko-KR" altLang="en-US"/>
          </a:p>
        </p:txBody>
      </p:sp>
      <p:sp>
        <p:nvSpPr>
          <p:cNvPr id="13" name="Text 11"/>
          <p:cNvSpPr/>
          <p:nvPr/>
        </p:nvSpPr>
        <p:spPr>
          <a:xfrm>
            <a:off x="5349180" y="1932285"/>
            <a:ext cx="670818"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2458A6"/>
                </a:solidFill>
                <a:latin typeface="Noto Sans KR" pitchFamily="34" charset="0"/>
                <a:ea typeface="Noto Sans KR" pitchFamily="34" charset="-122"/>
                <a:cs typeface="Noto Sans KR" pitchFamily="34" charset="-120"/>
              </a:rPr>
              <a:t>고객번호</a:t>
            </a:r>
            <a:endParaRPr lang="en-US" sz="1327" dirty="0"/>
          </a:p>
        </p:txBody>
      </p:sp>
      <p:sp>
        <p:nvSpPr>
          <p:cNvPr id="14" name="Text 12"/>
          <p:cNvSpPr/>
          <p:nvPr/>
        </p:nvSpPr>
        <p:spPr>
          <a:xfrm>
            <a:off x="5292527" y="2199382"/>
            <a:ext cx="784225"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2458A6"/>
                </a:solidFill>
                <a:latin typeface="Noto Sans KR" pitchFamily="34" charset="0"/>
                <a:ea typeface="Noto Sans KR" pitchFamily="34" charset="-122"/>
                <a:cs typeface="Noto Sans KR" pitchFamily="34" charset="-120"/>
              </a:rPr>
              <a:t>용어 (한글명)</a:t>
            </a:r>
            <a:endParaRPr lang="en-US" sz="1050" dirty="0"/>
          </a:p>
        </p:txBody>
      </p:sp>
      <p:sp>
        <p:nvSpPr>
          <p:cNvPr id="15" name="Shape 13"/>
          <p:cNvSpPr/>
          <p:nvPr/>
        </p:nvSpPr>
        <p:spPr>
          <a:xfrm>
            <a:off x="6833989" y="1773535"/>
            <a:ext cx="2019300" cy="770830"/>
          </a:xfrm>
          <a:prstGeom prst="roundRect">
            <a:avLst>
              <a:gd name="adj" fmla="val 10709"/>
            </a:avLst>
          </a:prstGeom>
          <a:solidFill>
            <a:srgbClr val="F8EBDD"/>
          </a:solidFill>
          <a:ln w="12700">
            <a:solidFill>
              <a:srgbClr val="E0B48C"/>
            </a:solidFill>
            <a:prstDash val="solid"/>
          </a:ln>
        </p:spPr>
        <p:txBody>
          <a:bodyPr/>
          <a:lstStyle/>
          <a:p>
            <a:endParaRPr lang="ko-KR" altLang="en-US"/>
          </a:p>
        </p:txBody>
      </p:sp>
      <p:sp>
        <p:nvSpPr>
          <p:cNvPr id="16" name="Text 14"/>
          <p:cNvSpPr/>
          <p:nvPr/>
        </p:nvSpPr>
        <p:spPr>
          <a:xfrm>
            <a:off x="7424936" y="1932285"/>
            <a:ext cx="837307"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A94E12"/>
                </a:solidFill>
                <a:latin typeface="Noto Sans KR" pitchFamily="34" charset="0"/>
                <a:ea typeface="Noto Sans KR" pitchFamily="34" charset="-122"/>
                <a:cs typeface="Noto Sans KR" pitchFamily="34" charset="-120"/>
              </a:rPr>
              <a:t>CUST_NO</a:t>
            </a:r>
            <a:endParaRPr lang="en-US" sz="1327" dirty="0"/>
          </a:p>
        </p:txBody>
      </p:sp>
      <p:sp>
        <p:nvSpPr>
          <p:cNvPr id="17" name="Text 15"/>
          <p:cNvSpPr/>
          <p:nvPr/>
        </p:nvSpPr>
        <p:spPr>
          <a:xfrm>
            <a:off x="7313811" y="2199382"/>
            <a:ext cx="1059557"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A94E12"/>
                </a:solidFill>
                <a:latin typeface="Noto Sans KR" pitchFamily="34" charset="0"/>
                <a:ea typeface="Noto Sans KR" pitchFamily="34" charset="-122"/>
                <a:cs typeface="Noto Sans KR" pitchFamily="34" charset="-120"/>
              </a:rPr>
              <a:t>물리명 (컬럼 이름)</a:t>
            </a:r>
            <a:endParaRPr lang="en-US" sz="1050" dirty="0"/>
          </a:p>
        </p:txBody>
      </p:sp>
      <p:sp>
        <p:nvSpPr>
          <p:cNvPr id="18" name="Shape 16"/>
          <p:cNvSpPr/>
          <p:nvPr/>
        </p:nvSpPr>
        <p:spPr>
          <a:xfrm>
            <a:off x="8992989" y="1773535"/>
            <a:ext cx="1511300" cy="770830"/>
          </a:xfrm>
          <a:prstGeom prst="roundRect">
            <a:avLst>
              <a:gd name="adj" fmla="val 10709"/>
            </a:avLst>
          </a:prstGeom>
          <a:solidFill>
            <a:srgbClr val="FFFDF8"/>
          </a:solidFill>
          <a:ln w="12700">
            <a:solidFill>
              <a:srgbClr val="D9D4C7"/>
            </a:solidFill>
            <a:prstDash val="solid"/>
          </a:ln>
        </p:spPr>
        <p:txBody>
          <a:bodyPr/>
          <a:lstStyle/>
          <a:p>
            <a:endParaRPr lang="ko-KR" altLang="en-US"/>
          </a:p>
        </p:txBody>
      </p:sp>
      <p:sp>
        <p:nvSpPr>
          <p:cNvPr id="19" name="Text 17"/>
          <p:cNvSpPr/>
          <p:nvPr/>
        </p:nvSpPr>
        <p:spPr>
          <a:xfrm>
            <a:off x="9568160" y="1932285"/>
            <a:ext cx="360859"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번호</a:t>
            </a:r>
            <a:endParaRPr lang="en-US" sz="1327" dirty="0"/>
          </a:p>
        </p:txBody>
      </p:sp>
      <p:sp>
        <p:nvSpPr>
          <p:cNvPr id="20" name="Text 18"/>
          <p:cNvSpPr/>
          <p:nvPr/>
        </p:nvSpPr>
        <p:spPr>
          <a:xfrm>
            <a:off x="9539188" y="2199382"/>
            <a:ext cx="418902"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도메인</a:t>
            </a:r>
            <a:endParaRPr lang="en-US" sz="1050" dirty="0"/>
          </a:p>
        </p:txBody>
      </p:sp>
      <p:sp>
        <p:nvSpPr>
          <p:cNvPr id="21" name="Shape 19"/>
          <p:cNvSpPr/>
          <p:nvPr/>
        </p:nvSpPr>
        <p:spPr>
          <a:xfrm>
            <a:off x="819150" y="2709466"/>
            <a:ext cx="1511300" cy="770731"/>
          </a:xfrm>
          <a:prstGeom prst="roundRect">
            <a:avLst>
              <a:gd name="adj" fmla="val 10711"/>
            </a:avLst>
          </a:prstGeom>
          <a:solidFill>
            <a:srgbClr val="FFFDF8"/>
          </a:solidFill>
          <a:ln w="12700">
            <a:solidFill>
              <a:srgbClr val="D9D4C7"/>
            </a:solidFill>
            <a:prstDash val="solid"/>
          </a:ln>
        </p:spPr>
        <p:txBody>
          <a:bodyPr/>
          <a:lstStyle/>
          <a:p>
            <a:endParaRPr lang="ko-KR" altLang="en-US"/>
          </a:p>
        </p:txBody>
      </p:sp>
      <p:sp>
        <p:nvSpPr>
          <p:cNvPr id="22" name="Text 20"/>
          <p:cNvSpPr/>
          <p:nvPr/>
        </p:nvSpPr>
        <p:spPr>
          <a:xfrm>
            <a:off x="1394321" y="2868216"/>
            <a:ext cx="360859" cy="241598"/>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주문</a:t>
            </a:r>
            <a:endParaRPr lang="en-US" sz="1327" dirty="0"/>
          </a:p>
        </p:txBody>
      </p:sp>
      <p:sp>
        <p:nvSpPr>
          <p:cNvPr id="23" name="Text 21"/>
          <p:cNvSpPr/>
          <p:nvPr/>
        </p:nvSpPr>
        <p:spPr>
          <a:xfrm>
            <a:off x="1426666" y="3135213"/>
            <a:ext cx="296168"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단어</a:t>
            </a:r>
            <a:endParaRPr lang="en-US" sz="1050" dirty="0"/>
          </a:p>
        </p:txBody>
      </p:sp>
      <p:sp>
        <p:nvSpPr>
          <p:cNvPr id="24" name="Text 22"/>
          <p:cNvSpPr/>
          <p:nvPr/>
        </p:nvSpPr>
        <p:spPr>
          <a:xfrm>
            <a:off x="2463800" y="2917031"/>
            <a:ext cx="200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25" name="Shape 23"/>
          <p:cNvSpPr/>
          <p:nvPr/>
        </p:nvSpPr>
        <p:spPr>
          <a:xfrm>
            <a:off x="2747070" y="2709466"/>
            <a:ext cx="1511300" cy="770731"/>
          </a:xfrm>
          <a:prstGeom prst="roundRect">
            <a:avLst>
              <a:gd name="adj" fmla="val 10711"/>
            </a:avLst>
          </a:prstGeom>
          <a:solidFill>
            <a:srgbClr val="FFFDF8"/>
          </a:solidFill>
          <a:ln w="12700">
            <a:solidFill>
              <a:srgbClr val="D9D4C7"/>
            </a:solidFill>
            <a:prstDash val="solid"/>
          </a:ln>
        </p:spPr>
        <p:txBody>
          <a:bodyPr/>
          <a:lstStyle/>
          <a:p>
            <a:endParaRPr lang="ko-KR" altLang="en-US"/>
          </a:p>
        </p:txBody>
      </p:sp>
      <p:sp>
        <p:nvSpPr>
          <p:cNvPr id="26" name="Text 24"/>
          <p:cNvSpPr/>
          <p:nvPr/>
        </p:nvSpPr>
        <p:spPr>
          <a:xfrm>
            <a:off x="3322241" y="2868216"/>
            <a:ext cx="360859" cy="241598"/>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일자</a:t>
            </a:r>
            <a:endParaRPr lang="en-US" sz="1327" dirty="0"/>
          </a:p>
        </p:txBody>
      </p:sp>
      <p:sp>
        <p:nvSpPr>
          <p:cNvPr id="27" name="Text 25"/>
          <p:cNvSpPr/>
          <p:nvPr/>
        </p:nvSpPr>
        <p:spPr>
          <a:xfrm>
            <a:off x="3354586" y="3135213"/>
            <a:ext cx="296168"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단어</a:t>
            </a:r>
            <a:endParaRPr lang="en-US" sz="1050" dirty="0"/>
          </a:p>
        </p:txBody>
      </p:sp>
      <p:sp>
        <p:nvSpPr>
          <p:cNvPr id="28" name="Text 26"/>
          <p:cNvSpPr/>
          <p:nvPr/>
        </p:nvSpPr>
        <p:spPr>
          <a:xfrm>
            <a:off x="4391720" y="2917031"/>
            <a:ext cx="200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29" name="Shape 27"/>
          <p:cNvSpPr/>
          <p:nvPr/>
        </p:nvSpPr>
        <p:spPr>
          <a:xfrm>
            <a:off x="4674989" y="2709466"/>
            <a:ext cx="2019300" cy="770731"/>
          </a:xfrm>
          <a:prstGeom prst="roundRect">
            <a:avLst>
              <a:gd name="adj" fmla="val 10711"/>
            </a:avLst>
          </a:prstGeom>
          <a:solidFill>
            <a:srgbClr val="E4ECF7"/>
          </a:solidFill>
          <a:ln w="12700">
            <a:solidFill>
              <a:srgbClr val="9DB6DC"/>
            </a:solidFill>
            <a:prstDash val="solid"/>
          </a:ln>
        </p:spPr>
        <p:txBody>
          <a:bodyPr/>
          <a:lstStyle/>
          <a:p>
            <a:endParaRPr lang="ko-KR" altLang="en-US"/>
          </a:p>
        </p:txBody>
      </p:sp>
      <p:sp>
        <p:nvSpPr>
          <p:cNvPr id="30" name="Text 28"/>
          <p:cNvSpPr/>
          <p:nvPr/>
        </p:nvSpPr>
        <p:spPr>
          <a:xfrm>
            <a:off x="5349180" y="2868216"/>
            <a:ext cx="670818" cy="241598"/>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2458A6"/>
                </a:solidFill>
                <a:latin typeface="Noto Sans KR" pitchFamily="34" charset="0"/>
                <a:ea typeface="Noto Sans KR" pitchFamily="34" charset="-122"/>
                <a:cs typeface="Noto Sans KR" pitchFamily="34" charset="-120"/>
              </a:rPr>
              <a:t>주문일자</a:t>
            </a:r>
            <a:endParaRPr lang="en-US" sz="1327" dirty="0"/>
          </a:p>
        </p:txBody>
      </p:sp>
      <p:sp>
        <p:nvSpPr>
          <p:cNvPr id="31" name="Text 29"/>
          <p:cNvSpPr/>
          <p:nvPr/>
        </p:nvSpPr>
        <p:spPr>
          <a:xfrm>
            <a:off x="5292527" y="3135213"/>
            <a:ext cx="784225"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2458A6"/>
                </a:solidFill>
                <a:latin typeface="Noto Sans KR" pitchFamily="34" charset="0"/>
                <a:ea typeface="Noto Sans KR" pitchFamily="34" charset="-122"/>
                <a:cs typeface="Noto Sans KR" pitchFamily="34" charset="-120"/>
              </a:rPr>
              <a:t>용어 (한글명)</a:t>
            </a:r>
            <a:endParaRPr lang="en-US" sz="1050" dirty="0"/>
          </a:p>
        </p:txBody>
      </p:sp>
      <p:sp>
        <p:nvSpPr>
          <p:cNvPr id="32" name="Shape 30"/>
          <p:cNvSpPr/>
          <p:nvPr/>
        </p:nvSpPr>
        <p:spPr>
          <a:xfrm>
            <a:off x="6833989" y="2709466"/>
            <a:ext cx="2019300" cy="770731"/>
          </a:xfrm>
          <a:prstGeom prst="roundRect">
            <a:avLst>
              <a:gd name="adj" fmla="val 10711"/>
            </a:avLst>
          </a:prstGeom>
          <a:solidFill>
            <a:srgbClr val="F8EBDD"/>
          </a:solidFill>
          <a:ln w="12700">
            <a:solidFill>
              <a:srgbClr val="E0B48C"/>
            </a:solidFill>
            <a:prstDash val="solid"/>
          </a:ln>
        </p:spPr>
        <p:txBody>
          <a:bodyPr/>
          <a:lstStyle/>
          <a:p>
            <a:endParaRPr lang="ko-KR" altLang="en-US"/>
          </a:p>
        </p:txBody>
      </p:sp>
      <p:sp>
        <p:nvSpPr>
          <p:cNvPr id="33" name="Text 31"/>
          <p:cNvSpPr/>
          <p:nvPr/>
        </p:nvSpPr>
        <p:spPr>
          <a:xfrm>
            <a:off x="7478216" y="2868216"/>
            <a:ext cx="730746" cy="241598"/>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A94E12"/>
                </a:solidFill>
                <a:latin typeface="Noto Sans KR" pitchFamily="34" charset="0"/>
                <a:ea typeface="Noto Sans KR" pitchFamily="34" charset="-122"/>
                <a:cs typeface="Noto Sans KR" pitchFamily="34" charset="-120"/>
              </a:rPr>
              <a:t>ORD_DT</a:t>
            </a:r>
            <a:endParaRPr lang="en-US" sz="1327" dirty="0"/>
          </a:p>
        </p:txBody>
      </p:sp>
      <p:sp>
        <p:nvSpPr>
          <p:cNvPr id="34" name="Text 32"/>
          <p:cNvSpPr/>
          <p:nvPr/>
        </p:nvSpPr>
        <p:spPr>
          <a:xfrm>
            <a:off x="7313811" y="3135213"/>
            <a:ext cx="1059557"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A94E12"/>
                </a:solidFill>
                <a:latin typeface="Noto Sans KR" pitchFamily="34" charset="0"/>
                <a:ea typeface="Noto Sans KR" pitchFamily="34" charset="-122"/>
                <a:cs typeface="Noto Sans KR" pitchFamily="34" charset="-120"/>
              </a:rPr>
              <a:t>물리명 (컬럼 이름)</a:t>
            </a:r>
            <a:endParaRPr lang="en-US" sz="1050" dirty="0"/>
          </a:p>
        </p:txBody>
      </p:sp>
      <p:sp>
        <p:nvSpPr>
          <p:cNvPr id="35" name="Shape 33"/>
          <p:cNvSpPr/>
          <p:nvPr/>
        </p:nvSpPr>
        <p:spPr>
          <a:xfrm>
            <a:off x="8992989" y="2709466"/>
            <a:ext cx="1511300" cy="770731"/>
          </a:xfrm>
          <a:prstGeom prst="roundRect">
            <a:avLst>
              <a:gd name="adj" fmla="val 10711"/>
            </a:avLst>
          </a:prstGeom>
          <a:solidFill>
            <a:srgbClr val="FFFDF8"/>
          </a:solidFill>
          <a:ln w="12700">
            <a:solidFill>
              <a:srgbClr val="D9D4C7"/>
            </a:solidFill>
            <a:prstDash val="solid"/>
          </a:ln>
        </p:spPr>
        <p:txBody>
          <a:bodyPr/>
          <a:lstStyle/>
          <a:p>
            <a:endParaRPr lang="ko-KR" altLang="en-US"/>
          </a:p>
        </p:txBody>
      </p:sp>
      <p:sp>
        <p:nvSpPr>
          <p:cNvPr id="36" name="Text 34"/>
          <p:cNvSpPr/>
          <p:nvPr/>
        </p:nvSpPr>
        <p:spPr>
          <a:xfrm>
            <a:off x="9568160" y="2868216"/>
            <a:ext cx="360859" cy="241598"/>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일자</a:t>
            </a:r>
            <a:endParaRPr lang="en-US" sz="1327" dirty="0"/>
          </a:p>
        </p:txBody>
      </p:sp>
      <p:sp>
        <p:nvSpPr>
          <p:cNvPr id="37" name="Text 35"/>
          <p:cNvSpPr/>
          <p:nvPr/>
        </p:nvSpPr>
        <p:spPr>
          <a:xfrm>
            <a:off x="9539188" y="3135213"/>
            <a:ext cx="418902"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도메인</a:t>
            </a:r>
            <a:endParaRPr lang="en-US" sz="1050" dirty="0"/>
          </a:p>
        </p:txBody>
      </p:sp>
      <p:sp>
        <p:nvSpPr>
          <p:cNvPr id="38" name="Shape 36"/>
          <p:cNvSpPr/>
          <p:nvPr/>
        </p:nvSpPr>
        <p:spPr>
          <a:xfrm>
            <a:off x="819150" y="3645297"/>
            <a:ext cx="1511300" cy="770830"/>
          </a:xfrm>
          <a:prstGeom prst="roundRect">
            <a:avLst>
              <a:gd name="adj" fmla="val 10709"/>
            </a:avLst>
          </a:prstGeom>
          <a:solidFill>
            <a:srgbClr val="FFFDF8"/>
          </a:solidFill>
          <a:ln w="12700">
            <a:solidFill>
              <a:srgbClr val="D9D4C7"/>
            </a:solidFill>
            <a:prstDash val="solid"/>
          </a:ln>
        </p:spPr>
        <p:txBody>
          <a:bodyPr/>
          <a:lstStyle/>
          <a:p>
            <a:endParaRPr lang="ko-KR" altLang="en-US"/>
          </a:p>
        </p:txBody>
      </p:sp>
      <p:sp>
        <p:nvSpPr>
          <p:cNvPr id="39" name="Text 37"/>
          <p:cNvSpPr/>
          <p:nvPr/>
        </p:nvSpPr>
        <p:spPr>
          <a:xfrm>
            <a:off x="1394321" y="3804047"/>
            <a:ext cx="360859"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배송</a:t>
            </a:r>
            <a:endParaRPr lang="en-US" sz="1327" dirty="0"/>
          </a:p>
        </p:txBody>
      </p:sp>
      <p:sp>
        <p:nvSpPr>
          <p:cNvPr id="40" name="Text 38"/>
          <p:cNvSpPr/>
          <p:nvPr/>
        </p:nvSpPr>
        <p:spPr>
          <a:xfrm>
            <a:off x="1426666" y="4071144"/>
            <a:ext cx="296168"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단어</a:t>
            </a:r>
            <a:endParaRPr lang="en-US" sz="1050" dirty="0"/>
          </a:p>
        </p:txBody>
      </p:sp>
      <p:sp>
        <p:nvSpPr>
          <p:cNvPr id="41" name="Text 39"/>
          <p:cNvSpPr/>
          <p:nvPr/>
        </p:nvSpPr>
        <p:spPr>
          <a:xfrm>
            <a:off x="2463800" y="3852863"/>
            <a:ext cx="200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42" name="Shape 40"/>
          <p:cNvSpPr/>
          <p:nvPr/>
        </p:nvSpPr>
        <p:spPr>
          <a:xfrm>
            <a:off x="2747070" y="3645297"/>
            <a:ext cx="1511300" cy="770830"/>
          </a:xfrm>
          <a:prstGeom prst="roundRect">
            <a:avLst>
              <a:gd name="adj" fmla="val 10709"/>
            </a:avLst>
          </a:prstGeom>
          <a:solidFill>
            <a:srgbClr val="FFFDF8"/>
          </a:solidFill>
          <a:ln w="12700">
            <a:solidFill>
              <a:srgbClr val="D9D4C7"/>
            </a:solidFill>
            <a:prstDash val="solid"/>
          </a:ln>
        </p:spPr>
        <p:txBody>
          <a:bodyPr/>
          <a:lstStyle/>
          <a:p>
            <a:endParaRPr lang="ko-KR" altLang="en-US"/>
          </a:p>
        </p:txBody>
      </p:sp>
      <p:sp>
        <p:nvSpPr>
          <p:cNvPr id="43" name="Text 41"/>
          <p:cNvSpPr/>
          <p:nvPr/>
        </p:nvSpPr>
        <p:spPr>
          <a:xfrm>
            <a:off x="3399730" y="3804047"/>
            <a:ext cx="205879"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비</a:t>
            </a:r>
            <a:endParaRPr lang="en-US" sz="1327" dirty="0"/>
          </a:p>
        </p:txBody>
      </p:sp>
      <p:sp>
        <p:nvSpPr>
          <p:cNvPr id="44" name="Text 42"/>
          <p:cNvSpPr/>
          <p:nvPr/>
        </p:nvSpPr>
        <p:spPr>
          <a:xfrm>
            <a:off x="3354586" y="4071144"/>
            <a:ext cx="296168"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단어</a:t>
            </a:r>
            <a:endParaRPr lang="en-US" sz="1050" dirty="0"/>
          </a:p>
        </p:txBody>
      </p:sp>
      <p:sp>
        <p:nvSpPr>
          <p:cNvPr id="45" name="Text 43"/>
          <p:cNvSpPr/>
          <p:nvPr/>
        </p:nvSpPr>
        <p:spPr>
          <a:xfrm>
            <a:off x="4391720" y="3852863"/>
            <a:ext cx="200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46" name="Shape 44"/>
          <p:cNvSpPr/>
          <p:nvPr/>
        </p:nvSpPr>
        <p:spPr>
          <a:xfrm>
            <a:off x="4674989" y="3645297"/>
            <a:ext cx="2019300" cy="770830"/>
          </a:xfrm>
          <a:prstGeom prst="roundRect">
            <a:avLst>
              <a:gd name="adj" fmla="val 10709"/>
            </a:avLst>
          </a:prstGeom>
          <a:solidFill>
            <a:srgbClr val="E4ECF7"/>
          </a:solidFill>
          <a:ln w="12700">
            <a:solidFill>
              <a:srgbClr val="9DB6DC"/>
            </a:solidFill>
            <a:prstDash val="solid"/>
          </a:ln>
        </p:spPr>
        <p:txBody>
          <a:bodyPr/>
          <a:lstStyle/>
          <a:p>
            <a:endParaRPr lang="ko-KR" altLang="en-US"/>
          </a:p>
        </p:txBody>
      </p:sp>
      <p:sp>
        <p:nvSpPr>
          <p:cNvPr id="47" name="Text 45"/>
          <p:cNvSpPr/>
          <p:nvPr/>
        </p:nvSpPr>
        <p:spPr>
          <a:xfrm>
            <a:off x="5426670" y="3804047"/>
            <a:ext cx="515838"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2458A6"/>
                </a:solidFill>
                <a:latin typeface="Noto Sans KR" pitchFamily="34" charset="0"/>
                <a:ea typeface="Noto Sans KR" pitchFamily="34" charset="-122"/>
                <a:cs typeface="Noto Sans KR" pitchFamily="34" charset="-120"/>
              </a:rPr>
              <a:t>배송비</a:t>
            </a:r>
            <a:endParaRPr lang="en-US" sz="1327" dirty="0"/>
          </a:p>
        </p:txBody>
      </p:sp>
      <p:sp>
        <p:nvSpPr>
          <p:cNvPr id="48" name="Text 46"/>
          <p:cNvSpPr/>
          <p:nvPr/>
        </p:nvSpPr>
        <p:spPr>
          <a:xfrm>
            <a:off x="5292527" y="4071144"/>
            <a:ext cx="784225"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2458A6"/>
                </a:solidFill>
                <a:latin typeface="Noto Sans KR" pitchFamily="34" charset="0"/>
                <a:ea typeface="Noto Sans KR" pitchFamily="34" charset="-122"/>
                <a:cs typeface="Noto Sans KR" pitchFamily="34" charset="-120"/>
              </a:rPr>
              <a:t>용어 (한글명)</a:t>
            </a:r>
            <a:endParaRPr lang="en-US" sz="1050" dirty="0"/>
          </a:p>
        </p:txBody>
      </p:sp>
      <p:sp>
        <p:nvSpPr>
          <p:cNvPr id="49" name="Shape 47"/>
          <p:cNvSpPr/>
          <p:nvPr/>
        </p:nvSpPr>
        <p:spPr>
          <a:xfrm>
            <a:off x="6833989" y="3645297"/>
            <a:ext cx="2019300" cy="770830"/>
          </a:xfrm>
          <a:prstGeom prst="roundRect">
            <a:avLst>
              <a:gd name="adj" fmla="val 10709"/>
            </a:avLst>
          </a:prstGeom>
          <a:solidFill>
            <a:srgbClr val="F8EBDD"/>
          </a:solidFill>
          <a:ln w="12700">
            <a:solidFill>
              <a:srgbClr val="E0B48C"/>
            </a:solidFill>
            <a:prstDash val="solid"/>
          </a:ln>
        </p:spPr>
        <p:txBody>
          <a:bodyPr/>
          <a:lstStyle/>
          <a:p>
            <a:endParaRPr lang="ko-KR" altLang="en-US"/>
          </a:p>
        </p:txBody>
      </p:sp>
      <p:sp>
        <p:nvSpPr>
          <p:cNvPr id="50" name="Text 48"/>
          <p:cNvSpPr/>
          <p:nvPr/>
        </p:nvSpPr>
        <p:spPr>
          <a:xfrm>
            <a:off x="7464524" y="3804047"/>
            <a:ext cx="758230"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A94E12"/>
                </a:solidFill>
                <a:latin typeface="Noto Sans KR" pitchFamily="34" charset="0"/>
                <a:ea typeface="Noto Sans KR" pitchFamily="34" charset="-122"/>
                <a:cs typeface="Noto Sans KR" pitchFamily="34" charset="-120"/>
              </a:rPr>
              <a:t>DLV_FEE</a:t>
            </a:r>
            <a:endParaRPr lang="en-US" sz="1327" dirty="0"/>
          </a:p>
        </p:txBody>
      </p:sp>
      <p:sp>
        <p:nvSpPr>
          <p:cNvPr id="51" name="Text 49"/>
          <p:cNvSpPr/>
          <p:nvPr/>
        </p:nvSpPr>
        <p:spPr>
          <a:xfrm>
            <a:off x="7313811" y="4071144"/>
            <a:ext cx="1059557"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A94E12"/>
                </a:solidFill>
                <a:latin typeface="Noto Sans KR" pitchFamily="34" charset="0"/>
                <a:ea typeface="Noto Sans KR" pitchFamily="34" charset="-122"/>
                <a:cs typeface="Noto Sans KR" pitchFamily="34" charset="-120"/>
              </a:rPr>
              <a:t>물리명 (컬럼 이름)</a:t>
            </a:r>
            <a:endParaRPr lang="en-US" sz="1050" dirty="0"/>
          </a:p>
        </p:txBody>
      </p:sp>
      <p:sp>
        <p:nvSpPr>
          <p:cNvPr id="52" name="Shape 50"/>
          <p:cNvSpPr/>
          <p:nvPr/>
        </p:nvSpPr>
        <p:spPr>
          <a:xfrm>
            <a:off x="8992989" y="3645297"/>
            <a:ext cx="1511300" cy="770830"/>
          </a:xfrm>
          <a:prstGeom prst="roundRect">
            <a:avLst>
              <a:gd name="adj" fmla="val 10709"/>
            </a:avLst>
          </a:prstGeom>
          <a:solidFill>
            <a:srgbClr val="FFFDF8"/>
          </a:solidFill>
          <a:ln w="12700">
            <a:solidFill>
              <a:srgbClr val="D9D4C7"/>
            </a:solidFill>
            <a:prstDash val="solid"/>
          </a:ln>
        </p:spPr>
        <p:txBody>
          <a:bodyPr/>
          <a:lstStyle/>
          <a:p>
            <a:endParaRPr lang="ko-KR" altLang="en-US"/>
          </a:p>
        </p:txBody>
      </p:sp>
      <p:sp>
        <p:nvSpPr>
          <p:cNvPr id="53" name="Text 51"/>
          <p:cNvSpPr/>
          <p:nvPr/>
        </p:nvSpPr>
        <p:spPr>
          <a:xfrm>
            <a:off x="9568160" y="3804047"/>
            <a:ext cx="360859" cy="241697"/>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1B2A44"/>
                </a:solidFill>
                <a:latin typeface="Noto Sans KR" pitchFamily="34" charset="0"/>
                <a:ea typeface="Noto Sans KR" pitchFamily="34" charset="-122"/>
                <a:cs typeface="Noto Sans KR" pitchFamily="34" charset="-120"/>
              </a:rPr>
              <a:t>금액</a:t>
            </a:r>
            <a:endParaRPr lang="en-US" sz="1327" dirty="0"/>
          </a:p>
        </p:txBody>
      </p:sp>
      <p:sp>
        <p:nvSpPr>
          <p:cNvPr id="54" name="Text 52"/>
          <p:cNvSpPr/>
          <p:nvPr/>
        </p:nvSpPr>
        <p:spPr>
          <a:xfrm>
            <a:off x="9539188" y="4071144"/>
            <a:ext cx="418902" cy="211634"/>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E6673"/>
                </a:solidFill>
                <a:latin typeface="Noto Sans KR" pitchFamily="34" charset="0"/>
                <a:ea typeface="Noto Sans KR" pitchFamily="34" charset="-122"/>
                <a:cs typeface="Noto Sans KR" pitchFamily="34" charset="-120"/>
              </a:rPr>
              <a:t>도메인</a:t>
            </a:r>
            <a:endParaRPr lang="en-US" sz="1050" dirty="0"/>
          </a:p>
        </p:txBody>
      </p:sp>
      <p:sp>
        <p:nvSpPr>
          <p:cNvPr id="55" name="Shape 53"/>
          <p:cNvSpPr/>
          <p:nvPr/>
        </p:nvSpPr>
        <p:spPr>
          <a:xfrm>
            <a:off x="812800" y="4676477"/>
            <a:ext cx="10566400" cy="1165523"/>
          </a:xfrm>
          <a:prstGeom prst="roundRect">
            <a:avLst>
              <a:gd name="adj" fmla="val 6538"/>
            </a:avLst>
          </a:prstGeom>
          <a:solidFill>
            <a:srgbClr val="E4ECF7"/>
          </a:solidFill>
          <a:ln/>
        </p:spPr>
        <p:txBody>
          <a:bodyPr/>
          <a:lstStyle/>
          <a:p>
            <a:endParaRPr lang="ko-KR" altLang="en-US"/>
          </a:p>
        </p:txBody>
      </p:sp>
      <p:sp>
        <p:nvSpPr>
          <p:cNvPr id="56" name="Shape 54"/>
          <p:cNvSpPr/>
          <p:nvPr/>
        </p:nvSpPr>
        <p:spPr>
          <a:xfrm>
            <a:off x="812800" y="4676477"/>
            <a:ext cx="10566400" cy="1165523"/>
          </a:xfrm>
          <a:custGeom>
            <a:avLst/>
            <a:gdLst/>
            <a:ahLst/>
            <a:cxnLst/>
            <a:rect l="l" t="t" r="r" b="b"/>
            <a:pathLst>
              <a:path w="10566400" h="1165523">
                <a:moveTo>
                  <a:pt x="76200" y="1165523"/>
                </a:moveTo>
                <a:lnTo>
                  <a:pt x="76200" y="1165523"/>
                </a:lnTo>
                <a:arcTo wR="76200" hR="76200" stAng="5400000" swAng="5400000"/>
                <a:lnTo>
                  <a:pt x="0" y="76200"/>
                </a:lnTo>
                <a:arcTo wR="76200" hR="76200" stAng="10800000" swAng="5400000"/>
                <a:lnTo>
                  <a:pt x="76200" y="0"/>
                </a:lnTo>
                <a:arcTo wR="25400" hR="76200" stAng="16200000" swAng="-5400000"/>
                <a:lnTo>
                  <a:pt x="50800" y="1089323"/>
                </a:lnTo>
                <a:arcTo wR="25400" hR="76200" stAng="10800000" swAng="-5400000"/>
                <a:close/>
              </a:path>
            </a:pathLst>
          </a:custGeom>
          <a:solidFill>
            <a:srgbClr val="2458A6"/>
          </a:solidFill>
          <a:ln/>
        </p:spPr>
        <p:txBody>
          <a:bodyPr/>
          <a:lstStyle/>
          <a:p>
            <a:endParaRPr lang="ko-KR" altLang="en-US"/>
          </a:p>
        </p:txBody>
      </p:sp>
      <p:sp>
        <p:nvSpPr>
          <p:cNvPr id="57" name="Text 55"/>
          <p:cNvSpPr/>
          <p:nvPr/>
        </p:nvSpPr>
        <p:spPr>
          <a:xfrm>
            <a:off x="1092200" y="4854277"/>
            <a:ext cx="10360152" cy="240903"/>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2458A6"/>
                </a:solidFill>
                <a:latin typeface="Noto Sans KR" pitchFamily="34" charset="0"/>
                <a:ea typeface="Noto Sans KR" pitchFamily="34" charset="-122"/>
                <a:cs typeface="Noto Sans KR" pitchFamily="34" charset="-120"/>
              </a:rPr>
              <a:t>용어가 정해지면 어디서나 같은 이름</a:t>
            </a:r>
            <a:endParaRPr lang="en-US" sz="1231" dirty="0"/>
          </a:p>
        </p:txBody>
      </p:sp>
      <p:sp>
        <p:nvSpPr>
          <p:cNvPr id="58" name="Text 56"/>
          <p:cNvSpPr/>
          <p:nvPr/>
        </p:nvSpPr>
        <p:spPr>
          <a:xfrm>
            <a:off x="1092200" y="5133280"/>
            <a:ext cx="10360152" cy="556320"/>
          </a:xfrm>
          <a:prstGeom prst="rect">
            <a:avLst/>
          </a:prstGeom>
          <a:noFill/>
          <a:ln/>
        </p:spPr>
        <p:txBody>
          <a:bodyPr wrap="square" lIns="0" tIns="0" rIns="0" bIns="0" rtlCol="0" anchor="t">
            <a:normAutofit/>
          </a:bodyPr>
          <a:lstStyle/>
          <a:p>
            <a:pPr marL="0" indent="0" algn="l">
              <a:lnSpc>
                <a:spcPts val="2107"/>
              </a:lnSpc>
              <a:buNone/>
            </a:pPr>
            <a:r>
              <a:rPr lang="en-US" sz="1317" dirty="0">
                <a:solidFill>
                  <a:srgbClr val="3D4757"/>
                </a:solidFill>
                <a:latin typeface="Noto Sans KR" pitchFamily="34" charset="0"/>
                <a:ea typeface="Noto Sans KR" pitchFamily="34" charset="-122"/>
                <a:cs typeface="Noto Sans KR" pitchFamily="34" charset="-120"/>
              </a:rPr>
              <a:t>회원관리 파일에서 뭐라고 불렀든, 주문 파일에서 뭐라고 불렀든, 표준화한 뒤에는 모든 곳에서 </a:t>
            </a:r>
            <a:r>
              <a:rPr lang="en-US" sz="1317" b="1" dirty="0">
                <a:solidFill>
                  <a:srgbClr val="3D4757"/>
                </a:solidFill>
                <a:latin typeface="Noto Sans KR" pitchFamily="34" charset="0"/>
                <a:ea typeface="Noto Sans KR" pitchFamily="34" charset="-122"/>
                <a:cs typeface="Noto Sans KR" pitchFamily="34" charset="-120"/>
              </a:rPr>
              <a:t>CUST_NO</a:t>
            </a:r>
            <a:r>
              <a:rPr lang="en-US" sz="1317" dirty="0">
                <a:solidFill>
                  <a:srgbClr val="3D4757"/>
                </a:solidFill>
                <a:latin typeface="Noto Sans KR" pitchFamily="34" charset="0"/>
                <a:ea typeface="Noto Sans KR" pitchFamily="34" charset="-122"/>
                <a:cs typeface="Noto Sans KR" pitchFamily="34" charset="-120"/>
              </a:rPr>
              <a:t> 하나로 부릅니다. 그래야 JOIN 할 때 이름을 맞출 수 있습니다.</a:t>
            </a:r>
            <a:endParaRPr lang="en-US" sz="1317" dirty="0"/>
          </a:p>
        </p:txBody>
      </p:sp>
      <p:sp>
        <p:nvSpPr>
          <p:cNvPr id="59" name="Text 5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0" name="Text 5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16 / 60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표준 사전 ④ · 표준 코드</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그 칸에 들어갈 수 있는 값의 목록을 정합니다</a:t>
            </a:r>
            <a:endParaRPr lang="en-US" sz="3000" dirty="0"/>
          </a:p>
        </p:txBody>
      </p:sp>
      <p:sp>
        <p:nvSpPr>
          <p:cNvPr id="4" name="Text 2"/>
          <p:cNvSpPr/>
          <p:nvPr/>
        </p:nvSpPr>
        <p:spPr>
          <a:xfrm>
            <a:off x="812800" y="1813520"/>
            <a:ext cx="6645148"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코드 = 코드값과 의미를 1 : 1로 정한 목록</a:t>
            </a:r>
            <a:endParaRPr lang="en-US" sz="1500" dirty="0"/>
          </a:p>
        </p:txBody>
      </p:sp>
      <p:sp>
        <p:nvSpPr>
          <p:cNvPr id="5" name="Text 3"/>
          <p:cNvSpPr/>
          <p:nvPr/>
        </p:nvSpPr>
        <p:spPr>
          <a:xfrm>
            <a:off x="812800" y="2232620"/>
            <a:ext cx="664514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주문 상태처럼 '정해진 몇 가지 중 하나'인 값은 목록을 만들어 두고, 목록에 없는 값은 받지 않습니다.</a:t>
            </a:r>
            <a:endParaRPr lang="en-US" sz="1400" dirty="0"/>
          </a:p>
        </p:txBody>
      </p:sp>
      <p:sp>
        <p:nvSpPr>
          <p:cNvPr id="6" name="Text 4"/>
          <p:cNvSpPr/>
          <p:nvPr/>
        </p:nvSpPr>
        <p:spPr>
          <a:xfrm>
            <a:off x="812800" y="2915841"/>
            <a:ext cx="664514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한빛유통의 주문 상태는 </a:t>
            </a:r>
            <a:r>
              <a:rPr lang="en-US" sz="1400" b="1" dirty="0">
                <a:solidFill>
                  <a:srgbClr val="3D4757"/>
                </a:solidFill>
                <a:latin typeface="Noto Sans KR" pitchFamily="34" charset="0"/>
                <a:ea typeface="Noto Sans KR" pitchFamily="34" charset="-122"/>
                <a:cs typeface="Noto Sans KR" pitchFamily="34" charset="-120"/>
              </a:rPr>
              <a:t>표준 여섯 가지</a:t>
            </a:r>
            <a:r>
              <a:rPr lang="en-US" sz="1400" dirty="0">
                <a:solidFill>
                  <a:srgbClr val="3D4757"/>
                </a:solidFill>
                <a:latin typeface="Noto Sans KR" pitchFamily="34" charset="0"/>
                <a:ea typeface="Noto Sans KR" pitchFamily="34" charset="-122"/>
                <a:cs typeface="Noto Sans KR" pitchFamily="34" charset="-120"/>
              </a:rPr>
              <a:t>로 정합니다. 원천의 표기 10가지를 이 여섯 가지로 모으는 것이 2~3일차 실습입니다.</a:t>
            </a:r>
            <a:endParaRPr lang="en-US" sz="1400" dirty="0"/>
          </a:p>
        </p:txBody>
      </p:sp>
      <p:sp>
        <p:nvSpPr>
          <p:cNvPr id="7" name="Shape 5"/>
          <p:cNvSpPr/>
          <p:nvPr/>
        </p:nvSpPr>
        <p:spPr>
          <a:xfrm>
            <a:off x="7575550" y="1819870"/>
            <a:ext cx="3797300" cy="586680"/>
          </a:xfrm>
          <a:prstGeom prst="roundRect">
            <a:avLst>
              <a:gd name="adj" fmla="val 14071"/>
            </a:avLst>
          </a:prstGeom>
          <a:solidFill>
            <a:srgbClr val="FBE9E6"/>
          </a:solidFill>
          <a:ln w="12700">
            <a:solidFill>
              <a:srgbClr val="E3A69F"/>
            </a:solidFill>
            <a:prstDash val="solid"/>
          </a:ln>
        </p:spPr>
        <p:txBody>
          <a:bodyPr/>
          <a:lstStyle/>
          <a:p>
            <a:endParaRPr lang="ko-KR" altLang="en-US"/>
          </a:p>
        </p:txBody>
      </p:sp>
      <p:sp>
        <p:nvSpPr>
          <p:cNvPr id="8" name="Text 6"/>
          <p:cNvSpPr/>
          <p:nvPr/>
        </p:nvSpPr>
        <p:spPr>
          <a:xfrm>
            <a:off x="9039920" y="1978620"/>
            <a:ext cx="868561" cy="142677"/>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A3231B"/>
                </a:solidFill>
                <a:latin typeface="Noto Sans KR" pitchFamily="34" charset="0"/>
                <a:ea typeface="Noto Sans KR" pitchFamily="34" charset="-122"/>
                <a:cs typeface="Noto Sans KR" pitchFamily="34" charset="-120"/>
              </a:rPr>
              <a:t>원천 표기 10가지</a:t>
            </a:r>
            <a:endParaRPr lang="en-US" sz="900" dirty="0"/>
          </a:p>
        </p:txBody>
      </p:sp>
      <p:sp>
        <p:nvSpPr>
          <p:cNvPr id="9" name="Text 7"/>
          <p:cNvSpPr/>
          <p:nvPr/>
        </p:nvSpPr>
        <p:spPr>
          <a:xfrm>
            <a:off x="8627070" y="2146697"/>
            <a:ext cx="1694160" cy="126504"/>
          </a:xfrm>
          <a:prstGeom prst="rect">
            <a:avLst/>
          </a:prstGeom>
          <a:noFill/>
          <a:ln/>
        </p:spPr>
        <p:txBody>
          <a:bodyPr wrap="square" lIns="0" tIns="0" rIns="0" bIns="0" rtlCol="0" anchor="t">
            <a:normAutofit/>
          </a:bodyPr>
          <a:lstStyle/>
          <a:p>
            <a:pPr marL="0" indent="0" algn="ctr">
              <a:lnSpc>
                <a:spcPts val="1008"/>
              </a:lnSpc>
              <a:buNone/>
            </a:pPr>
            <a:r>
              <a:rPr lang="en-US" sz="720" dirty="0">
                <a:solidFill>
                  <a:srgbClr val="A3231B"/>
                </a:solidFill>
                <a:latin typeface="Noto Sans KR" pitchFamily="34" charset="0"/>
                <a:ea typeface="Noto Sans KR" pitchFamily="34" charset="-122"/>
                <a:cs typeface="Noto Sans KR" pitchFamily="34" charset="-120"/>
              </a:rPr>
              <a:t>대소문자 · 띄어쓰기 · 한글 · 영어가 제각각</a:t>
            </a:r>
            <a:endParaRPr lang="en-US" sz="720" dirty="0"/>
          </a:p>
        </p:txBody>
      </p:sp>
      <p:sp>
        <p:nvSpPr>
          <p:cNvPr id="10" name="Text 8"/>
          <p:cNvSpPr/>
          <p:nvPr/>
        </p:nvSpPr>
        <p:spPr>
          <a:xfrm>
            <a:off x="7512050" y="2489101"/>
            <a:ext cx="3924300"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5E6673"/>
                </a:solidFill>
                <a:latin typeface="Noto Sans KR" pitchFamily="34" charset="0"/>
                <a:ea typeface="Noto Sans KR" pitchFamily="34" charset="-122"/>
                <a:cs typeface="Noto Sans KR" pitchFamily="34" charset="-120"/>
              </a:rPr>
              <a:t>↓ 코드 매핑</a:t>
            </a:r>
            <a:endParaRPr lang="en-US" sz="1800" dirty="0"/>
          </a:p>
        </p:txBody>
      </p:sp>
      <p:sp>
        <p:nvSpPr>
          <p:cNvPr id="11" name="Shape 9"/>
          <p:cNvSpPr/>
          <p:nvPr/>
        </p:nvSpPr>
        <p:spPr>
          <a:xfrm>
            <a:off x="7575550" y="2891631"/>
            <a:ext cx="3797300" cy="586780"/>
          </a:xfrm>
          <a:prstGeom prst="roundRect">
            <a:avLst>
              <a:gd name="adj" fmla="val 14068"/>
            </a:avLst>
          </a:prstGeom>
          <a:solidFill>
            <a:srgbClr val="E4ECF7"/>
          </a:solidFill>
          <a:ln w="12700">
            <a:solidFill>
              <a:srgbClr val="9DB6DC"/>
            </a:solidFill>
            <a:prstDash val="solid"/>
          </a:ln>
        </p:spPr>
        <p:txBody>
          <a:bodyPr/>
          <a:lstStyle/>
          <a:p>
            <a:endParaRPr lang="ko-KR" altLang="en-US"/>
          </a:p>
        </p:txBody>
      </p:sp>
      <p:sp>
        <p:nvSpPr>
          <p:cNvPr id="12" name="Text 10"/>
          <p:cNvSpPr/>
          <p:nvPr/>
        </p:nvSpPr>
        <p:spPr>
          <a:xfrm>
            <a:off x="9073654" y="3050381"/>
            <a:ext cx="801092" cy="142776"/>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2458A6"/>
                </a:solidFill>
                <a:latin typeface="Noto Sans KR" pitchFamily="34" charset="0"/>
                <a:ea typeface="Noto Sans KR" pitchFamily="34" charset="-122"/>
                <a:cs typeface="Noto Sans KR" pitchFamily="34" charset="-120"/>
              </a:rPr>
              <a:t>표준 코드 6가지</a:t>
            </a:r>
            <a:endParaRPr lang="en-US" sz="900" dirty="0"/>
          </a:p>
        </p:txBody>
      </p:sp>
      <p:sp>
        <p:nvSpPr>
          <p:cNvPr id="13" name="Text 11"/>
          <p:cNvSpPr/>
          <p:nvPr/>
        </p:nvSpPr>
        <p:spPr>
          <a:xfrm>
            <a:off x="8997355" y="3218557"/>
            <a:ext cx="953591" cy="126504"/>
          </a:xfrm>
          <a:prstGeom prst="rect">
            <a:avLst/>
          </a:prstGeom>
          <a:noFill/>
          <a:ln/>
        </p:spPr>
        <p:txBody>
          <a:bodyPr wrap="square" lIns="0" tIns="0" rIns="0" bIns="0" rtlCol="0" anchor="t">
            <a:normAutofit/>
          </a:bodyPr>
          <a:lstStyle/>
          <a:p>
            <a:pPr marL="0" indent="0" algn="ctr">
              <a:lnSpc>
                <a:spcPts val="1008"/>
              </a:lnSpc>
              <a:buNone/>
            </a:pPr>
            <a:r>
              <a:rPr lang="en-US" sz="720" dirty="0">
                <a:solidFill>
                  <a:srgbClr val="2458A6"/>
                </a:solidFill>
                <a:latin typeface="Noto Sans KR" pitchFamily="34" charset="0"/>
                <a:ea typeface="Noto Sans KR" pitchFamily="34" charset="-122"/>
                <a:cs typeface="Noto Sans KR" pitchFamily="34" charset="-120"/>
              </a:rPr>
              <a:t>코드값 하나에 의미 하나</a:t>
            </a:r>
            <a:endParaRPr lang="en-US" sz="720" dirty="0"/>
          </a:p>
        </p:txBody>
      </p:sp>
      <p:sp>
        <p:nvSpPr>
          <p:cNvPr id="14" name="Shape 12"/>
          <p:cNvSpPr/>
          <p:nvPr/>
        </p:nvSpPr>
        <p:spPr>
          <a:xfrm>
            <a:off x="812800" y="3738761"/>
            <a:ext cx="10566400" cy="1282601"/>
          </a:xfrm>
          <a:prstGeom prst="roundRect">
            <a:avLst>
              <a:gd name="adj" fmla="val 5941"/>
            </a:avLst>
          </a:prstGeom>
          <a:solidFill>
            <a:srgbClr val="E3EFE7"/>
          </a:solidFill>
          <a:ln/>
        </p:spPr>
        <p:txBody>
          <a:bodyPr/>
          <a:lstStyle/>
          <a:p>
            <a:endParaRPr lang="ko-KR" altLang="en-US"/>
          </a:p>
        </p:txBody>
      </p:sp>
      <p:sp>
        <p:nvSpPr>
          <p:cNvPr id="15" name="Shape 13"/>
          <p:cNvSpPr/>
          <p:nvPr/>
        </p:nvSpPr>
        <p:spPr>
          <a:xfrm>
            <a:off x="812800" y="373876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6" name="Text 14"/>
          <p:cNvSpPr/>
          <p:nvPr/>
        </p:nvSpPr>
        <p:spPr>
          <a:xfrm>
            <a:off x="1117600" y="394196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신호등</a:t>
            </a:r>
            <a:endParaRPr lang="en-US" sz="1300" dirty="0"/>
          </a:p>
        </p:txBody>
      </p:sp>
      <p:sp>
        <p:nvSpPr>
          <p:cNvPr id="17" name="Text 15"/>
          <p:cNvSpPr/>
          <p:nvPr/>
        </p:nvSpPr>
        <p:spPr>
          <a:xfrm>
            <a:off x="1117600" y="4249241"/>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신호등 색은 빨강·노랑·초록 세 가지뿐이고 각 색의 뜻이 하나씩 정해져 있습니다. '연두색 신호'가 나오면 고장입니다. 코드 목록에 없는 값이 들어오면 그것도 데이터의 고장입니다.</a:t>
            </a:r>
            <a:endParaRPr lang="en-US" sz="14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17 / 60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실제 현장 · 공공기관의 표준화</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나라에서도 같은 일을 하고 있습니다</a:t>
            </a:r>
            <a:endParaRPr lang="en-US" sz="3000" dirty="0"/>
          </a:p>
        </p:txBody>
      </p:sp>
      <p:sp>
        <p:nvSpPr>
          <p:cNvPr id="4" name="Shape 2"/>
          <p:cNvSpPr/>
          <p:nvPr/>
        </p:nvSpPr>
        <p:spPr>
          <a:xfrm>
            <a:off x="815975" y="1816695"/>
            <a:ext cx="33972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공통표준용어</a:t>
            </a:r>
            <a:endParaRPr lang="en-US" sz="1200" dirty="0"/>
          </a:p>
        </p:txBody>
      </p:sp>
      <p:sp>
        <p:nvSpPr>
          <p:cNvPr id="6" name="Text 4"/>
          <p:cNvSpPr/>
          <p:nvPr/>
        </p:nvSpPr>
        <p:spPr>
          <a:xfrm>
            <a:off x="10477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행정안전부가 정해 보급</a:t>
            </a:r>
            <a:endParaRPr lang="en-US" sz="1800" dirty="0"/>
          </a:p>
        </p:txBody>
      </p:sp>
      <p:sp>
        <p:nvSpPr>
          <p:cNvPr id="7" name="Text 5"/>
          <p:cNvSpPr/>
          <p:nvPr/>
        </p:nvSpPr>
        <p:spPr>
          <a:xfrm>
            <a:off x="1047750" y="2736751"/>
            <a:ext cx="302171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공공기관이 데이터베이스를 만들 때 따라야 하는 표준 용어입니다. 공통표준단어와 공통표준도메인의 조합으로 만들어집니다.</a:t>
            </a:r>
            <a:endParaRPr lang="en-US" sz="1300" dirty="0"/>
          </a:p>
        </p:txBody>
      </p:sp>
      <p:sp>
        <p:nvSpPr>
          <p:cNvPr id="8" name="Shape 6"/>
          <p:cNvSpPr/>
          <p:nvPr/>
        </p:nvSpPr>
        <p:spPr>
          <a:xfrm>
            <a:off x="4397375" y="1816695"/>
            <a:ext cx="33972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표준화 지침</a:t>
            </a:r>
            <a:endParaRPr lang="en-US" sz="1200" dirty="0"/>
          </a:p>
        </p:txBody>
      </p:sp>
      <p:sp>
        <p:nvSpPr>
          <p:cNvPr id="10" name="Text 8"/>
          <p:cNvSpPr/>
          <p:nvPr/>
        </p:nvSpPr>
        <p:spPr>
          <a:xfrm>
            <a:off x="46291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공공기관 DB 표준화 지침</a:t>
            </a:r>
            <a:endParaRPr lang="en-US" sz="1800" dirty="0"/>
          </a:p>
        </p:txBody>
      </p:sp>
      <p:sp>
        <p:nvSpPr>
          <p:cNvPr id="11" name="Text 9"/>
          <p:cNvSpPr/>
          <p:nvPr/>
        </p:nvSpPr>
        <p:spPr>
          <a:xfrm>
            <a:off x="4629150" y="2736751"/>
            <a:ext cx="302171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코드정의서·표준용어정의서 등을 작성하고, 행정표준코드가 있으면 그것을 지키도록 정해 두었습니다.</a:t>
            </a:r>
            <a:endParaRPr lang="en-US" sz="1300" dirty="0"/>
          </a:p>
        </p:txBody>
      </p:sp>
      <p:sp>
        <p:nvSpPr>
          <p:cNvPr id="12" name="Shape 10"/>
          <p:cNvSpPr/>
          <p:nvPr/>
        </p:nvSpPr>
        <p:spPr>
          <a:xfrm>
            <a:off x="7978775" y="1816695"/>
            <a:ext cx="33972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품질인증</a:t>
            </a:r>
            <a:endParaRPr lang="en-US" sz="1200" dirty="0"/>
          </a:p>
        </p:txBody>
      </p:sp>
      <p:sp>
        <p:nvSpPr>
          <p:cNvPr id="14" name="Text 12"/>
          <p:cNvSpPr/>
          <p:nvPr/>
        </p:nvSpPr>
        <p:spPr>
          <a:xfrm>
            <a:off x="82105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공공데이터 품질인증</a:t>
            </a:r>
            <a:endParaRPr lang="en-US" sz="1800" dirty="0"/>
          </a:p>
        </p:txBody>
      </p:sp>
      <p:sp>
        <p:nvSpPr>
          <p:cNvPr id="15" name="Text 13"/>
          <p:cNvSpPr/>
          <p:nvPr/>
        </p:nvSpPr>
        <p:spPr>
          <a:xfrm>
            <a:off x="8210550" y="2736751"/>
            <a:ext cx="302171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공공기관이 가진 데이터의 품질 수준·관리 체계·활용성을 평가해 인증을 줍니다. 표준 관리가 평가의 한 부분입니다.</a:t>
            </a:r>
            <a:endParaRPr lang="en-US" sz="1300" dirty="0"/>
          </a:p>
        </p:txBody>
      </p:sp>
      <p:sp>
        <p:nvSpPr>
          <p:cNvPr id="16" name="Shape 14"/>
          <p:cNvSpPr/>
          <p:nvPr/>
        </p:nvSpPr>
        <p:spPr>
          <a:xfrm>
            <a:off x="812800" y="4018062"/>
            <a:ext cx="10566400" cy="1219101"/>
          </a:xfrm>
          <a:prstGeom prst="roundRect">
            <a:avLst>
              <a:gd name="adj" fmla="val 6251"/>
            </a:avLst>
          </a:prstGeom>
          <a:solidFill>
            <a:srgbClr val="F8EBDD"/>
          </a:solidFill>
          <a:ln/>
        </p:spPr>
        <p:txBody>
          <a:bodyPr/>
          <a:lstStyle/>
          <a:p>
            <a:endParaRPr lang="ko-KR" altLang="en-US"/>
          </a:p>
        </p:txBody>
      </p:sp>
      <p:sp>
        <p:nvSpPr>
          <p:cNvPr id="17" name="Shape 15"/>
          <p:cNvSpPr/>
          <p:nvPr/>
        </p:nvSpPr>
        <p:spPr>
          <a:xfrm>
            <a:off x="812800" y="401806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A94E12"/>
          </a:solidFill>
          <a:ln/>
        </p:spPr>
        <p:txBody>
          <a:bodyPr/>
          <a:lstStyle/>
          <a:p>
            <a:endParaRPr lang="ko-KR" altLang="en-US"/>
          </a:p>
        </p:txBody>
      </p:sp>
      <p:sp>
        <p:nvSpPr>
          <p:cNvPr id="18" name="Text 16"/>
          <p:cNvSpPr/>
          <p:nvPr/>
        </p:nvSpPr>
        <p:spPr>
          <a:xfrm>
            <a:off x="1092200" y="419586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4E12"/>
                </a:solidFill>
                <a:latin typeface="Noto Sans KR" pitchFamily="34" charset="0"/>
                <a:ea typeface="Noto Sans KR" pitchFamily="34" charset="-122"/>
                <a:cs typeface="Noto Sans KR" pitchFamily="34" charset="-120"/>
              </a:rPr>
              <a:t>그래서 여러분에게 중요한 이유</a:t>
            </a:r>
            <a:endParaRPr lang="en-US" sz="1300" dirty="0"/>
          </a:p>
        </p:txBody>
      </p:sp>
      <p:sp>
        <p:nvSpPr>
          <p:cNvPr id="19" name="Text 17"/>
          <p:cNvSpPr/>
          <p:nvPr/>
        </p:nvSpPr>
        <p:spPr>
          <a:xfrm>
            <a:off x="1092200" y="449044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우리가 한빛유통에서 하는 단어·도메인·용어·코드 사전 만들기는 </a:t>
            </a:r>
            <a:r>
              <a:rPr lang="en-US" sz="1400" b="1" dirty="0">
                <a:solidFill>
                  <a:srgbClr val="3D4757"/>
                </a:solidFill>
                <a:latin typeface="Noto Sans KR" pitchFamily="34" charset="0"/>
                <a:ea typeface="Noto Sans KR" pitchFamily="34" charset="-122"/>
                <a:cs typeface="Noto Sans KR" pitchFamily="34" charset="-120"/>
              </a:rPr>
              <a:t>공공기관 데이터 구축 사업에서 실제로 쓰는 방식과 같은 구조</a:t>
            </a:r>
            <a:r>
              <a:rPr lang="en-US" sz="1400" dirty="0">
                <a:solidFill>
                  <a:srgbClr val="3D4757"/>
                </a:solidFill>
                <a:latin typeface="Noto Sans KR" pitchFamily="34" charset="0"/>
                <a:ea typeface="Noto Sans KR" pitchFamily="34" charset="-122"/>
                <a:cs typeface="Noto Sans KR" pitchFamily="34" charset="-120"/>
              </a:rPr>
              <a:t>입니다. 연습용 장난감이 아니라 현장의 축소판입니다.</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18 / 60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3 · 명명 규칙</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이름을 짓는 방법 자체를 약속합니다</a:t>
            </a:r>
            <a:endParaRPr lang="en-US" sz="3000" dirty="0"/>
          </a:p>
        </p:txBody>
      </p:sp>
      <p:sp>
        <p:nvSpPr>
          <p:cNvPr id="4" name="Text 2"/>
          <p:cNvSpPr/>
          <p:nvPr/>
        </p:nvSpPr>
        <p:spPr>
          <a:xfrm>
            <a:off x="812800" y="1813520"/>
            <a:ext cx="2747010"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A3231B"/>
                </a:solidFill>
                <a:latin typeface="Noto Sans KR" pitchFamily="34" charset="0"/>
                <a:ea typeface="Noto Sans KR" pitchFamily="34" charset="-122"/>
                <a:cs typeface="Noto Sans KR" pitchFamily="34" charset="-120"/>
              </a:rPr>
              <a:t>같은 뜻, 제각각인 이름</a:t>
            </a:r>
            <a:endParaRPr lang="en-US" sz="1400" dirty="0"/>
          </a:p>
        </p:txBody>
      </p:sp>
      <p:sp>
        <p:nvSpPr>
          <p:cNvPr id="5" name="Shape 3"/>
          <p:cNvSpPr/>
          <p:nvPr/>
        </p:nvSpPr>
        <p:spPr>
          <a:xfrm>
            <a:off x="819150" y="2180530"/>
            <a:ext cx="2654300" cy="317500"/>
          </a:xfrm>
          <a:prstGeom prst="roundRect">
            <a:avLst>
              <a:gd name="adj" fmla="val 26000"/>
            </a:avLst>
          </a:prstGeom>
          <a:solidFill>
            <a:srgbClr val="FBE9E6"/>
          </a:solidFill>
          <a:ln w="12700">
            <a:solidFill>
              <a:srgbClr val="E3A69F"/>
            </a:solidFill>
            <a:prstDash val="solid"/>
          </a:ln>
        </p:spPr>
        <p:txBody>
          <a:bodyPr/>
          <a:lstStyle/>
          <a:p>
            <a:endParaRPr lang="ko-KR" altLang="en-US"/>
          </a:p>
        </p:txBody>
      </p:sp>
      <p:sp>
        <p:nvSpPr>
          <p:cNvPr id="6" name="Text 4"/>
          <p:cNvSpPr/>
          <p:nvPr/>
        </p:nvSpPr>
        <p:spPr>
          <a:xfrm>
            <a:off x="1925042" y="2339280"/>
            <a:ext cx="442516"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A3231B"/>
                </a:solidFill>
                <a:latin typeface="Noto Sans KR" pitchFamily="34" charset="0"/>
                <a:ea typeface="Noto Sans KR" pitchFamily="34" charset="-122"/>
                <a:cs typeface="Noto Sans KR" pitchFamily="34" charset="-120"/>
              </a:rPr>
              <a:t>custNo</a:t>
            </a:r>
            <a:endParaRPr lang="en-US" sz="900" dirty="0"/>
          </a:p>
        </p:txBody>
      </p:sp>
      <p:sp>
        <p:nvSpPr>
          <p:cNvPr id="7" name="Shape 5"/>
          <p:cNvSpPr/>
          <p:nvPr/>
        </p:nvSpPr>
        <p:spPr>
          <a:xfrm>
            <a:off x="819150" y="2586930"/>
            <a:ext cx="2654300" cy="317500"/>
          </a:xfrm>
          <a:prstGeom prst="roundRect">
            <a:avLst>
              <a:gd name="adj" fmla="val 26000"/>
            </a:avLst>
          </a:prstGeom>
          <a:solidFill>
            <a:srgbClr val="FBE9E6"/>
          </a:solidFill>
          <a:ln w="12700">
            <a:solidFill>
              <a:srgbClr val="E3A69F"/>
            </a:solidFill>
            <a:prstDash val="solid"/>
          </a:ln>
        </p:spPr>
        <p:txBody>
          <a:bodyPr/>
          <a:lstStyle/>
          <a:p>
            <a:endParaRPr lang="ko-KR" altLang="en-US"/>
          </a:p>
        </p:txBody>
      </p:sp>
      <p:sp>
        <p:nvSpPr>
          <p:cNvPr id="8" name="Text 6"/>
          <p:cNvSpPr/>
          <p:nvPr/>
        </p:nvSpPr>
        <p:spPr>
          <a:xfrm>
            <a:off x="1898749" y="2745680"/>
            <a:ext cx="495002"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A3231B"/>
                </a:solidFill>
                <a:latin typeface="Noto Sans KR" pitchFamily="34" charset="0"/>
                <a:ea typeface="Noto Sans KR" pitchFamily="34" charset="-122"/>
                <a:cs typeface="Noto Sans KR" pitchFamily="34" charset="-120"/>
              </a:rPr>
              <a:t>cust_no</a:t>
            </a:r>
            <a:endParaRPr lang="en-US" sz="900" dirty="0"/>
          </a:p>
        </p:txBody>
      </p:sp>
      <p:sp>
        <p:nvSpPr>
          <p:cNvPr id="9" name="Shape 7"/>
          <p:cNvSpPr/>
          <p:nvPr/>
        </p:nvSpPr>
        <p:spPr>
          <a:xfrm>
            <a:off x="819150" y="2993330"/>
            <a:ext cx="2654300" cy="317500"/>
          </a:xfrm>
          <a:prstGeom prst="roundRect">
            <a:avLst>
              <a:gd name="adj" fmla="val 26000"/>
            </a:avLst>
          </a:prstGeom>
          <a:solidFill>
            <a:srgbClr val="FBE9E6"/>
          </a:solidFill>
          <a:ln w="12700">
            <a:solidFill>
              <a:srgbClr val="E3A69F"/>
            </a:solidFill>
            <a:prstDash val="solid"/>
          </a:ln>
        </p:spPr>
        <p:txBody>
          <a:bodyPr/>
          <a:lstStyle/>
          <a:p>
            <a:endParaRPr lang="ko-KR" altLang="en-US"/>
          </a:p>
        </p:txBody>
      </p:sp>
      <p:sp>
        <p:nvSpPr>
          <p:cNvPr id="10" name="Text 8"/>
          <p:cNvSpPr/>
          <p:nvPr/>
        </p:nvSpPr>
        <p:spPr>
          <a:xfrm>
            <a:off x="1886446" y="3152080"/>
            <a:ext cx="519609"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A3231B"/>
                </a:solidFill>
                <a:latin typeface="Noto Sans KR" pitchFamily="34" charset="0"/>
                <a:ea typeface="Noto Sans KR" pitchFamily="34" charset="-122"/>
                <a:cs typeface="Noto Sans KR" pitchFamily="34" charset="-120"/>
              </a:rPr>
              <a:t>CUSTNO</a:t>
            </a:r>
            <a:endParaRPr lang="en-US" sz="900" dirty="0"/>
          </a:p>
        </p:txBody>
      </p:sp>
      <p:sp>
        <p:nvSpPr>
          <p:cNvPr id="11" name="Shape 9"/>
          <p:cNvSpPr/>
          <p:nvPr/>
        </p:nvSpPr>
        <p:spPr>
          <a:xfrm>
            <a:off x="819150" y="3399730"/>
            <a:ext cx="2654300" cy="317500"/>
          </a:xfrm>
          <a:prstGeom prst="roundRect">
            <a:avLst>
              <a:gd name="adj" fmla="val 26000"/>
            </a:avLst>
          </a:prstGeom>
          <a:solidFill>
            <a:srgbClr val="FBE9E6"/>
          </a:solidFill>
          <a:ln w="12700">
            <a:solidFill>
              <a:srgbClr val="E3A69F"/>
            </a:solidFill>
            <a:prstDash val="solid"/>
          </a:ln>
        </p:spPr>
        <p:txBody>
          <a:bodyPr/>
          <a:lstStyle/>
          <a:p>
            <a:endParaRPr lang="ko-KR" altLang="en-US"/>
          </a:p>
        </p:txBody>
      </p:sp>
      <p:sp>
        <p:nvSpPr>
          <p:cNvPr id="12" name="Text 10"/>
          <p:cNvSpPr/>
          <p:nvPr/>
        </p:nvSpPr>
        <p:spPr>
          <a:xfrm>
            <a:off x="1910556" y="3558480"/>
            <a:ext cx="471488" cy="25400"/>
          </a:xfrm>
          <a:prstGeom prst="rect">
            <a:avLst/>
          </a:prstGeom>
          <a:noFill/>
          <a:ln/>
        </p:spPr>
        <p:txBody>
          <a:bodyPr wrap="square" lIns="0" tIns="0" rIns="0" bIns="0" rtlCol="0" anchor="t">
            <a:normAutofit/>
          </a:bodyPr>
          <a:lstStyle/>
          <a:p>
            <a:pPr marL="0" indent="0" algn="ctr">
              <a:lnSpc>
                <a:spcPts val="1170"/>
              </a:lnSpc>
              <a:buNone/>
            </a:pPr>
            <a:r>
              <a:rPr lang="en-US" sz="900" b="1" dirty="0">
                <a:solidFill>
                  <a:srgbClr val="A3231B"/>
                </a:solidFill>
                <a:latin typeface="Noto Sans KR" pitchFamily="34" charset="0"/>
                <a:ea typeface="Noto Sans KR" pitchFamily="34" charset="-122"/>
                <a:cs typeface="Noto Sans KR" pitchFamily="34" charset="-120"/>
              </a:rPr>
              <a:t>회원번호</a:t>
            </a:r>
            <a:endParaRPr lang="en-US" sz="900" dirty="0"/>
          </a:p>
        </p:txBody>
      </p:sp>
      <p:sp>
        <p:nvSpPr>
          <p:cNvPr id="13" name="Text 11"/>
          <p:cNvSpPr/>
          <p:nvPr/>
        </p:nvSpPr>
        <p:spPr>
          <a:xfrm>
            <a:off x="3733800" y="2519660"/>
            <a:ext cx="4064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5E6673"/>
                </a:solidFill>
                <a:latin typeface="Noto Sans KR" pitchFamily="34" charset="0"/>
                <a:ea typeface="Noto Sans KR" pitchFamily="34" charset="-122"/>
                <a:cs typeface="Noto Sans KR" pitchFamily="34" charset="-120"/>
              </a:rPr>
              <a:t>→</a:t>
            </a:r>
            <a:endParaRPr lang="en-US" sz="2800" dirty="0"/>
          </a:p>
        </p:txBody>
      </p:sp>
      <p:sp>
        <p:nvSpPr>
          <p:cNvPr id="14" name="Text 12"/>
          <p:cNvSpPr/>
          <p:nvPr/>
        </p:nvSpPr>
        <p:spPr>
          <a:xfrm>
            <a:off x="4343400" y="1813520"/>
            <a:ext cx="7246874"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2458A6"/>
                </a:solidFill>
                <a:latin typeface="Noto Sans KR" pitchFamily="34" charset="0"/>
                <a:ea typeface="Noto Sans KR" pitchFamily="34" charset="-122"/>
                <a:cs typeface="Noto Sans KR" pitchFamily="34" charset="-120"/>
              </a:rPr>
              <a:t>우리 과목의 규칙</a:t>
            </a:r>
            <a:endParaRPr lang="en-US" sz="1400" dirty="0"/>
          </a:p>
        </p:txBody>
      </p:sp>
      <p:sp>
        <p:nvSpPr>
          <p:cNvPr id="15" name="Shape 13"/>
          <p:cNvSpPr/>
          <p:nvPr/>
        </p:nvSpPr>
        <p:spPr>
          <a:xfrm>
            <a:off x="4349750" y="2218630"/>
            <a:ext cx="7023100" cy="530920"/>
          </a:xfrm>
          <a:prstGeom prst="roundRect">
            <a:avLst>
              <a:gd name="adj" fmla="val 15548"/>
            </a:avLst>
          </a:prstGeom>
          <a:solidFill>
            <a:srgbClr val="E4ECF7"/>
          </a:solidFill>
          <a:ln w="12700">
            <a:solidFill>
              <a:srgbClr val="9DB6DC"/>
            </a:solidFill>
            <a:prstDash val="solid"/>
          </a:ln>
        </p:spPr>
        <p:txBody>
          <a:bodyPr/>
          <a:lstStyle/>
          <a:p>
            <a:endParaRPr lang="ko-KR" altLang="en-US"/>
          </a:p>
        </p:txBody>
      </p:sp>
      <p:sp>
        <p:nvSpPr>
          <p:cNvPr id="16" name="Text 14"/>
          <p:cNvSpPr/>
          <p:nvPr/>
        </p:nvSpPr>
        <p:spPr>
          <a:xfrm>
            <a:off x="7442597" y="2377380"/>
            <a:ext cx="837307" cy="238820"/>
          </a:xfrm>
          <a:prstGeom prst="rect">
            <a:avLst/>
          </a:prstGeom>
          <a:noFill/>
          <a:ln/>
        </p:spPr>
        <p:txBody>
          <a:bodyPr wrap="square" lIns="0" tIns="0" rIns="0" bIns="0" rtlCol="0" anchor="t">
            <a:normAutofit/>
          </a:bodyPr>
          <a:lstStyle/>
          <a:p>
            <a:pPr marL="0" indent="0" algn="ctr">
              <a:lnSpc>
                <a:spcPts val="1725"/>
              </a:lnSpc>
              <a:buNone/>
            </a:pPr>
            <a:r>
              <a:rPr lang="en-US" sz="1327" b="1" dirty="0">
                <a:solidFill>
                  <a:srgbClr val="2458A6"/>
                </a:solidFill>
                <a:latin typeface="Noto Sans KR" pitchFamily="34" charset="0"/>
                <a:ea typeface="Noto Sans KR" pitchFamily="34" charset="-122"/>
                <a:cs typeface="Noto Sans KR" pitchFamily="34" charset="-120"/>
              </a:rPr>
              <a:t>CUST_NO</a:t>
            </a:r>
            <a:endParaRPr lang="en-US" sz="1327" dirty="0"/>
          </a:p>
        </p:txBody>
      </p:sp>
      <p:sp>
        <p:nvSpPr>
          <p:cNvPr id="17" name="Text 15"/>
          <p:cNvSpPr/>
          <p:nvPr/>
        </p:nvSpPr>
        <p:spPr>
          <a:xfrm>
            <a:off x="4343400" y="2870200"/>
            <a:ext cx="7246874" cy="87878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① 물리명은 </a:t>
            </a:r>
            <a:r>
              <a:rPr lang="en-US" sz="1400" b="1" dirty="0">
                <a:solidFill>
                  <a:srgbClr val="3D4757"/>
                </a:solidFill>
                <a:latin typeface="Noto Sans KR" pitchFamily="34" charset="0"/>
                <a:ea typeface="Noto Sans KR" pitchFamily="34" charset="-122"/>
                <a:cs typeface="Noto Sans KR" pitchFamily="34" charset="-120"/>
              </a:rPr>
              <a:t>대문자</a:t>
            </a:r>
            <a:endParaRPr lang="en-US" sz="1400" dirty="0"/>
          </a:p>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② 표준 단어의 영문 약어를 </a:t>
            </a:r>
            <a:r>
              <a:rPr lang="en-US" sz="1400" b="1" dirty="0">
                <a:solidFill>
                  <a:srgbClr val="3D4757"/>
                </a:solidFill>
                <a:latin typeface="Noto Sans KR" pitchFamily="34" charset="0"/>
                <a:ea typeface="Noto Sans KR" pitchFamily="34" charset="-122"/>
                <a:cs typeface="Noto Sans KR" pitchFamily="34" charset="-120"/>
              </a:rPr>
              <a:t>밑줄(_)로 연결</a:t>
            </a:r>
            <a:endParaRPr lang="en-US" sz="1400" dirty="0"/>
          </a:p>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③ 한글 용어명과 물리명은 </a:t>
            </a:r>
            <a:r>
              <a:rPr lang="en-US" sz="1400" b="1" dirty="0">
                <a:solidFill>
                  <a:srgbClr val="3D4757"/>
                </a:solidFill>
                <a:latin typeface="Noto Sans KR" pitchFamily="34" charset="0"/>
                <a:ea typeface="Noto Sans KR" pitchFamily="34" charset="-122"/>
                <a:cs typeface="Noto Sans KR" pitchFamily="34" charset="-120"/>
              </a:rPr>
              <a:t>하나씩 짝</a:t>
            </a:r>
            <a:endParaRPr lang="en-US" sz="1400" dirty="0"/>
          </a:p>
        </p:txBody>
      </p:sp>
      <p:sp>
        <p:nvSpPr>
          <p:cNvPr id="18" name="Shape 16"/>
          <p:cNvSpPr/>
          <p:nvPr/>
        </p:nvSpPr>
        <p:spPr>
          <a:xfrm>
            <a:off x="812800" y="3977580"/>
            <a:ext cx="10566400" cy="1282601"/>
          </a:xfrm>
          <a:prstGeom prst="roundRect">
            <a:avLst>
              <a:gd name="adj" fmla="val 5941"/>
            </a:avLst>
          </a:prstGeom>
          <a:solidFill>
            <a:srgbClr val="E3EFE7"/>
          </a:solidFill>
          <a:ln/>
        </p:spPr>
        <p:txBody>
          <a:bodyPr/>
          <a:lstStyle/>
          <a:p>
            <a:endParaRPr lang="ko-KR" altLang="en-US"/>
          </a:p>
        </p:txBody>
      </p:sp>
      <p:sp>
        <p:nvSpPr>
          <p:cNvPr id="19" name="Shape 17"/>
          <p:cNvSpPr/>
          <p:nvPr/>
        </p:nvSpPr>
        <p:spPr>
          <a:xfrm>
            <a:off x="812800" y="3977580"/>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20" name="Text 18"/>
          <p:cNvSpPr/>
          <p:nvPr/>
        </p:nvSpPr>
        <p:spPr>
          <a:xfrm>
            <a:off x="1117600" y="4180780"/>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아파트 동·호수</a:t>
            </a:r>
            <a:endParaRPr lang="en-US" sz="1300" dirty="0"/>
          </a:p>
        </p:txBody>
      </p:sp>
      <p:sp>
        <p:nvSpPr>
          <p:cNvPr id="21" name="Text 19"/>
          <p:cNvSpPr/>
          <p:nvPr/>
        </p:nvSpPr>
        <p:spPr>
          <a:xfrm>
            <a:off x="1117600" y="4488061"/>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'101동 1203호'라고 쓰기로 정했는데 누구는 '1203/101', 누구는 '백일동 천이백삼호'라고 쓰면 택배가 길을 잃습니다. 쓰는 방법까지 약속해야 합니다.</a:t>
            </a:r>
            <a:endParaRPr lang="en-US" sz="14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19 / 60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637"/>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A94E12"/>
                </a:solidFill>
                <a:latin typeface="Noto Sans KR" pitchFamily="34" charset="0"/>
                <a:ea typeface="Noto Sans KR" pitchFamily="34" charset="-122"/>
                <a:cs typeface="Noto Sans KR" pitchFamily="34" charset="-120"/>
              </a:rPr>
              <a:t>용어 4 · 메타데이터</a:t>
            </a:r>
            <a:endParaRPr lang="en-US" sz="1196" dirty="0"/>
          </a:p>
        </p:txBody>
      </p:sp>
      <p:sp>
        <p:nvSpPr>
          <p:cNvPr id="3" name="Text 1"/>
          <p:cNvSpPr/>
          <p:nvPr/>
        </p:nvSpPr>
        <p:spPr>
          <a:xfrm>
            <a:off x="812800" y="1100237"/>
            <a:ext cx="10883392" cy="478036"/>
          </a:xfrm>
          <a:prstGeom prst="rect">
            <a:avLst/>
          </a:prstGeom>
          <a:noFill/>
          <a:ln/>
        </p:spPr>
        <p:txBody>
          <a:bodyPr wrap="square" lIns="0" tIns="0" rIns="0" bIns="0" rtlCol="0" anchor="t">
            <a:normAutofit/>
          </a:bodyPr>
          <a:lstStyle/>
          <a:p>
            <a:pPr marL="0" indent="0" algn="l">
              <a:lnSpc>
                <a:spcPts val="3566"/>
              </a:lnSpc>
              <a:buNone/>
            </a:pPr>
            <a:r>
              <a:rPr lang="en-US" sz="2972" b="1" dirty="0">
                <a:solidFill>
                  <a:srgbClr val="1B2A44"/>
                </a:solidFill>
                <a:latin typeface="Noto Sans KR" pitchFamily="34" charset="0"/>
                <a:ea typeface="Noto Sans KR" pitchFamily="34" charset="-122"/>
                <a:cs typeface="Noto Sans KR" pitchFamily="34" charset="-120"/>
              </a:rPr>
              <a:t>데이터를 설명하는 데이터</a:t>
            </a:r>
            <a:endParaRPr lang="en-US" sz="2972" dirty="0"/>
          </a:p>
        </p:txBody>
      </p:sp>
      <p:sp>
        <p:nvSpPr>
          <p:cNvPr id="4" name="Text 2"/>
          <p:cNvSpPr/>
          <p:nvPr/>
        </p:nvSpPr>
        <p:spPr>
          <a:xfrm>
            <a:off x="812800" y="1806873"/>
            <a:ext cx="5310886"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5E6673"/>
                </a:solidFill>
                <a:latin typeface="Noto Sans KR" pitchFamily="34" charset="0"/>
                <a:ea typeface="Noto Sans KR" pitchFamily="34" charset="-122"/>
                <a:cs typeface="Noto Sans KR" pitchFamily="34" charset="-120"/>
              </a:rPr>
              <a:t>데이터 자체</a:t>
            </a:r>
            <a:endParaRPr lang="en-US" sz="1400" dirty="0"/>
          </a:p>
        </p:txBody>
      </p:sp>
      <p:sp>
        <p:nvSpPr>
          <p:cNvPr id="5" name="Shape 3"/>
          <p:cNvSpPr/>
          <p:nvPr/>
        </p:nvSpPr>
        <p:spPr>
          <a:xfrm>
            <a:off x="812800" y="2167533"/>
            <a:ext cx="5156200" cy="1224855"/>
          </a:xfrm>
          <a:prstGeom prst="roundRect">
            <a:avLst>
              <a:gd name="adj" fmla="val 6221"/>
            </a:avLst>
          </a:prstGeom>
          <a:solidFill>
            <a:srgbClr val="222A3A"/>
          </a:solidFill>
          <a:ln/>
        </p:spPr>
        <p:txBody>
          <a:bodyPr/>
          <a:lstStyle/>
          <a:p>
            <a:endParaRPr lang="ko-KR" altLang="en-US"/>
          </a:p>
        </p:txBody>
      </p:sp>
      <p:sp>
        <p:nvSpPr>
          <p:cNvPr id="6" name="Text 4"/>
          <p:cNvSpPr/>
          <p:nvPr/>
        </p:nvSpPr>
        <p:spPr>
          <a:xfrm>
            <a:off x="1066800" y="2370733"/>
            <a:ext cx="4787646" cy="281285"/>
          </a:xfrm>
          <a:prstGeom prst="rect">
            <a:avLst/>
          </a:prstGeom>
          <a:noFill/>
          <a:ln/>
        </p:spPr>
        <p:txBody>
          <a:bodyPr wrap="none" lIns="0" tIns="0" rIns="0" bIns="0" rtlCol="0" anchor="t">
            <a:normAutofit/>
          </a:bodyPr>
          <a:lstStyle/>
          <a:p>
            <a:pPr marL="0" indent="0" algn="l">
              <a:lnSpc>
                <a:spcPts val="2015"/>
              </a:lnSpc>
              <a:buNone/>
            </a:pPr>
            <a:r>
              <a:rPr lang="en-US" sz="1300" dirty="0">
                <a:solidFill>
                  <a:srgbClr val="E9E6DD"/>
                </a:solidFill>
                <a:latin typeface="JetBrains Mono" pitchFamily="34" charset="0"/>
                <a:ea typeface="JetBrains Mono" pitchFamily="34" charset="-122"/>
                <a:cs typeface="JetBrains Mono" pitchFamily="34" charset="-120"/>
              </a:rPr>
              <a:t>CUST_NO ORD_DT</a:t>
            </a:r>
            <a:endParaRPr lang="en-US" sz="1300" dirty="0"/>
          </a:p>
        </p:txBody>
      </p:sp>
      <p:sp>
        <p:nvSpPr>
          <p:cNvPr id="7" name="Text 5"/>
          <p:cNvSpPr/>
          <p:nvPr/>
        </p:nvSpPr>
        <p:spPr>
          <a:xfrm>
            <a:off x="1066800" y="2652018"/>
            <a:ext cx="4787646" cy="281285"/>
          </a:xfrm>
          <a:prstGeom prst="rect">
            <a:avLst/>
          </a:prstGeom>
          <a:noFill/>
          <a:ln/>
        </p:spPr>
        <p:txBody>
          <a:bodyPr wrap="none" lIns="0" tIns="0" rIns="0" bIns="0" rtlCol="0" anchor="t">
            <a:normAutofit/>
          </a:bodyPr>
          <a:lstStyle/>
          <a:p>
            <a:pPr marL="0" indent="0" algn="l">
              <a:lnSpc>
                <a:spcPts val="2015"/>
              </a:lnSpc>
              <a:buNone/>
            </a:pPr>
            <a:r>
              <a:rPr lang="en-US" sz="1300" dirty="0">
                <a:solidFill>
                  <a:srgbClr val="E9E6DD"/>
                </a:solidFill>
                <a:latin typeface="JetBrains Mono" pitchFamily="34" charset="0"/>
                <a:ea typeface="JetBrains Mono" pitchFamily="34" charset="-122"/>
                <a:cs typeface="JetBrains Mono" pitchFamily="34" charset="-120"/>
              </a:rPr>
              <a:t>0000001 2026-03-14</a:t>
            </a:r>
            <a:endParaRPr lang="en-US" sz="1300" dirty="0"/>
          </a:p>
        </p:txBody>
      </p:sp>
      <p:sp>
        <p:nvSpPr>
          <p:cNvPr id="8" name="Text 6"/>
          <p:cNvSpPr/>
          <p:nvPr/>
        </p:nvSpPr>
        <p:spPr>
          <a:xfrm>
            <a:off x="1066800" y="2933303"/>
            <a:ext cx="4787646" cy="281285"/>
          </a:xfrm>
          <a:prstGeom prst="rect">
            <a:avLst/>
          </a:prstGeom>
          <a:noFill/>
          <a:ln/>
        </p:spPr>
        <p:txBody>
          <a:bodyPr wrap="none" lIns="0" tIns="0" rIns="0" bIns="0" rtlCol="0" anchor="t">
            <a:normAutofit/>
          </a:bodyPr>
          <a:lstStyle/>
          <a:p>
            <a:pPr marL="0" indent="0" algn="l">
              <a:lnSpc>
                <a:spcPts val="2015"/>
              </a:lnSpc>
              <a:buNone/>
            </a:pPr>
            <a:r>
              <a:rPr lang="en-US" sz="1300" dirty="0">
                <a:solidFill>
                  <a:srgbClr val="E9E6DD"/>
                </a:solidFill>
                <a:latin typeface="JetBrains Mono" pitchFamily="34" charset="0"/>
                <a:ea typeface="JetBrains Mono" pitchFamily="34" charset="-122"/>
                <a:cs typeface="JetBrains Mono" pitchFamily="34" charset="-120"/>
              </a:rPr>
              <a:t>0000002 2026-03-15</a:t>
            </a:r>
            <a:endParaRPr lang="en-US" sz="1300" dirty="0"/>
          </a:p>
        </p:txBody>
      </p:sp>
      <p:sp>
        <p:nvSpPr>
          <p:cNvPr id="9" name="Text 7"/>
          <p:cNvSpPr/>
          <p:nvPr/>
        </p:nvSpPr>
        <p:spPr>
          <a:xfrm>
            <a:off x="6223000" y="1806873"/>
            <a:ext cx="5310886" cy="307181"/>
          </a:xfrm>
          <a:prstGeom prst="rect">
            <a:avLst/>
          </a:prstGeom>
          <a:noFill/>
          <a:ln/>
        </p:spPr>
        <p:txBody>
          <a:bodyPr wrap="square" lIns="0" tIns="0" rIns="0" bIns="0" rtlCol="0" anchor="t">
            <a:normAutofit/>
          </a:bodyPr>
          <a:lstStyle/>
          <a:p>
            <a:pPr marL="0" indent="0" algn="l">
              <a:lnSpc>
                <a:spcPts val="2219"/>
              </a:lnSpc>
              <a:buNone/>
            </a:pPr>
            <a:r>
              <a:rPr lang="en-US" sz="1387" b="1" dirty="0">
                <a:solidFill>
                  <a:srgbClr val="2458A6"/>
                </a:solidFill>
                <a:latin typeface="Noto Sans KR" pitchFamily="34" charset="0"/>
                <a:ea typeface="Noto Sans KR" pitchFamily="34" charset="-122"/>
                <a:cs typeface="Noto Sans KR" pitchFamily="34" charset="-120"/>
              </a:rPr>
              <a:t>그 데이터에 대한 설명 = 메타데이터</a:t>
            </a:r>
            <a:endParaRPr lang="en-US" sz="1387"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35700" y="2177554"/>
          <a:ext cx="5143500" cy="2135685"/>
        </p:xfrm>
        <a:graphic>
          <a:graphicData uri="http://schemas.openxmlformats.org/drawingml/2006/table">
            <a:tbl>
              <a:tblPr/>
              <a:tblGrid>
                <a:gridCol w="205740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tblGrid>
              <a:tr h="355898">
                <a:tc>
                  <a:txBody>
                    <a:bodyPr/>
                    <a:lstStyle/>
                    <a:p>
                      <a:pPr marL="0" indent="0">
                        <a:lnSpc>
                          <a:spcPts val="1803"/>
                        </a:lnSpc>
                        <a:buNone/>
                      </a:pPr>
                      <a:r>
                        <a:rPr lang="en-US" sz="1288" b="1" dirty="0">
                          <a:solidFill>
                            <a:srgbClr val="F6F4EF"/>
                          </a:solidFill>
                          <a:latin typeface="Noto Sans KR" pitchFamily="34" charset="0"/>
                          <a:ea typeface="Noto Sans KR" pitchFamily="34" charset="-122"/>
                          <a:cs typeface="Noto Sans KR" pitchFamily="34" charset="-120"/>
                        </a:rPr>
                        <a:t>항목</a:t>
                      </a:r>
                      <a:endParaRPr lang="en-US" sz="1288" dirty="0">
                        <a:latin typeface="Noto Sans KR" charset="0"/>
                        <a:ea typeface="Noto Sans KR" charset="0"/>
                        <a:cs typeface="Noto Sans KR" charset="0"/>
                      </a:endParaRPr>
                    </a:p>
                  </a:txBody>
                  <a:tcPr marL="57243" marR="57243" marT="57243" marB="57243">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03"/>
                        </a:lnSpc>
                        <a:buNone/>
                      </a:pPr>
                      <a:r>
                        <a:rPr lang="en-US" sz="1288" b="1" dirty="0">
                          <a:solidFill>
                            <a:srgbClr val="F6F4EF"/>
                          </a:solidFill>
                          <a:latin typeface="Noto Sans KR" pitchFamily="34" charset="0"/>
                          <a:ea typeface="Noto Sans KR" pitchFamily="34" charset="-122"/>
                          <a:cs typeface="Noto Sans KR" pitchFamily="34" charset="-120"/>
                        </a:rPr>
                        <a:t>내용</a:t>
                      </a:r>
                      <a:endParaRPr lang="en-US" sz="1288" dirty="0">
                        <a:latin typeface="Noto Sans KR" charset="0"/>
                        <a:ea typeface="Noto Sans KR" charset="0"/>
                        <a:cs typeface="Noto Sans KR" charset="0"/>
                      </a:endParaRPr>
                    </a:p>
                  </a:txBody>
                  <a:tcPr marL="57243" marR="57243" marT="57243" marB="57243">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55898">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컬럼 이름</a:t>
                      </a:r>
                      <a:endParaRPr lang="en-US" sz="1288" dirty="0">
                        <a:latin typeface="Noto Sans KR" charset="0"/>
                        <a:ea typeface="Noto Sans KR" charset="0"/>
                        <a:cs typeface="Noto Sans KR" charset="0"/>
                      </a:endParaRPr>
                    </a:p>
                  </a:txBody>
                  <a:tcPr marL="57243" marR="57243" marT="57243" marB="57243">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CUST_NO</a:t>
                      </a:r>
                      <a:endParaRPr lang="en-US" sz="1288" dirty="0">
                        <a:latin typeface="Noto Sans KR" charset="0"/>
                        <a:ea typeface="Noto Sans KR" charset="0"/>
                        <a:cs typeface="Noto Sans KR" charset="0"/>
                      </a:endParaRPr>
                    </a:p>
                  </a:txBody>
                  <a:tcPr marL="57243" marR="57243" marT="57243" marB="57243">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55898">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한글명</a:t>
                      </a:r>
                      <a:endParaRPr lang="en-US" sz="1288" dirty="0">
                        <a:latin typeface="Noto Sans KR" charset="0"/>
                        <a:ea typeface="Noto Sans KR" charset="0"/>
                        <a:cs typeface="Noto Sans KR" charset="0"/>
                      </a:endParaRPr>
                    </a:p>
                  </a:txBody>
                  <a:tcPr marL="57243" marR="57243" marT="57243" marB="57243">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고객번호</a:t>
                      </a:r>
                      <a:endParaRPr lang="en-US" sz="1288" dirty="0">
                        <a:latin typeface="Noto Sans KR" charset="0"/>
                        <a:ea typeface="Noto Sans KR" charset="0"/>
                        <a:cs typeface="Noto Sans KR" charset="0"/>
                      </a:endParaRPr>
                    </a:p>
                  </a:txBody>
                  <a:tcPr marL="57243" marR="57243" marT="57243" marB="57243">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55997">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도메인</a:t>
                      </a:r>
                      <a:endParaRPr lang="en-US" sz="1288" dirty="0">
                        <a:latin typeface="Noto Sans KR" charset="0"/>
                        <a:ea typeface="Noto Sans KR" charset="0"/>
                        <a:cs typeface="Noto Sans KR" charset="0"/>
                      </a:endParaRPr>
                    </a:p>
                  </a:txBody>
                  <a:tcPr marL="57243" marR="57243" marT="57243" marB="57243">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번호 (글자)</a:t>
                      </a:r>
                      <a:endParaRPr lang="en-US" sz="1288" dirty="0">
                        <a:latin typeface="Noto Sans KR" charset="0"/>
                        <a:ea typeface="Noto Sans KR" charset="0"/>
                        <a:cs typeface="Noto Sans KR" charset="0"/>
                      </a:endParaRPr>
                    </a:p>
                  </a:txBody>
                  <a:tcPr marL="57243" marR="57243" marT="57243" marB="57243">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55997">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빈 값 허용</a:t>
                      </a:r>
                      <a:endParaRPr lang="en-US" sz="1288" dirty="0">
                        <a:latin typeface="Noto Sans KR" charset="0"/>
                        <a:ea typeface="Noto Sans KR" charset="0"/>
                        <a:cs typeface="Noto Sans KR" charset="0"/>
                      </a:endParaRPr>
                    </a:p>
                  </a:txBody>
                  <a:tcPr marL="57243" marR="57243" marT="57243" marB="57243">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허용 안 함</a:t>
                      </a:r>
                      <a:endParaRPr lang="en-US" sz="1288" dirty="0">
                        <a:latin typeface="Noto Sans KR" charset="0"/>
                        <a:ea typeface="Noto Sans KR" charset="0"/>
                        <a:cs typeface="Noto Sans KR" charset="0"/>
                      </a:endParaRPr>
                    </a:p>
                  </a:txBody>
                  <a:tcPr marL="57243" marR="57243" marT="57243" marB="57243">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55997">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설명</a:t>
                      </a:r>
                      <a:endParaRPr lang="en-US" sz="1288" dirty="0">
                        <a:latin typeface="Noto Sans KR" charset="0"/>
                        <a:ea typeface="Noto Sans KR" charset="0"/>
                        <a:cs typeface="Noto Sans KR" charset="0"/>
                      </a:endParaRPr>
                    </a:p>
                  </a:txBody>
                  <a:tcPr marL="57243" marR="57243" marT="57243" marB="57243">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03"/>
                        </a:lnSpc>
                        <a:buNone/>
                      </a:pPr>
                      <a:r>
                        <a:rPr lang="en-US" sz="1288" dirty="0">
                          <a:solidFill>
                            <a:srgbClr val="3D4757"/>
                          </a:solidFill>
                          <a:latin typeface="Noto Sans KR" pitchFamily="34" charset="0"/>
                          <a:ea typeface="Noto Sans KR" pitchFamily="34" charset="-122"/>
                          <a:cs typeface="Noto Sans KR" pitchFamily="34" charset="-120"/>
                        </a:rPr>
                        <a:t>고객을 구별하는 번호</a:t>
                      </a:r>
                      <a:endParaRPr lang="en-US" sz="1288" dirty="0">
                        <a:latin typeface="Noto Sans KR" charset="0"/>
                        <a:ea typeface="Noto Sans KR" charset="0"/>
                        <a:cs typeface="Noto Sans KR" charset="0"/>
                      </a:endParaRPr>
                    </a:p>
                  </a:txBody>
                  <a:tcPr marL="57243" marR="57243" marT="57243" marB="57243">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11" name="Shape 8"/>
          <p:cNvSpPr/>
          <p:nvPr/>
        </p:nvSpPr>
        <p:spPr>
          <a:xfrm>
            <a:off x="812800" y="4567238"/>
            <a:ext cx="10566400" cy="1274763"/>
          </a:xfrm>
          <a:prstGeom prst="roundRect">
            <a:avLst>
              <a:gd name="adj" fmla="val 5978"/>
            </a:avLst>
          </a:prstGeom>
          <a:solidFill>
            <a:srgbClr val="E3EFE7"/>
          </a:solidFill>
          <a:ln/>
        </p:spPr>
        <p:txBody>
          <a:bodyPr/>
          <a:lstStyle/>
          <a:p>
            <a:endParaRPr lang="ko-KR" altLang="en-US"/>
          </a:p>
        </p:txBody>
      </p:sp>
      <p:sp>
        <p:nvSpPr>
          <p:cNvPr id="12" name="Shape 9"/>
          <p:cNvSpPr/>
          <p:nvPr/>
        </p:nvSpPr>
        <p:spPr>
          <a:xfrm>
            <a:off x="812800" y="4567238"/>
            <a:ext cx="10566400" cy="1274763"/>
          </a:xfrm>
          <a:custGeom>
            <a:avLst/>
            <a:gdLst/>
            <a:ahLst/>
            <a:cxnLst/>
            <a:rect l="l" t="t" r="r" b="b"/>
            <a:pathLst>
              <a:path w="10566400" h="1274763">
                <a:moveTo>
                  <a:pt x="76200" y="1274763"/>
                </a:moveTo>
                <a:lnTo>
                  <a:pt x="76200" y="1274763"/>
                </a:lnTo>
                <a:arcTo wR="76200" hR="76200" stAng="5400000" swAng="5400000"/>
                <a:lnTo>
                  <a:pt x="0" y="76200"/>
                </a:lnTo>
                <a:arcTo wR="76200" hR="76200" stAng="10800000" swAng="5400000"/>
                <a:lnTo>
                  <a:pt x="76200" y="0"/>
                </a:lnTo>
                <a:arcTo wR="25400" hR="76200" stAng="16200000" swAng="-5400000"/>
                <a:lnTo>
                  <a:pt x="50800" y="1198563"/>
                </a:lnTo>
                <a:arcTo wR="25400" hR="76200" stAng="10800000" swAng="-5400000"/>
                <a:close/>
              </a:path>
            </a:pathLst>
          </a:custGeom>
          <a:solidFill>
            <a:srgbClr val="2E6B4F"/>
          </a:solidFill>
          <a:ln/>
        </p:spPr>
        <p:txBody>
          <a:bodyPr/>
          <a:lstStyle/>
          <a:p>
            <a:endParaRPr lang="ko-KR" altLang="en-US"/>
          </a:p>
        </p:txBody>
      </p:sp>
      <p:sp>
        <p:nvSpPr>
          <p:cNvPr id="13" name="Text 10"/>
          <p:cNvSpPr/>
          <p:nvPr/>
        </p:nvSpPr>
        <p:spPr>
          <a:xfrm>
            <a:off x="1117600" y="4770438"/>
            <a:ext cx="10307828" cy="254198"/>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우유팩 뒷면</a:t>
            </a:r>
            <a:endParaRPr lang="en-US" sz="1300" dirty="0"/>
          </a:p>
        </p:txBody>
      </p:sp>
      <p:sp>
        <p:nvSpPr>
          <p:cNvPr id="14" name="Text 11"/>
          <p:cNvSpPr/>
          <p:nvPr/>
        </p:nvSpPr>
        <p:spPr>
          <a:xfrm>
            <a:off x="1117600" y="5075436"/>
            <a:ext cx="10307828" cy="588764"/>
          </a:xfrm>
          <a:prstGeom prst="rect">
            <a:avLst/>
          </a:prstGeom>
          <a:noFill/>
          <a:ln/>
        </p:spPr>
        <p:txBody>
          <a:bodyPr wrap="square" lIns="0" tIns="0" rIns="0" bIns="0" rtlCol="0" anchor="t">
            <a:normAutofit/>
          </a:bodyPr>
          <a:lstStyle/>
          <a:p>
            <a:pPr marL="0" indent="0" algn="l">
              <a:lnSpc>
                <a:spcPts val="2233"/>
              </a:lnSpc>
              <a:buNone/>
            </a:pPr>
            <a:r>
              <a:rPr lang="en-US" sz="1396" dirty="0">
                <a:solidFill>
                  <a:srgbClr val="2B3A33"/>
                </a:solidFill>
                <a:latin typeface="Noto Sans KR" pitchFamily="34" charset="0"/>
                <a:ea typeface="Noto Sans KR" pitchFamily="34" charset="-122"/>
                <a:cs typeface="Noto Sans KR" pitchFamily="34" charset="-120"/>
              </a:rPr>
              <a:t>우유 자체가 데이터라면, 뒷면의 제조일·용량·원재료·보관 방법이 메타데이터입니다. 뒷면이 없으면 마셔도 되는지 알 수 없습니다. </a:t>
            </a:r>
            <a:r>
              <a:rPr lang="en-US" sz="1396" b="1" dirty="0">
                <a:solidFill>
                  <a:srgbClr val="2B3A33"/>
                </a:solidFill>
                <a:latin typeface="Noto Sans KR" pitchFamily="34" charset="0"/>
                <a:ea typeface="Noto Sans KR" pitchFamily="34" charset="-122"/>
                <a:cs typeface="Noto Sans KR" pitchFamily="34" charset="-120"/>
              </a:rPr>
              <a:t>표준 사전과 데이터 카탈로그가 바로 메타데이터</a:t>
            </a:r>
            <a:r>
              <a:rPr lang="en-US" sz="1396" dirty="0">
                <a:solidFill>
                  <a:srgbClr val="2B3A33"/>
                </a:solidFill>
                <a:latin typeface="Noto Sans KR" pitchFamily="34" charset="0"/>
                <a:ea typeface="Noto Sans KR" pitchFamily="34" charset="-122"/>
                <a:cs typeface="Noto Sans KR" pitchFamily="34" charset="-120"/>
              </a:rPr>
              <a:t>입니다.</a:t>
            </a:r>
            <a:endParaRPr lang="en-US" sz="1396"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20 / 60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302"/>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A94E12"/>
                </a:solidFill>
                <a:latin typeface="Noto Sans KR" pitchFamily="34" charset="0"/>
                <a:ea typeface="Noto Sans KR" pitchFamily="34" charset="-122"/>
                <a:cs typeface="Noto Sans KR" pitchFamily="34" charset="-120"/>
              </a:rPr>
              <a:t>용어 5 · 매핑표</a:t>
            </a:r>
            <a:endParaRPr lang="en-US" sz="1159" dirty="0"/>
          </a:p>
        </p:txBody>
      </p:sp>
      <p:sp>
        <p:nvSpPr>
          <p:cNvPr id="3" name="Text 1"/>
          <p:cNvSpPr/>
          <p:nvPr/>
        </p:nvSpPr>
        <p:spPr>
          <a:xfrm>
            <a:off x="812800" y="1091902"/>
            <a:ext cx="10883392" cy="460375"/>
          </a:xfrm>
          <a:prstGeom prst="rect">
            <a:avLst/>
          </a:prstGeom>
          <a:noFill/>
          <a:ln/>
        </p:spPr>
        <p:txBody>
          <a:bodyPr wrap="square" lIns="0" tIns="0" rIns="0" bIns="0" rtlCol="0" anchor="t">
            <a:normAutofit/>
          </a:bodyPr>
          <a:lstStyle/>
          <a:p>
            <a:pPr marL="0" indent="0" algn="l">
              <a:lnSpc>
                <a:spcPts val="3420"/>
              </a:lnSpc>
              <a:buNone/>
            </a:pPr>
            <a:r>
              <a:rPr lang="en-US" sz="2850" b="1" dirty="0">
                <a:solidFill>
                  <a:srgbClr val="1B2A44"/>
                </a:solidFill>
                <a:latin typeface="Noto Sans KR" pitchFamily="34" charset="0"/>
                <a:ea typeface="Noto Sans KR" pitchFamily="34" charset="-122"/>
                <a:cs typeface="Noto Sans KR" pitchFamily="34" charset="-120"/>
              </a:rPr>
              <a:t>원래 이름·값(AS-IS)을 표준 이름·값(TO-BE)으로 바꾸는 대응표</a:t>
            </a:r>
            <a:endParaRPr lang="en-US" sz="2850" dirty="0"/>
          </a:p>
        </p:txBody>
      </p:sp>
      <p:sp>
        <p:nvSpPr>
          <p:cNvPr id="4" name="Text 2"/>
          <p:cNvSpPr/>
          <p:nvPr/>
        </p:nvSpPr>
        <p:spPr>
          <a:xfrm>
            <a:off x="812800" y="1780877"/>
            <a:ext cx="5310886"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2458A6"/>
                </a:solidFill>
                <a:latin typeface="Noto Sans KR" pitchFamily="34" charset="0"/>
                <a:ea typeface="Noto Sans KR" pitchFamily="34" charset="-122"/>
                <a:cs typeface="Noto Sans KR" pitchFamily="34" charset="-120"/>
              </a:rPr>
              <a:t>컬럼 매핑</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54238"/>
          <a:ext cx="5143500" cy="1437084"/>
        </p:xfrm>
        <a:graphic>
          <a:graphicData uri="http://schemas.openxmlformats.org/drawingml/2006/table">
            <a:tbl>
              <a:tblPr/>
              <a:tblGrid>
                <a:gridCol w="2983230">
                  <a:extLst>
                    <a:ext uri="{9D8B030D-6E8A-4147-A177-3AD203B41FA5}">
                      <a16:colId xmlns:a16="http://schemas.microsoft.com/office/drawing/2014/main" val="20000"/>
                    </a:ext>
                  </a:extLst>
                </a:gridCol>
                <a:gridCol w="2160270">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원천 (AS-IS)</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표준 (TO-BE)</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회원관리 파일의 고객번호 컬럼</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CUST_NO</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주문 파일의 CUSTNO</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CUST_NO</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주문 파일의 DLV_FEE</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DLV_FEE</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6" name="Text 3"/>
          <p:cNvSpPr/>
          <p:nvPr/>
        </p:nvSpPr>
        <p:spPr>
          <a:xfrm>
            <a:off x="6223000" y="1780877"/>
            <a:ext cx="5310886" cy="296366"/>
          </a:xfrm>
          <a:prstGeom prst="rect">
            <a:avLst/>
          </a:prstGeom>
          <a:noFill/>
          <a:ln/>
        </p:spPr>
        <p:txBody>
          <a:bodyPr wrap="square" lIns="0" tIns="0" rIns="0" bIns="0" rtlCol="0" anchor="t">
            <a:normAutofit/>
          </a:bodyPr>
          <a:lstStyle/>
          <a:p>
            <a:pPr marL="0" indent="0" algn="l">
              <a:lnSpc>
                <a:spcPts val="2170"/>
              </a:lnSpc>
              <a:buNone/>
            </a:pPr>
            <a:r>
              <a:rPr lang="en-US" sz="1356" b="1" dirty="0">
                <a:solidFill>
                  <a:srgbClr val="2458A6"/>
                </a:solidFill>
                <a:latin typeface="Noto Sans KR" pitchFamily="34" charset="0"/>
                <a:ea typeface="Noto Sans KR" pitchFamily="34" charset="-122"/>
                <a:cs typeface="Noto Sans KR" pitchFamily="34" charset="-120"/>
              </a:rPr>
              <a:t>코드 매핑</a:t>
            </a:r>
            <a:endParaRPr lang="en-US" sz="1356"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35700" y="2140744"/>
          <a:ext cx="5143500" cy="1372392"/>
        </p:xfrm>
        <a:graphic>
          <a:graphicData uri="http://schemas.openxmlformats.org/drawingml/2006/table">
            <a:tbl>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343098">
                <a:tc>
                  <a:txBody>
                    <a:bodyPr/>
                    <a:lstStyle/>
                    <a:p>
                      <a:pPr marL="0" indent="0">
                        <a:lnSpc>
                          <a:spcPts val="1735"/>
                        </a:lnSpc>
                        <a:buNone/>
                      </a:pPr>
                      <a:r>
                        <a:rPr lang="en-US" sz="1239" b="1" dirty="0">
                          <a:solidFill>
                            <a:srgbClr val="F6F4EF"/>
                          </a:solidFill>
                          <a:latin typeface="Noto Sans KR" pitchFamily="34" charset="0"/>
                          <a:ea typeface="Noto Sans KR" pitchFamily="34" charset="-122"/>
                          <a:cs typeface="Noto Sans KR" pitchFamily="34" charset="-120"/>
                        </a:rPr>
                        <a:t>원천 값</a:t>
                      </a:r>
                      <a:endParaRPr lang="en-US" sz="1239" dirty="0">
                        <a:latin typeface="Noto Sans KR" charset="0"/>
                        <a:ea typeface="Noto Sans KR" charset="0"/>
                        <a:cs typeface="Noto Sans KR" charset="0"/>
                      </a:endParaRPr>
                    </a:p>
                  </a:txBody>
                  <a:tcPr marL="55076" marR="55076" marT="55076" marB="55076">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735"/>
                        </a:lnSpc>
                        <a:buNone/>
                      </a:pPr>
                      <a:r>
                        <a:rPr lang="en-US" sz="1239" b="1" dirty="0">
                          <a:solidFill>
                            <a:srgbClr val="F6F4EF"/>
                          </a:solidFill>
                          <a:latin typeface="Noto Sans KR" pitchFamily="34" charset="0"/>
                          <a:ea typeface="Noto Sans KR" pitchFamily="34" charset="-122"/>
                          <a:cs typeface="Noto Sans KR" pitchFamily="34" charset="-120"/>
                        </a:rPr>
                        <a:t>표준 코드</a:t>
                      </a:r>
                      <a:endParaRPr lang="en-US" sz="1239" dirty="0">
                        <a:latin typeface="Noto Sans KR" charset="0"/>
                        <a:ea typeface="Noto Sans KR" charset="0"/>
                        <a:cs typeface="Noto Sans KR" charset="0"/>
                      </a:endParaRPr>
                    </a:p>
                  </a:txBody>
                  <a:tcPr marL="55076" marR="55076" marT="55076" marB="55076">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43098">
                <a:tc>
                  <a:txBody>
                    <a:bodyPr/>
                    <a:lstStyle/>
                    <a:p>
                      <a:pPr marL="0" indent="0">
                        <a:lnSpc>
                          <a:spcPts val="1735"/>
                        </a:lnSpc>
                        <a:buNone/>
                      </a:pPr>
                      <a:r>
                        <a:rPr lang="en-US" sz="1239" dirty="0">
                          <a:solidFill>
                            <a:srgbClr val="3D4757"/>
                          </a:solidFill>
                          <a:latin typeface="Noto Sans KR" pitchFamily="34" charset="0"/>
                          <a:ea typeface="Noto Sans KR" pitchFamily="34" charset="-122"/>
                          <a:cs typeface="Noto Sans KR" pitchFamily="34" charset="-120"/>
                        </a:rPr>
                        <a:t>표기 A</a:t>
                      </a:r>
                      <a:endParaRPr lang="en-US" sz="1239" dirty="0">
                        <a:latin typeface="Noto Sans KR" charset="0"/>
                        <a:ea typeface="Noto Sans KR" charset="0"/>
                        <a:cs typeface="Noto Sans KR" charset="0"/>
                      </a:endParaRPr>
                    </a:p>
                  </a:txBody>
                  <a:tcPr marL="55076" marR="55076" marT="55076" marB="55076">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735"/>
                        </a:lnSpc>
                        <a:buNone/>
                      </a:pPr>
                      <a:r>
                        <a:rPr lang="en-US" sz="1239" dirty="0">
                          <a:solidFill>
                            <a:srgbClr val="3D4757"/>
                          </a:solidFill>
                          <a:latin typeface="Noto Sans KR" pitchFamily="34" charset="0"/>
                          <a:ea typeface="Noto Sans KR" pitchFamily="34" charset="-122"/>
                          <a:cs typeface="Noto Sans KR" pitchFamily="34" charset="-120"/>
                        </a:rPr>
                        <a:t>표준 코드 ①</a:t>
                      </a:r>
                      <a:endParaRPr lang="en-US" sz="1239" dirty="0">
                        <a:latin typeface="Noto Sans KR" charset="0"/>
                        <a:ea typeface="Noto Sans KR" charset="0"/>
                        <a:cs typeface="Noto Sans KR" charset="0"/>
                      </a:endParaRPr>
                    </a:p>
                  </a:txBody>
                  <a:tcPr marL="55076" marR="55076" marT="55076" marB="55076">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43098">
                <a:tc>
                  <a:txBody>
                    <a:bodyPr/>
                    <a:lstStyle/>
                    <a:p>
                      <a:pPr marL="0" indent="0">
                        <a:lnSpc>
                          <a:spcPts val="1735"/>
                        </a:lnSpc>
                        <a:buNone/>
                      </a:pPr>
                      <a:r>
                        <a:rPr lang="en-US" sz="1239" dirty="0">
                          <a:solidFill>
                            <a:srgbClr val="3D4757"/>
                          </a:solidFill>
                          <a:latin typeface="Noto Sans KR" pitchFamily="34" charset="0"/>
                          <a:ea typeface="Noto Sans KR" pitchFamily="34" charset="-122"/>
                          <a:cs typeface="Noto Sans KR" pitchFamily="34" charset="-120"/>
                        </a:rPr>
                        <a:t>표기 B</a:t>
                      </a:r>
                      <a:endParaRPr lang="en-US" sz="1239" dirty="0">
                        <a:latin typeface="Noto Sans KR" charset="0"/>
                        <a:ea typeface="Noto Sans KR" charset="0"/>
                        <a:cs typeface="Noto Sans KR" charset="0"/>
                      </a:endParaRPr>
                    </a:p>
                  </a:txBody>
                  <a:tcPr marL="55076" marR="55076" marT="55076" marB="55076">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735"/>
                        </a:lnSpc>
                        <a:buNone/>
                      </a:pPr>
                      <a:r>
                        <a:rPr lang="en-US" sz="1239" dirty="0">
                          <a:solidFill>
                            <a:srgbClr val="3D4757"/>
                          </a:solidFill>
                          <a:latin typeface="Noto Sans KR" pitchFamily="34" charset="0"/>
                          <a:ea typeface="Noto Sans KR" pitchFamily="34" charset="-122"/>
                          <a:cs typeface="Noto Sans KR" pitchFamily="34" charset="-120"/>
                        </a:rPr>
                        <a:t>표준 코드 ①</a:t>
                      </a:r>
                      <a:endParaRPr lang="en-US" sz="1239" dirty="0">
                        <a:latin typeface="Noto Sans KR" charset="0"/>
                        <a:ea typeface="Noto Sans KR" charset="0"/>
                        <a:cs typeface="Noto Sans KR" charset="0"/>
                      </a:endParaRPr>
                    </a:p>
                  </a:txBody>
                  <a:tcPr marL="55076" marR="55076" marT="55076" marB="55076">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43098">
                <a:tc>
                  <a:txBody>
                    <a:bodyPr/>
                    <a:lstStyle/>
                    <a:p>
                      <a:pPr marL="0" indent="0">
                        <a:lnSpc>
                          <a:spcPts val="1735"/>
                        </a:lnSpc>
                        <a:buNone/>
                      </a:pPr>
                      <a:r>
                        <a:rPr lang="en-US" sz="1239" dirty="0">
                          <a:solidFill>
                            <a:srgbClr val="3D4757"/>
                          </a:solidFill>
                          <a:latin typeface="Noto Sans KR" pitchFamily="34" charset="0"/>
                          <a:ea typeface="Noto Sans KR" pitchFamily="34" charset="-122"/>
                          <a:cs typeface="Noto Sans KR" pitchFamily="34" charset="-120"/>
                        </a:rPr>
                        <a:t>표기 C</a:t>
                      </a:r>
                      <a:endParaRPr lang="en-US" sz="1239" dirty="0">
                        <a:latin typeface="Noto Sans KR" charset="0"/>
                        <a:ea typeface="Noto Sans KR" charset="0"/>
                        <a:cs typeface="Noto Sans KR" charset="0"/>
                      </a:endParaRPr>
                    </a:p>
                  </a:txBody>
                  <a:tcPr marL="55076" marR="55076" marT="55076" marB="55076">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735"/>
                        </a:lnSpc>
                        <a:buNone/>
                      </a:pPr>
                      <a:r>
                        <a:rPr lang="en-US" sz="1239" dirty="0">
                          <a:solidFill>
                            <a:srgbClr val="3D4757"/>
                          </a:solidFill>
                          <a:latin typeface="Noto Sans KR" pitchFamily="34" charset="0"/>
                          <a:ea typeface="Noto Sans KR" pitchFamily="34" charset="-122"/>
                          <a:cs typeface="Noto Sans KR" pitchFamily="34" charset="-120"/>
                        </a:rPr>
                        <a:t>표준 코드 ②</a:t>
                      </a:r>
                      <a:endParaRPr lang="en-US" sz="1239" dirty="0">
                        <a:latin typeface="Noto Sans KR" charset="0"/>
                        <a:ea typeface="Noto Sans KR" charset="0"/>
                        <a:cs typeface="Noto Sans KR" charset="0"/>
                      </a:endParaRPr>
                    </a:p>
                  </a:txBody>
                  <a:tcPr marL="55076" marR="55076" marT="55076" marB="55076">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8" name="Text 4"/>
          <p:cNvSpPr/>
          <p:nvPr/>
        </p:nvSpPr>
        <p:spPr>
          <a:xfrm>
            <a:off x="6223000" y="3585766"/>
            <a:ext cx="5310886" cy="257473"/>
          </a:xfrm>
          <a:prstGeom prst="rect">
            <a:avLst/>
          </a:prstGeom>
          <a:noFill/>
          <a:ln/>
        </p:spPr>
        <p:txBody>
          <a:bodyPr wrap="square" lIns="0" tIns="0" rIns="0" bIns="0" rtlCol="0" anchor="t">
            <a:normAutofit/>
          </a:bodyPr>
          <a:lstStyle/>
          <a:p>
            <a:pPr marL="0" indent="0" algn="l">
              <a:lnSpc>
                <a:spcPts val="1872"/>
              </a:lnSpc>
              <a:buNone/>
            </a:pPr>
            <a:r>
              <a:rPr lang="en-US" sz="1170" dirty="0">
                <a:solidFill>
                  <a:srgbClr val="5E6673"/>
                </a:solidFill>
                <a:latin typeface="Noto Sans KR" pitchFamily="34" charset="0"/>
                <a:ea typeface="Noto Sans KR" pitchFamily="34" charset="-122"/>
                <a:cs typeface="Noto Sans KR" pitchFamily="34" charset="-120"/>
              </a:rPr>
              <a:t>한 표준 코드에 여러 원천 표기가 모일 수 있습니다</a:t>
            </a:r>
            <a:endParaRPr lang="en-US" sz="1170" dirty="0"/>
          </a:p>
        </p:txBody>
      </p:sp>
      <p:sp>
        <p:nvSpPr>
          <p:cNvPr id="9" name="Text 5"/>
          <p:cNvSpPr/>
          <p:nvPr/>
        </p:nvSpPr>
        <p:spPr>
          <a:xfrm>
            <a:off x="812800" y="4071838"/>
            <a:ext cx="10883392" cy="297359"/>
          </a:xfrm>
          <a:prstGeom prst="rect">
            <a:avLst/>
          </a:prstGeom>
          <a:noFill/>
          <a:ln/>
        </p:spPr>
        <p:txBody>
          <a:bodyPr wrap="square" lIns="0" tIns="0" rIns="0" bIns="0" rtlCol="0" anchor="t">
            <a:normAutofit/>
          </a:bodyPr>
          <a:lstStyle/>
          <a:p>
            <a:pPr marL="0" indent="0" algn="l">
              <a:lnSpc>
                <a:spcPts val="2170"/>
              </a:lnSpc>
              <a:buNone/>
            </a:pPr>
            <a:r>
              <a:rPr lang="en-US" sz="1356" b="1" dirty="0">
                <a:solidFill>
                  <a:srgbClr val="1B2A44"/>
                </a:solidFill>
                <a:latin typeface="Noto Sans KR" pitchFamily="34" charset="0"/>
                <a:ea typeface="Noto Sans KR" pitchFamily="34" charset="-122"/>
                <a:cs typeface="Noto Sans KR" pitchFamily="34" charset="-120"/>
              </a:rPr>
              <a:t>AS-IS = 지금 있는 그대로의 모습 · TO-BE = 앞으로 되어야 할 모습. 이 두 말은 과목 내내 나옵니다.</a:t>
            </a:r>
            <a:endParaRPr lang="en-US" sz="1356" dirty="0"/>
          </a:p>
        </p:txBody>
      </p:sp>
      <p:sp>
        <p:nvSpPr>
          <p:cNvPr id="10" name="Shape 6"/>
          <p:cNvSpPr/>
          <p:nvPr/>
        </p:nvSpPr>
        <p:spPr>
          <a:xfrm>
            <a:off x="812800" y="4597797"/>
            <a:ext cx="10566400" cy="1244203"/>
          </a:xfrm>
          <a:prstGeom prst="roundRect">
            <a:avLst>
              <a:gd name="adj" fmla="val 6124"/>
            </a:avLst>
          </a:prstGeom>
          <a:solidFill>
            <a:srgbClr val="E3EFE7"/>
          </a:solidFill>
          <a:ln/>
        </p:spPr>
        <p:txBody>
          <a:bodyPr/>
          <a:lstStyle/>
          <a:p>
            <a:endParaRPr lang="ko-KR" altLang="en-US"/>
          </a:p>
        </p:txBody>
      </p:sp>
      <p:sp>
        <p:nvSpPr>
          <p:cNvPr id="11" name="Shape 7"/>
          <p:cNvSpPr/>
          <p:nvPr/>
        </p:nvSpPr>
        <p:spPr>
          <a:xfrm>
            <a:off x="812800" y="4597797"/>
            <a:ext cx="10566400" cy="1244203"/>
          </a:xfrm>
          <a:custGeom>
            <a:avLst/>
            <a:gdLst/>
            <a:ahLst/>
            <a:cxnLst/>
            <a:rect l="l" t="t" r="r" b="b"/>
            <a:pathLst>
              <a:path w="10566400" h="1244203">
                <a:moveTo>
                  <a:pt x="76200" y="1244203"/>
                </a:moveTo>
                <a:lnTo>
                  <a:pt x="76200" y="1244203"/>
                </a:lnTo>
                <a:arcTo wR="76200" hR="76200" stAng="5400000" swAng="5400000"/>
                <a:lnTo>
                  <a:pt x="0" y="76200"/>
                </a:lnTo>
                <a:arcTo wR="76200" hR="76200" stAng="10800000" swAng="5400000"/>
                <a:lnTo>
                  <a:pt x="76200" y="0"/>
                </a:lnTo>
                <a:arcTo wR="25400" hR="76200" stAng="16200000" swAng="-5400000"/>
                <a:lnTo>
                  <a:pt x="50800" y="1168003"/>
                </a:lnTo>
                <a:arcTo wR="25400" hR="76200" stAng="10800000" swAng="-5400000"/>
                <a:close/>
              </a:path>
            </a:pathLst>
          </a:custGeom>
          <a:solidFill>
            <a:srgbClr val="2E6B4F"/>
          </a:solidFill>
          <a:ln/>
        </p:spPr>
        <p:txBody>
          <a:bodyPr/>
          <a:lstStyle/>
          <a:p>
            <a:endParaRPr lang="ko-KR" altLang="en-US"/>
          </a:p>
        </p:txBody>
      </p:sp>
      <p:sp>
        <p:nvSpPr>
          <p:cNvPr id="12" name="Text 8"/>
          <p:cNvSpPr/>
          <p:nvPr/>
        </p:nvSpPr>
        <p:spPr>
          <a:xfrm>
            <a:off x="1117600" y="4800997"/>
            <a:ext cx="10307828" cy="245368"/>
          </a:xfrm>
          <a:prstGeom prst="rect">
            <a:avLst/>
          </a:prstGeom>
          <a:noFill/>
          <a:ln/>
        </p:spPr>
        <p:txBody>
          <a:bodyPr wrap="square" lIns="0" tIns="0" rIns="0" bIns="0" rtlCol="0" anchor="t">
            <a:normAutofit/>
          </a:bodyPr>
          <a:lstStyle/>
          <a:p>
            <a:pPr marL="0" indent="0" algn="l">
              <a:lnSpc>
                <a:spcPts val="1774"/>
              </a:lnSpc>
              <a:buNone/>
            </a:pPr>
            <a:r>
              <a:rPr lang="en-US" sz="1268" b="1" dirty="0">
                <a:solidFill>
                  <a:srgbClr val="23573F"/>
                </a:solidFill>
                <a:latin typeface="Noto Sans KR" pitchFamily="34" charset="0"/>
                <a:ea typeface="Noto Sans KR" pitchFamily="34" charset="-122"/>
                <a:cs typeface="Noto Sans KR" pitchFamily="34" charset="-120"/>
              </a:rPr>
              <a:t>예 — 외국어 메뉴 번역표</a:t>
            </a:r>
            <a:endParaRPr lang="en-US" sz="1268" dirty="0"/>
          </a:p>
        </p:txBody>
      </p:sp>
      <p:sp>
        <p:nvSpPr>
          <p:cNvPr id="13" name="Text 9"/>
          <p:cNvSpPr/>
          <p:nvPr/>
        </p:nvSpPr>
        <p:spPr>
          <a:xfrm>
            <a:off x="1117600" y="5097165"/>
            <a:ext cx="10307828" cy="567035"/>
          </a:xfrm>
          <a:prstGeom prst="rect">
            <a:avLst/>
          </a:prstGeom>
          <a:noFill/>
          <a:ln/>
        </p:spPr>
        <p:txBody>
          <a:bodyPr wrap="square" lIns="0" tIns="0" rIns="0" bIns="0" rtlCol="0" anchor="t">
            <a:normAutofit/>
          </a:bodyPr>
          <a:lstStyle/>
          <a:p>
            <a:pPr marL="0" indent="0" algn="l">
              <a:lnSpc>
                <a:spcPts val="2135"/>
              </a:lnSpc>
              <a:buNone/>
            </a:pPr>
            <a:r>
              <a:rPr lang="en-US" sz="1334" dirty="0">
                <a:solidFill>
                  <a:srgbClr val="2B3A33"/>
                </a:solidFill>
                <a:latin typeface="Noto Sans KR" pitchFamily="34" charset="0"/>
                <a:ea typeface="Noto Sans KR" pitchFamily="34" charset="-122"/>
                <a:cs typeface="Noto Sans KR" pitchFamily="34" charset="-120"/>
              </a:rPr>
              <a:t>식당 메뉴판에 '김치찌개 = Kimchi Stew'라고 대응표를 한 번 만들어 두면, 어느 지점에서든 같은 번역을 씁니다. 매핑표는 원천 데이터를 표준으로 옮기는 번역표입니다.</a:t>
            </a:r>
            <a:endParaRPr lang="en-US" sz="1334" dirty="0"/>
          </a:p>
        </p:txBody>
      </p:sp>
      <p:sp>
        <p:nvSpPr>
          <p:cNvPr id="14"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5" name="Text 1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21 / 60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6 · 데이터 품질</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좋은 데이터인지 여섯 가지 눈으로 봅니다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2701727"/>
        </p:xfrm>
        <a:graphic>
          <a:graphicData uri="http://schemas.openxmlformats.org/drawingml/2006/table">
            <a:tbl>
              <a:tblPr/>
              <a:tblGrid>
                <a:gridCol w="1688592">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품질 기준</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질문</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한빛유통에서 찾을 수 있는 예</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완전성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빠진 값은 없는가?</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이메일 칸이 비어 있는 고객</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유효성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정해진 모양과 목록을 지키는가?</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코드 목록에 없는 주문 상태 표기</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정확성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실제와 맞는가?</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배송비 합계가 부풀려진 보고서</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일관성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같은 것을 같게 적었는가?</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한 주문 안에서 고객번호가 서로 다른 줄</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유일성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하나여야 할 것이 하나인가?</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같은 주문번호 + 순번이 두 번 나오는 줄</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적시성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필요한 기간의 데이터인가?</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1~6월 파일에 섞인 7월 주문</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781947"/>
            <a:ext cx="10883392" cy="3098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5E6673"/>
                </a:solidFill>
                <a:latin typeface="Noto Sans KR" pitchFamily="34" charset="0"/>
                <a:ea typeface="Noto Sans KR" pitchFamily="34" charset="-122"/>
                <a:cs typeface="Noto Sans KR" pitchFamily="34" charset="-120"/>
              </a:rPr>
              <a:t>2일차에 여섯 가지를 배우고, 3일차에 한빛유통 데이터에서 직접 찾아냅니다.</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22 / 60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7 · 프로파일링</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데이터를 고치기 전에 먼저 건강검진을 합니다</a:t>
            </a:r>
            <a:endParaRPr lang="en-US" sz="3000" dirty="0"/>
          </a:p>
        </p:txBody>
      </p:sp>
      <p:sp>
        <p:nvSpPr>
          <p:cNvPr id="4" name="Shape 2"/>
          <p:cNvSpPr/>
          <p:nvPr/>
        </p:nvSpPr>
        <p:spPr>
          <a:xfrm>
            <a:off x="815975" y="1816695"/>
            <a:ext cx="2520950" cy="1294011"/>
          </a:xfrm>
          <a:prstGeom prst="roundRect">
            <a:avLst>
              <a:gd name="adj" fmla="val 7606"/>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몇 줄인가?</a:t>
            </a:r>
            <a:endParaRPr lang="en-US" sz="1200" dirty="0"/>
          </a:p>
        </p:txBody>
      </p:sp>
      <p:sp>
        <p:nvSpPr>
          <p:cNvPr id="6" name="Text 4"/>
          <p:cNvSpPr/>
          <p:nvPr/>
        </p:nvSpPr>
        <p:spPr>
          <a:xfrm>
            <a:off x="1047750" y="2350691"/>
            <a:ext cx="211912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행 수가 예상과 맞는지</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파일마다 몇 줄인지</a:t>
            </a:r>
            <a:endParaRPr lang="en-US" sz="1300" dirty="0"/>
          </a:p>
        </p:txBody>
      </p:sp>
      <p:sp>
        <p:nvSpPr>
          <p:cNvPr id="7" name="Shape 5"/>
          <p:cNvSpPr/>
          <p:nvPr/>
        </p:nvSpPr>
        <p:spPr>
          <a:xfrm>
            <a:off x="3495675" y="1816695"/>
            <a:ext cx="2520950" cy="1294011"/>
          </a:xfrm>
          <a:prstGeom prst="roundRect">
            <a:avLst>
              <a:gd name="adj" fmla="val 7606"/>
            </a:avLst>
          </a:prstGeom>
          <a:solidFill>
            <a:srgbClr val="FFFDF8"/>
          </a:solidFill>
          <a:ln w="6350">
            <a:solidFill>
              <a:srgbClr val="D9D4C7"/>
            </a:solidFill>
            <a:prstDash val="solid"/>
          </a:ln>
        </p:spPr>
        <p:txBody>
          <a:bodyPr/>
          <a:lstStyle/>
          <a:p>
            <a:endParaRPr lang="ko-KR" altLang="en-US"/>
          </a:p>
        </p:txBody>
      </p:sp>
      <p:sp>
        <p:nvSpPr>
          <p:cNvPr id="8" name="Text 6"/>
          <p:cNvSpPr/>
          <p:nvPr/>
        </p:nvSpPr>
        <p:spPr>
          <a:xfrm>
            <a:off x="37274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비어 있나?</a:t>
            </a:r>
            <a:endParaRPr lang="en-US" sz="1200" dirty="0"/>
          </a:p>
        </p:txBody>
      </p:sp>
      <p:sp>
        <p:nvSpPr>
          <p:cNvPr id="9" name="Text 7"/>
          <p:cNvSpPr/>
          <p:nvPr/>
        </p:nvSpPr>
        <p:spPr>
          <a:xfrm>
            <a:off x="3727450" y="2350691"/>
            <a:ext cx="211912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컬럼마다 빈 값이</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몇 개인지</a:t>
            </a:r>
            <a:endParaRPr lang="en-US" sz="1300" dirty="0"/>
          </a:p>
        </p:txBody>
      </p:sp>
      <p:sp>
        <p:nvSpPr>
          <p:cNvPr id="10" name="Shape 8"/>
          <p:cNvSpPr/>
          <p:nvPr/>
        </p:nvSpPr>
        <p:spPr>
          <a:xfrm>
            <a:off x="6175375" y="1816695"/>
            <a:ext cx="2520950" cy="1294011"/>
          </a:xfrm>
          <a:prstGeom prst="roundRect">
            <a:avLst>
              <a:gd name="adj" fmla="val 7606"/>
            </a:avLst>
          </a:prstGeom>
          <a:solidFill>
            <a:srgbClr val="FFFDF8"/>
          </a:solidFill>
          <a:ln w="6350">
            <a:solidFill>
              <a:srgbClr val="D9D4C7"/>
            </a:solidFill>
            <a:prstDash val="solid"/>
          </a:ln>
        </p:spPr>
        <p:txBody>
          <a:bodyPr/>
          <a:lstStyle/>
          <a:p>
            <a:endParaRPr lang="ko-KR" altLang="en-US"/>
          </a:p>
        </p:txBody>
      </p:sp>
      <p:sp>
        <p:nvSpPr>
          <p:cNvPr id="11" name="Text 9"/>
          <p:cNvSpPr/>
          <p:nvPr/>
        </p:nvSpPr>
        <p:spPr>
          <a:xfrm>
            <a:off x="64071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몇 종류인가?</a:t>
            </a:r>
            <a:endParaRPr lang="en-US" sz="1200" dirty="0"/>
          </a:p>
        </p:txBody>
      </p:sp>
      <p:sp>
        <p:nvSpPr>
          <p:cNvPr id="12" name="Text 10"/>
          <p:cNvSpPr/>
          <p:nvPr/>
        </p:nvSpPr>
        <p:spPr>
          <a:xfrm>
            <a:off x="6407150" y="2350691"/>
            <a:ext cx="211912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서로 다른 값이</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몇 가지인지</a:t>
            </a:r>
            <a:endParaRPr lang="en-US" sz="1300" dirty="0"/>
          </a:p>
        </p:txBody>
      </p:sp>
      <p:sp>
        <p:nvSpPr>
          <p:cNvPr id="13" name="Shape 11"/>
          <p:cNvSpPr/>
          <p:nvPr/>
        </p:nvSpPr>
        <p:spPr>
          <a:xfrm>
            <a:off x="8855075" y="1816695"/>
            <a:ext cx="2520950" cy="1294011"/>
          </a:xfrm>
          <a:prstGeom prst="roundRect">
            <a:avLst>
              <a:gd name="adj" fmla="val 7606"/>
            </a:avLst>
          </a:prstGeom>
          <a:solidFill>
            <a:srgbClr val="FFFDF8"/>
          </a:solidFill>
          <a:ln w="6350">
            <a:solidFill>
              <a:srgbClr val="D9D4C7"/>
            </a:solidFill>
            <a:prstDash val="solid"/>
          </a:ln>
        </p:spPr>
        <p:txBody>
          <a:bodyPr/>
          <a:lstStyle/>
          <a:p>
            <a:endParaRPr lang="ko-KR" altLang="en-US"/>
          </a:p>
        </p:txBody>
      </p:sp>
      <p:sp>
        <p:nvSpPr>
          <p:cNvPr id="14" name="Text 12"/>
          <p:cNvSpPr/>
          <p:nvPr/>
        </p:nvSpPr>
        <p:spPr>
          <a:xfrm>
            <a:off x="90868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어떤 모양인가?</a:t>
            </a:r>
            <a:endParaRPr lang="en-US" sz="1200" dirty="0"/>
          </a:p>
        </p:txBody>
      </p:sp>
      <p:sp>
        <p:nvSpPr>
          <p:cNvPr id="15" name="Text 13"/>
          <p:cNvSpPr/>
          <p:nvPr/>
        </p:nvSpPr>
        <p:spPr>
          <a:xfrm>
            <a:off x="9086850" y="2350691"/>
            <a:ext cx="211912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날짜·금액이 어떤</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형식으로 적혔는지</a:t>
            </a:r>
            <a:endParaRPr lang="en-US" sz="1300" dirty="0"/>
          </a:p>
        </p:txBody>
      </p:sp>
      <p:sp>
        <p:nvSpPr>
          <p:cNvPr id="16" name="Shape 14"/>
          <p:cNvSpPr/>
          <p:nvPr/>
        </p:nvSpPr>
        <p:spPr>
          <a:xfrm>
            <a:off x="812800" y="3367881"/>
            <a:ext cx="10566400" cy="1219101"/>
          </a:xfrm>
          <a:prstGeom prst="roundRect">
            <a:avLst>
              <a:gd name="adj" fmla="val 6251"/>
            </a:avLst>
          </a:prstGeom>
          <a:solidFill>
            <a:srgbClr val="F8EBDD"/>
          </a:solidFill>
          <a:ln/>
        </p:spPr>
        <p:txBody>
          <a:bodyPr/>
          <a:lstStyle/>
          <a:p>
            <a:endParaRPr lang="ko-KR" altLang="en-US"/>
          </a:p>
        </p:txBody>
      </p:sp>
      <p:sp>
        <p:nvSpPr>
          <p:cNvPr id="17" name="Shape 15"/>
          <p:cNvSpPr/>
          <p:nvPr/>
        </p:nvSpPr>
        <p:spPr>
          <a:xfrm>
            <a:off x="812800" y="3367881"/>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A94E12"/>
          </a:solidFill>
          <a:ln/>
        </p:spPr>
        <p:txBody>
          <a:bodyPr/>
          <a:lstStyle/>
          <a:p>
            <a:endParaRPr lang="ko-KR" altLang="en-US"/>
          </a:p>
        </p:txBody>
      </p:sp>
      <p:sp>
        <p:nvSpPr>
          <p:cNvPr id="18" name="Text 16"/>
          <p:cNvSpPr/>
          <p:nvPr/>
        </p:nvSpPr>
        <p:spPr>
          <a:xfrm>
            <a:off x="1092200" y="3545681"/>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4E12"/>
                </a:solidFill>
                <a:latin typeface="Noto Sans KR" pitchFamily="34" charset="0"/>
                <a:ea typeface="Noto Sans KR" pitchFamily="34" charset="-122"/>
                <a:cs typeface="Noto Sans KR" pitchFamily="34" charset="-120"/>
              </a:rPr>
              <a:t>왜 먼저 할까?</a:t>
            </a:r>
            <a:endParaRPr lang="en-US" sz="1300" dirty="0"/>
          </a:p>
        </p:txBody>
      </p:sp>
      <p:sp>
        <p:nvSpPr>
          <p:cNvPr id="19" name="Text 17"/>
          <p:cNvSpPr/>
          <p:nvPr/>
        </p:nvSpPr>
        <p:spPr>
          <a:xfrm>
            <a:off x="1092200" y="384026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어디가 아픈지 모르고 약을 먹을 수는 없습니다. 무엇이 문제인지 숫자로 확인한 뒤에야 어떻게 고칠지 정할 수 있습니다. 3일차에 </a:t>
            </a:r>
            <a:r>
              <a:rPr lang="en-US" sz="1400" b="1" dirty="0">
                <a:solidFill>
                  <a:srgbClr val="3D4757"/>
                </a:solidFill>
                <a:latin typeface="Noto Sans KR" pitchFamily="34" charset="0"/>
                <a:ea typeface="Noto Sans KR" pitchFamily="34" charset="-122"/>
                <a:cs typeface="Noto Sans KR" pitchFamily="34" charset="-120"/>
              </a:rPr>
              <a:t>profile_data.py</a:t>
            </a:r>
            <a:r>
              <a:rPr lang="en-US" sz="1400" dirty="0">
                <a:solidFill>
                  <a:srgbClr val="3D4757"/>
                </a:solidFill>
                <a:latin typeface="Noto Sans KR" pitchFamily="34" charset="0"/>
                <a:ea typeface="Noto Sans KR" pitchFamily="34" charset="-122"/>
                <a:cs typeface="Noto Sans KR" pitchFamily="34" charset="-120"/>
              </a:rPr>
              <a:t>로 직접 검진하고 </a:t>
            </a:r>
            <a:r>
              <a:rPr lang="en-US" sz="1400" b="1" dirty="0">
                <a:solidFill>
                  <a:srgbClr val="3D4757"/>
                </a:solidFill>
                <a:latin typeface="Noto Sans KR" pitchFamily="34" charset="0"/>
                <a:ea typeface="Noto Sans KR" pitchFamily="34" charset="-122"/>
                <a:cs typeface="Noto Sans KR" pitchFamily="34" charset="-120"/>
              </a:rPr>
              <a:t>AS-IS 품질보고서</a:t>
            </a:r>
            <a:r>
              <a:rPr lang="en-US" sz="1400" dirty="0">
                <a:solidFill>
                  <a:srgbClr val="3D4757"/>
                </a:solidFill>
                <a:latin typeface="Noto Sans KR" pitchFamily="34" charset="0"/>
                <a:ea typeface="Noto Sans KR" pitchFamily="34" charset="-122"/>
                <a:cs typeface="Noto Sans KR" pitchFamily="34" charset="-120"/>
              </a:rPr>
              <a:t>를 씁니다.</a:t>
            </a:r>
            <a:endParaRPr lang="en-US" sz="1400" dirty="0"/>
          </a:p>
        </p:txBody>
      </p:sp>
      <p:sp>
        <p:nvSpPr>
          <p:cNvPr id="20" name="Shape 18"/>
          <p:cNvSpPr/>
          <p:nvPr/>
        </p:nvSpPr>
        <p:spPr>
          <a:xfrm>
            <a:off x="812800" y="4840982"/>
            <a:ext cx="10566400" cy="998141"/>
          </a:xfrm>
          <a:prstGeom prst="roundRect">
            <a:avLst>
              <a:gd name="adj" fmla="val 7634"/>
            </a:avLst>
          </a:prstGeom>
          <a:solidFill>
            <a:srgbClr val="E3EFE7"/>
          </a:solidFill>
          <a:ln/>
        </p:spPr>
        <p:txBody>
          <a:bodyPr/>
          <a:lstStyle/>
          <a:p>
            <a:endParaRPr lang="ko-KR" altLang="en-US"/>
          </a:p>
        </p:txBody>
      </p:sp>
      <p:sp>
        <p:nvSpPr>
          <p:cNvPr id="21" name="Shape 19"/>
          <p:cNvSpPr/>
          <p:nvPr/>
        </p:nvSpPr>
        <p:spPr>
          <a:xfrm>
            <a:off x="812800" y="4840982"/>
            <a:ext cx="10566400" cy="998141"/>
          </a:xfrm>
          <a:custGeom>
            <a:avLst/>
            <a:gdLst/>
            <a:ahLst/>
            <a:cxnLst/>
            <a:rect l="l" t="t" r="r" b="b"/>
            <a:pathLst>
              <a:path w="10566400" h="998141">
                <a:moveTo>
                  <a:pt x="76200" y="998141"/>
                </a:moveTo>
                <a:lnTo>
                  <a:pt x="76200" y="998141"/>
                </a:lnTo>
                <a:arcTo wR="76200" hR="76200" stAng="5400000" swAng="5400000"/>
                <a:lnTo>
                  <a:pt x="0" y="76200"/>
                </a:lnTo>
                <a:arcTo wR="76200" hR="76200" stAng="10800000" swAng="5400000"/>
                <a:lnTo>
                  <a:pt x="76200" y="0"/>
                </a:lnTo>
                <a:arcTo wR="25400" hR="76200" stAng="16200000" swAng="-5400000"/>
                <a:lnTo>
                  <a:pt x="50800" y="921941"/>
                </a:lnTo>
                <a:arcTo wR="25400" hR="76200" stAng="10800000" swAng="-5400000"/>
                <a:close/>
              </a:path>
            </a:pathLst>
          </a:custGeom>
          <a:solidFill>
            <a:srgbClr val="2E6B4F"/>
          </a:solidFill>
          <a:ln/>
        </p:spPr>
        <p:txBody>
          <a:bodyPr/>
          <a:lstStyle/>
          <a:p>
            <a:endParaRPr lang="ko-KR" altLang="en-US"/>
          </a:p>
        </p:txBody>
      </p:sp>
      <p:sp>
        <p:nvSpPr>
          <p:cNvPr id="22" name="Text 20"/>
          <p:cNvSpPr/>
          <p:nvPr/>
        </p:nvSpPr>
        <p:spPr>
          <a:xfrm>
            <a:off x="1117600" y="5044182"/>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건강검진표</a:t>
            </a:r>
            <a:endParaRPr lang="en-US" sz="1300" dirty="0"/>
          </a:p>
        </p:txBody>
      </p:sp>
      <p:sp>
        <p:nvSpPr>
          <p:cNvPr id="23" name="Text 21"/>
          <p:cNvSpPr/>
          <p:nvPr/>
        </p:nvSpPr>
        <p:spPr>
          <a:xfrm>
            <a:off x="1117600" y="5351463"/>
            <a:ext cx="10307828" cy="3098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키·몸무게·혈압·혈당을 먼저 재고 나서 의사가 처방을 내립니다. 프로파일링 결과는 데이터의 건강검진표입니다.</a:t>
            </a:r>
            <a:endParaRPr lang="en-US" sz="14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23 / 60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8 · 변환 규칙</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무엇을, 어떤 조건에서, 어떻게 바꾸는지 적어 둔 규칙서</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1437084"/>
        </p:xfrm>
        <a:graphic>
          <a:graphicData uri="http://schemas.openxmlformats.org/drawingml/2006/table">
            <a:tbl>
              <a:tblPr/>
              <a:tblGrid>
                <a:gridCol w="1688592">
                  <a:extLst>
                    <a:ext uri="{9D8B030D-6E8A-4147-A177-3AD203B41FA5}">
                      <a16:colId xmlns:a16="http://schemas.microsoft.com/office/drawing/2014/main" val="20000"/>
                    </a:ext>
                  </a:extLst>
                </a:gridCol>
                <a:gridCol w="3377184">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규칙 번호</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조건 (언제)</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처리 (어떻게)</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근거 (왜)</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R-예시1</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날짜가 여러 모양으로 적혀 있으면</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하나의 날짜 형식으로 바꾼다</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 도메인 '일자'</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R-예시2</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주문 상태가 매핑표에 있으면</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 코드로 바꾼다</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 코드 · 코드 매핑표</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R-예시3</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어떤 규칙으로도 판단할 수 없으면</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지우지 않고 격리한다</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판단 보류 원칙</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5" name="Text 2"/>
          <p:cNvSpPr/>
          <p:nvPr/>
        </p:nvSpPr>
        <p:spPr>
          <a:xfrm>
            <a:off x="812800" y="3517305"/>
            <a:ext cx="10883392"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5E6673"/>
                </a:solidFill>
                <a:latin typeface="Noto Sans KR" pitchFamily="34" charset="0"/>
                <a:ea typeface="Noto Sans KR" pitchFamily="34" charset="-122"/>
                <a:cs typeface="Noto Sans KR" pitchFamily="34" charset="-120"/>
              </a:rPr>
              <a:t>위 규칙은 설명용 예시입니다. 실제 규칙은 3일차에 여러분이 </a:t>
            </a:r>
            <a:r>
              <a:rPr lang="en-US" sz="1300" b="1" dirty="0">
                <a:solidFill>
                  <a:srgbClr val="5E6673"/>
                </a:solidFill>
                <a:latin typeface="Noto Sans KR" pitchFamily="34" charset="0"/>
                <a:ea typeface="Noto Sans KR" pitchFamily="34" charset="-122"/>
                <a:cs typeface="Noto Sans KR" pitchFamily="34" charset="-120"/>
              </a:rPr>
              <a:t>변환규칙정의서</a:t>
            </a:r>
            <a:r>
              <a:rPr lang="en-US" sz="1300" dirty="0">
                <a:solidFill>
                  <a:srgbClr val="5E6673"/>
                </a:solidFill>
                <a:latin typeface="Noto Sans KR" pitchFamily="34" charset="0"/>
                <a:ea typeface="Noto Sans KR" pitchFamily="34" charset="-122"/>
                <a:cs typeface="Noto Sans KR" pitchFamily="34" charset="-120"/>
              </a:rPr>
              <a:t>에 직접 씁니다.</a:t>
            </a:r>
            <a:endParaRPr lang="en-US" sz="1300" dirty="0"/>
          </a:p>
        </p:txBody>
      </p:sp>
      <p:sp>
        <p:nvSpPr>
          <p:cNvPr id="6" name="Shape 3"/>
          <p:cNvSpPr/>
          <p:nvPr/>
        </p:nvSpPr>
        <p:spPr>
          <a:xfrm>
            <a:off x="812800" y="4035425"/>
            <a:ext cx="10566400" cy="1282601"/>
          </a:xfrm>
          <a:prstGeom prst="roundRect">
            <a:avLst>
              <a:gd name="adj" fmla="val 5941"/>
            </a:avLst>
          </a:prstGeom>
          <a:solidFill>
            <a:srgbClr val="E3EFE7"/>
          </a:solidFill>
          <a:ln/>
        </p:spPr>
        <p:txBody>
          <a:bodyPr/>
          <a:lstStyle/>
          <a:p>
            <a:endParaRPr lang="ko-KR" altLang="en-US"/>
          </a:p>
        </p:txBody>
      </p:sp>
      <p:sp>
        <p:nvSpPr>
          <p:cNvPr id="7" name="Shape 4"/>
          <p:cNvSpPr/>
          <p:nvPr/>
        </p:nvSpPr>
        <p:spPr>
          <a:xfrm>
            <a:off x="812800" y="4035425"/>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8" name="Text 5"/>
          <p:cNvSpPr/>
          <p:nvPr/>
        </p:nvSpPr>
        <p:spPr>
          <a:xfrm>
            <a:off x="1117600" y="4238625"/>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요리 레시피</a:t>
            </a:r>
            <a:endParaRPr lang="en-US" sz="1300" dirty="0"/>
          </a:p>
        </p:txBody>
      </p:sp>
      <p:sp>
        <p:nvSpPr>
          <p:cNvPr id="9" name="Text 6"/>
          <p:cNvSpPr/>
          <p:nvPr/>
        </p:nvSpPr>
        <p:spPr>
          <a:xfrm>
            <a:off x="1117600" y="4545905"/>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'고기가 두꺼우면 칼집을 넣고, 얇으면 그대로 굽는다. 이유는 속까지 익히기 위해서.' 조건·처리·이유가 적혀 있으면 누가 요리해도 같은 결과가 나옵니다.</a:t>
            </a:r>
            <a:endParaRPr lang="en-US" sz="14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24 / 60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9 · 네 가지 분류</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모든 행은 네 가지 중 하나로 분류됩니다</a:t>
            </a:r>
            <a:endParaRPr lang="en-US" sz="3000" dirty="0"/>
          </a:p>
        </p:txBody>
      </p:sp>
      <p:sp>
        <p:nvSpPr>
          <p:cNvPr id="4" name="Shape 2"/>
          <p:cNvSpPr/>
          <p:nvPr/>
        </p:nvSpPr>
        <p:spPr>
          <a:xfrm>
            <a:off x="815975" y="1816695"/>
            <a:ext cx="2520950" cy="2241352"/>
          </a:xfrm>
          <a:prstGeom prst="roundRect">
            <a:avLst>
              <a:gd name="adj" fmla="val 4391"/>
            </a:avLst>
          </a:prstGeom>
          <a:solidFill>
            <a:srgbClr val="EEF3FA"/>
          </a:solidFill>
          <a:ln w="6350">
            <a:solidFill>
              <a:srgbClr val="D9D4C7"/>
            </a:solidFill>
            <a:prstDash val="solid"/>
          </a:ln>
        </p:spPr>
        <p:txBody>
          <a:bodyPr/>
          <a:lstStyle/>
          <a:p>
            <a:endParaRPr lang="ko-KR" altLang="en-US"/>
          </a:p>
        </p:txBody>
      </p:sp>
      <p:sp>
        <p:nvSpPr>
          <p:cNvPr id="5" name="Text 3"/>
          <p:cNvSpPr/>
          <p:nvPr/>
        </p:nvSpPr>
        <p:spPr>
          <a:xfrm>
            <a:off x="10477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정상</a:t>
            </a:r>
            <a:endParaRPr lang="en-US" sz="1200" dirty="0"/>
          </a:p>
        </p:txBody>
      </p:sp>
      <p:sp>
        <p:nvSpPr>
          <p:cNvPr id="6" name="Text 4"/>
          <p:cNvSpPr/>
          <p:nvPr/>
        </p:nvSpPr>
        <p:spPr>
          <a:xfrm>
            <a:off x="10477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그대로 쓴다</a:t>
            </a:r>
            <a:endParaRPr lang="en-US" sz="1800" dirty="0"/>
          </a:p>
        </p:txBody>
      </p:sp>
      <p:sp>
        <p:nvSpPr>
          <p:cNvPr id="7" name="Text 5"/>
          <p:cNvSpPr/>
          <p:nvPr/>
        </p:nvSpPr>
        <p:spPr>
          <a:xfrm>
            <a:off x="1047750" y="2736751"/>
            <a:ext cx="2119122"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규칙을 거쳐 표준 모양이 된 행</a:t>
            </a:r>
            <a:endParaRPr lang="en-US" sz="1300" dirty="0"/>
          </a:p>
        </p:txBody>
      </p:sp>
      <p:sp>
        <p:nvSpPr>
          <p:cNvPr id="8" name="Shape 6"/>
          <p:cNvSpPr/>
          <p:nvPr/>
        </p:nvSpPr>
        <p:spPr>
          <a:xfrm>
            <a:off x="3495675" y="1816695"/>
            <a:ext cx="2520950" cy="2241352"/>
          </a:xfrm>
          <a:prstGeom prst="roundRect">
            <a:avLst>
              <a:gd name="adj" fmla="val 4391"/>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37274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673"/>
                </a:solidFill>
                <a:latin typeface="Noto Sans KR" pitchFamily="34" charset="0"/>
                <a:ea typeface="Noto Sans KR" pitchFamily="34" charset="-122"/>
                <a:cs typeface="Noto Sans KR" pitchFamily="34" charset="-120"/>
              </a:rPr>
              <a:t>제거</a:t>
            </a:r>
            <a:endParaRPr lang="en-US" sz="1200" dirty="0"/>
          </a:p>
        </p:txBody>
      </p:sp>
      <p:sp>
        <p:nvSpPr>
          <p:cNvPr id="10" name="Text 8"/>
          <p:cNvSpPr/>
          <p:nvPr/>
        </p:nvSpPr>
        <p:spPr>
          <a:xfrm>
            <a:off x="3727450" y="2350691"/>
            <a:ext cx="2119122"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없애도 정보가 줄지 않는다</a:t>
            </a:r>
            <a:endParaRPr lang="en-US" sz="1800" dirty="0"/>
          </a:p>
        </p:txBody>
      </p:sp>
      <p:sp>
        <p:nvSpPr>
          <p:cNvPr id="11" name="Text 9"/>
          <p:cNvSpPr/>
          <p:nvPr/>
        </p:nvSpPr>
        <p:spPr>
          <a:xfrm>
            <a:off x="3727450" y="303391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완전히 똑같은 줄이 두 번 있는 경우처럼 지워도 잃는 게 없는 행</a:t>
            </a:r>
            <a:endParaRPr lang="en-US" sz="1300" dirty="0"/>
          </a:p>
        </p:txBody>
      </p:sp>
      <p:sp>
        <p:nvSpPr>
          <p:cNvPr id="12" name="Shape 10"/>
          <p:cNvSpPr/>
          <p:nvPr/>
        </p:nvSpPr>
        <p:spPr>
          <a:xfrm>
            <a:off x="6175375" y="1816695"/>
            <a:ext cx="2520950" cy="2241352"/>
          </a:xfrm>
          <a:prstGeom prst="roundRect">
            <a:avLst>
              <a:gd name="adj" fmla="val 4391"/>
            </a:avLst>
          </a:prstGeom>
          <a:solidFill>
            <a:srgbClr val="FBF1E7"/>
          </a:solidFill>
          <a:ln w="6350">
            <a:solidFill>
              <a:srgbClr val="D9D4C7"/>
            </a:solidFill>
            <a:prstDash val="solid"/>
          </a:ln>
        </p:spPr>
        <p:txBody>
          <a:bodyPr/>
          <a:lstStyle/>
          <a:p>
            <a:endParaRPr lang="ko-KR" altLang="en-US"/>
          </a:p>
        </p:txBody>
      </p:sp>
      <p:sp>
        <p:nvSpPr>
          <p:cNvPr id="13" name="Text 11"/>
          <p:cNvSpPr/>
          <p:nvPr/>
        </p:nvSpPr>
        <p:spPr>
          <a:xfrm>
            <a:off x="64071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제외</a:t>
            </a:r>
            <a:endParaRPr lang="en-US" sz="1200" dirty="0"/>
          </a:p>
        </p:txBody>
      </p:sp>
      <p:sp>
        <p:nvSpPr>
          <p:cNvPr id="14" name="Text 12"/>
          <p:cNvSpPr/>
          <p:nvPr/>
        </p:nvSpPr>
        <p:spPr>
          <a:xfrm>
            <a:off x="6407150" y="2350691"/>
            <a:ext cx="2119122"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판단이 끝났고, 분석 대상이 아니다</a:t>
            </a:r>
            <a:endParaRPr lang="en-US" sz="1800" dirty="0"/>
          </a:p>
        </p:txBody>
      </p:sp>
      <p:sp>
        <p:nvSpPr>
          <p:cNvPr id="15" name="Text 13"/>
          <p:cNvSpPr/>
          <p:nvPr/>
        </p:nvSpPr>
        <p:spPr>
          <a:xfrm>
            <a:off x="6407150" y="3033911"/>
            <a:ext cx="211912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비회원 주문, 탈퇴 회원처럼 정책상 빼기로 정한 행</a:t>
            </a:r>
            <a:endParaRPr lang="en-US" sz="1300" dirty="0"/>
          </a:p>
        </p:txBody>
      </p:sp>
      <p:sp>
        <p:nvSpPr>
          <p:cNvPr id="16" name="Shape 14"/>
          <p:cNvSpPr/>
          <p:nvPr/>
        </p:nvSpPr>
        <p:spPr>
          <a:xfrm>
            <a:off x="8855075" y="1816695"/>
            <a:ext cx="2520950" cy="2241352"/>
          </a:xfrm>
          <a:prstGeom prst="roundRect">
            <a:avLst>
              <a:gd name="adj" fmla="val 4391"/>
            </a:avLst>
          </a:prstGeom>
          <a:solidFill>
            <a:srgbClr val="FBECE9"/>
          </a:solidFill>
          <a:ln w="6350">
            <a:solidFill>
              <a:srgbClr val="D9D4C7"/>
            </a:solidFill>
            <a:prstDash val="solid"/>
          </a:ln>
        </p:spPr>
        <p:txBody>
          <a:bodyPr/>
          <a:lstStyle/>
          <a:p>
            <a:endParaRPr lang="ko-KR" altLang="en-US"/>
          </a:p>
        </p:txBody>
      </p:sp>
      <p:sp>
        <p:nvSpPr>
          <p:cNvPr id="17" name="Text 15"/>
          <p:cNvSpPr/>
          <p:nvPr/>
        </p:nvSpPr>
        <p:spPr>
          <a:xfrm>
            <a:off x="90868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231B"/>
                </a:solidFill>
                <a:latin typeface="Noto Sans KR" pitchFamily="34" charset="0"/>
                <a:ea typeface="Noto Sans KR" pitchFamily="34" charset="-122"/>
                <a:cs typeface="Noto Sans KR" pitchFamily="34" charset="-120"/>
              </a:rPr>
              <a:t>격리</a:t>
            </a:r>
            <a:endParaRPr lang="en-US" sz="1200" dirty="0"/>
          </a:p>
        </p:txBody>
      </p:sp>
      <p:sp>
        <p:nvSpPr>
          <p:cNvPr id="18" name="Text 16"/>
          <p:cNvSpPr/>
          <p:nvPr/>
        </p:nvSpPr>
        <p:spPr>
          <a:xfrm>
            <a:off x="90868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지금은 판단할 수 없다</a:t>
            </a:r>
            <a:endParaRPr lang="en-US" sz="1800" dirty="0"/>
          </a:p>
        </p:txBody>
      </p:sp>
      <p:sp>
        <p:nvSpPr>
          <p:cNvPr id="19" name="Text 17"/>
          <p:cNvSpPr/>
          <p:nvPr/>
        </p:nvSpPr>
        <p:spPr>
          <a:xfrm>
            <a:off x="90868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지우지 않고 따로 보관하고, 왜 판단할 수 없는지 근거를 남기는 행</a:t>
            </a:r>
            <a:endParaRPr lang="en-US" sz="1300" dirty="0"/>
          </a:p>
        </p:txBody>
      </p:sp>
      <p:sp>
        <p:nvSpPr>
          <p:cNvPr id="20" name="Shape 18"/>
          <p:cNvSpPr/>
          <p:nvPr/>
        </p:nvSpPr>
        <p:spPr>
          <a:xfrm>
            <a:off x="812800" y="4315222"/>
            <a:ext cx="10566400" cy="1219101"/>
          </a:xfrm>
          <a:prstGeom prst="roundRect">
            <a:avLst>
              <a:gd name="adj" fmla="val 6251"/>
            </a:avLst>
          </a:prstGeom>
          <a:solidFill>
            <a:srgbClr val="E4ECF7"/>
          </a:solidFill>
          <a:ln/>
        </p:spPr>
        <p:txBody>
          <a:bodyPr/>
          <a:lstStyle/>
          <a:p>
            <a:endParaRPr lang="ko-KR" altLang="en-US"/>
          </a:p>
        </p:txBody>
      </p:sp>
      <p:sp>
        <p:nvSpPr>
          <p:cNvPr id="21" name="Shape 19"/>
          <p:cNvSpPr/>
          <p:nvPr/>
        </p:nvSpPr>
        <p:spPr>
          <a:xfrm>
            <a:off x="812800" y="431522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22" name="Text 20"/>
          <p:cNvSpPr/>
          <p:nvPr/>
        </p:nvSpPr>
        <p:spPr>
          <a:xfrm>
            <a:off x="1092200" y="449302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제외와 격리는 다릅니다</a:t>
            </a:r>
            <a:endParaRPr lang="en-US" sz="1300" dirty="0"/>
          </a:p>
        </p:txBody>
      </p:sp>
      <p:sp>
        <p:nvSpPr>
          <p:cNvPr id="23" name="Text 21"/>
          <p:cNvSpPr/>
          <p:nvPr/>
        </p:nvSpPr>
        <p:spPr>
          <a:xfrm>
            <a:off x="1092200" y="478760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3D4757"/>
                </a:solidFill>
                <a:latin typeface="Noto Sans KR" pitchFamily="34" charset="0"/>
                <a:ea typeface="Noto Sans KR" pitchFamily="34" charset="-122"/>
                <a:cs typeface="Noto Sans KR" pitchFamily="34" charset="-120"/>
              </a:rPr>
              <a:t>제외</a:t>
            </a:r>
            <a:r>
              <a:rPr lang="en-US" sz="1400" dirty="0">
                <a:solidFill>
                  <a:srgbClr val="3D4757"/>
                </a:solidFill>
                <a:latin typeface="Noto Sans KR" pitchFamily="34" charset="0"/>
                <a:ea typeface="Noto Sans KR" pitchFamily="34" charset="-122"/>
                <a:cs typeface="Noto Sans KR" pitchFamily="34" charset="-120"/>
              </a:rPr>
              <a:t>는 '판단 완료' — 우리 기준으로 빼기로 결정했습니다.</a:t>
            </a:r>
            <a:endParaRPr lang="en-US" sz="1400" dirty="0"/>
          </a:p>
          <a:p>
            <a:pPr marL="0" indent="0" algn="l">
              <a:lnSpc>
                <a:spcPts val="2240"/>
              </a:lnSpc>
              <a:buNone/>
            </a:pPr>
            <a:r>
              <a:rPr lang="en-US" sz="1400" b="1" dirty="0">
                <a:solidFill>
                  <a:srgbClr val="3D4757"/>
                </a:solidFill>
                <a:latin typeface="Noto Sans KR" pitchFamily="34" charset="0"/>
                <a:ea typeface="Noto Sans KR" pitchFamily="34" charset="-122"/>
                <a:cs typeface="Noto Sans KR" pitchFamily="34" charset="-120"/>
              </a:rPr>
              <a:t>격리</a:t>
            </a:r>
            <a:r>
              <a:rPr lang="en-US" sz="1400" dirty="0">
                <a:solidFill>
                  <a:srgbClr val="3D4757"/>
                </a:solidFill>
                <a:latin typeface="Noto Sans KR" pitchFamily="34" charset="0"/>
                <a:ea typeface="Noto Sans KR" pitchFamily="34" charset="-122"/>
                <a:cs typeface="Noto Sans KR" pitchFamily="34" charset="-120"/>
              </a:rPr>
              <a:t>는 '판단 보류' — 정보가 모자라 결정할 수 없어서 따로 모아 둡니다.</a:t>
            </a:r>
            <a:endParaRPr lang="en-US" sz="14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25 / 60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네 가지 분류 · 실제 숫자</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주문 파일 3,952행이 이렇게 나뉩니다</a:t>
            </a:r>
            <a:endParaRPr lang="en-US" sz="3000" dirty="0"/>
          </a:p>
        </p:txBody>
      </p:sp>
      <p:sp>
        <p:nvSpPr>
          <p:cNvPr id="4" name="Text 2"/>
          <p:cNvSpPr/>
          <p:nvPr/>
        </p:nvSpPr>
        <p:spPr>
          <a:xfrm>
            <a:off x="8128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458A6"/>
                </a:solidFill>
                <a:latin typeface="Noto Sans KR" pitchFamily="34" charset="0"/>
                <a:ea typeface="Noto Sans KR" pitchFamily="34" charset="-122"/>
                <a:cs typeface="Noto Sans KR" pitchFamily="34" charset="-120"/>
              </a:rPr>
              <a:t>2,915</a:t>
            </a:r>
            <a:endParaRPr lang="en-US" sz="4400" dirty="0"/>
          </a:p>
        </p:txBody>
      </p:sp>
      <p:sp>
        <p:nvSpPr>
          <p:cNvPr id="5" name="Text 3"/>
          <p:cNvSpPr/>
          <p:nvPr/>
        </p:nvSpPr>
        <p:spPr>
          <a:xfrm>
            <a:off x="8128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정상</a:t>
            </a:r>
            <a:endParaRPr lang="en-US" sz="1500" dirty="0"/>
          </a:p>
        </p:txBody>
      </p:sp>
      <p:sp>
        <p:nvSpPr>
          <p:cNvPr id="6" name="Text 4"/>
          <p:cNvSpPr/>
          <p:nvPr/>
        </p:nvSpPr>
        <p:spPr>
          <a:xfrm>
            <a:off x="8128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표준으로 바뀌어 적재됨</a:t>
            </a:r>
            <a:endParaRPr lang="en-US" sz="1200" dirty="0"/>
          </a:p>
        </p:txBody>
      </p:sp>
      <p:sp>
        <p:nvSpPr>
          <p:cNvPr id="7" name="Text 5"/>
          <p:cNvSpPr/>
          <p:nvPr/>
        </p:nvSpPr>
        <p:spPr>
          <a:xfrm>
            <a:off x="34925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5E6673"/>
                </a:solidFill>
                <a:latin typeface="Noto Sans KR" pitchFamily="34" charset="0"/>
                <a:ea typeface="Noto Sans KR" pitchFamily="34" charset="-122"/>
                <a:cs typeface="Noto Sans KR" pitchFamily="34" charset="-120"/>
              </a:rPr>
              <a:t>20</a:t>
            </a:r>
            <a:endParaRPr lang="en-US" sz="4400" dirty="0"/>
          </a:p>
        </p:txBody>
      </p:sp>
      <p:sp>
        <p:nvSpPr>
          <p:cNvPr id="8" name="Text 6"/>
          <p:cNvSpPr/>
          <p:nvPr/>
        </p:nvSpPr>
        <p:spPr>
          <a:xfrm>
            <a:off x="34925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제거</a:t>
            </a:r>
            <a:endParaRPr lang="en-US" sz="1500" dirty="0"/>
          </a:p>
        </p:txBody>
      </p:sp>
      <p:sp>
        <p:nvSpPr>
          <p:cNvPr id="9" name="Text 7"/>
          <p:cNvSpPr/>
          <p:nvPr/>
        </p:nvSpPr>
        <p:spPr>
          <a:xfrm>
            <a:off x="34925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지워도 잃는 것 없음</a:t>
            </a:r>
            <a:endParaRPr lang="en-US" sz="1200" dirty="0"/>
          </a:p>
        </p:txBody>
      </p:sp>
      <p:sp>
        <p:nvSpPr>
          <p:cNvPr id="10" name="Text 8"/>
          <p:cNvSpPr/>
          <p:nvPr/>
        </p:nvSpPr>
        <p:spPr>
          <a:xfrm>
            <a:off x="61722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94E12"/>
                </a:solidFill>
                <a:latin typeface="Noto Sans KR" pitchFamily="34" charset="0"/>
                <a:ea typeface="Noto Sans KR" pitchFamily="34" charset="-122"/>
                <a:cs typeface="Noto Sans KR" pitchFamily="34" charset="-120"/>
              </a:rPr>
              <a:t>899</a:t>
            </a:r>
            <a:endParaRPr lang="en-US" sz="4400" dirty="0"/>
          </a:p>
        </p:txBody>
      </p:sp>
      <p:sp>
        <p:nvSpPr>
          <p:cNvPr id="11" name="Text 9"/>
          <p:cNvSpPr/>
          <p:nvPr/>
        </p:nvSpPr>
        <p:spPr>
          <a:xfrm>
            <a:off x="61722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제외</a:t>
            </a:r>
            <a:endParaRPr lang="en-US" sz="1500" dirty="0"/>
          </a:p>
        </p:txBody>
      </p:sp>
      <p:sp>
        <p:nvSpPr>
          <p:cNvPr id="12" name="Text 10"/>
          <p:cNvSpPr/>
          <p:nvPr/>
        </p:nvSpPr>
        <p:spPr>
          <a:xfrm>
            <a:off x="61722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정책상 분석 대상 아님</a:t>
            </a:r>
            <a:endParaRPr lang="en-US" sz="1200" dirty="0"/>
          </a:p>
        </p:txBody>
      </p:sp>
      <p:sp>
        <p:nvSpPr>
          <p:cNvPr id="13" name="Text 11"/>
          <p:cNvSpPr/>
          <p:nvPr/>
        </p:nvSpPr>
        <p:spPr>
          <a:xfrm>
            <a:off x="88519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3231B"/>
                </a:solidFill>
                <a:latin typeface="Noto Sans KR" pitchFamily="34" charset="0"/>
                <a:ea typeface="Noto Sans KR" pitchFamily="34" charset="-122"/>
                <a:cs typeface="Noto Sans KR" pitchFamily="34" charset="-120"/>
              </a:rPr>
              <a:t>118</a:t>
            </a:r>
            <a:endParaRPr lang="en-US" sz="4400" dirty="0"/>
          </a:p>
        </p:txBody>
      </p:sp>
      <p:sp>
        <p:nvSpPr>
          <p:cNvPr id="14" name="Text 12"/>
          <p:cNvSpPr/>
          <p:nvPr/>
        </p:nvSpPr>
        <p:spPr>
          <a:xfrm>
            <a:off x="88519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격리</a:t>
            </a:r>
            <a:endParaRPr lang="en-US" sz="1500" dirty="0"/>
          </a:p>
        </p:txBody>
      </p:sp>
      <p:sp>
        <p:nvSpPr>
          <p:cNvPr id="15" name="Text 13"/>
          <p:cNvSpPr/>
          <p:nvPr/>
        </p:nvSpPr>
        <p:spPr>
          <a:xfrm>
            <a:off x="88519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판단 보류 · 근거 기록</a:t>
            </a:r>
            <a:endParaRPr lang="en-US" sz="1200" dirty="0"/>
          </a:p>
        </p:txBody>
      </p:sp>
      <p:sp>
        <p:nvSpPr>
          <p:cNvPr id="16" name="Text 14"/>
          <p:cNvSpPr/>
          <p:nvPr/>
        </p:nvSpPr>
        <p:spPr>
          <a:xfrm>
            <a:off x="812800" y="3301901"/>
            <a:ext cx="10883392" cy="330200"/>
          </a:xfrm>
          <a:prstGeom prst="rect">
            <a:avLst/>
          </a:prstGeom>
          <a:noFill/>
          <a:ln/>
        </p:spPr>
        <p:txBody>
          <a:bodyPr wrap="square" lIns="0" tIns="0" rIns="0" bIns="0" rtlCol="0" anchor="t">
            <a:normAutofit/>
          </a:bodyPr>
          <a:lstStyle/>
          <a:p>
            <a:pPr marL="0" indent="0" algn="l">
              <a:lnSpc>
                <a:spcPts val="2400"/>
              </a:lnSpc>
              <a:buNone/>
            </a:pPr>
            <a:r>
              <a:rPr lang="en-US" sz="1500" dirty="0">
                <a:solidFill>
                  <a:srgbClr val="1B2A44"/>
                </a:solidFill>
                <a:latin typeface="Noto Sans KR" pitchFamily="34" charset="0"/>
                <a:ea typeface="Noto Sans KR" pitchFamily="34" charset="-122"/>
                <a:cs typeface="Noto Sans KR" pitchFamily="34" charset="-120"/>
              </a:rPr>
              <a:t>2,915 + 20 + 899 + 118 = </a:t>
            </a:r>
            <a:r>
              <a:rPr lang="en-US" sz="1500" b="1" dirty="0">
                <a:solidFill>
                  <a:srgbClr val="1B2A44"/>
                </a:solidFill>
                <a:latin typeface="Noto Sans KR" pitchFamily="34" charset="0"/>
                <a:ea typeface="Noto Sans KR" pitchFamily="34" charset="-122"/>
                <a:cs typeface="Noto Sans KR" pitchFamily="34" charset="-120"/>
              </a:rPr>
              <a:t>3,952</a:t>
            </a:r>
            <a:r>
              <a:rPr lang="en-US" sz="1500" dirty="0">
                <a:solidFill>
                  <a:srgbClr val="1B2A44"/>
                </a:solidFill>
                <a:latin typeface="Noto Sans KR" pitchFamily="34" charset="0"/>
                <a:ea typeface="Noto Sans KR" pitchFamily="34" charset="-122"/>
                <a:cs typeface="Noto Sans KR" pitchFamily="34" charset="-120"/>
              </a:rPr>
              <a:t> — 원래 행 수와 정확히 맞습니다. 한 줄도 사라지지 않았다는 것을 숫자로 증명할 수 있어야 합니다.</a:t>
            </a:r>
            <a:endParaRPr lang="en-US" sz="1500" dirty="0"/>
          </a:p>
        </p:txBody>
      </p:sp>
      <p:sp>
        <p:nvSpPr>
          <p:cNvPr id="17" name="Shape 15"/>
          <p:cNvSpPr/>
          <p:nvPr/>
        </p:nvSpPr>
        <p:spPr>
          <a:xfrm>
            <a:off x="812800" y="3860701"/>
            <a:ext cx="10566400" cy="1282601"/>
          </a:xfrm>
          <a:prstGeom prst="roundRect">
            <a:avLst>
              <a:gd name="adj" fmla="val 5941"/>
            </a:avLst>
          </a:prstGeom>
          <a:solidFill>
            <a:srgbClr val="E3EFE7"/>
          </a:solidFill>
          <a:ln/>
        </p:spPr>
        <p:txBody>
          <a:bodyPr/>
          <a:lstStyle/>
          <a:p>
            <a:endParaRPr lang="ko-KR" altLang="en-US"/>
          </a:p>
        </p:txBody>
      </p:sp>
      <p:sp>
        <p:nvSpPr>
          <p:cNvPr id="18" name="Shape 16"/>
          <p:cNvSpPr/>
          <p:nvPr/>
        </p:nvSpPr>
        <p:spPr>
          <a:xfrm>
            <a:off x="812800" y="386070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9" name="Text 17"/>
          <p:cNvSpPr/>
          <p:nvPr/>
        </p:nvSpPr>
        <p:spPr>
          <a:xfrm>
            <a:off x="1117600" y="406390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공항 보안검색대</a:t>
            </a:r>
            <a:endParaRPr lang="en-US" sz="1300" dirty="0"/>
          </a:p>
        </p:txBody>
      </p:sp>
      <p:sp>
        <p:nvSpPr>
          <p:cNvPr id="20" name="Text 18"/>
          <p:cNvSpPr/>
          <p:nvPr/>
        </p:nvSpPr>
        <p:spPr>
          <a:xfrm>
            <a:off x="1117600" y="4371181"/>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통과한 가방(정상), 버려도 되는 빈 병(제거), 반입 금지로 결정된 물건(제외), 판단이 안 돼 정밀검사 대기실로 간 가방(격리). 정밀검사 대기 가방을 그냥 버리는 공항은 없습니다.</a:t>
            </a:r>
            <a:endParaRPr lang="en-US" sz="14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26 / 60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4213"/>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A94E12"/>
                </a:solidFill>
                <a:latin typeface="Noto Sans KR" pitchFamily="34" charset="0"/>
                <a:ea typeface="Noto Sans KR" pitchFamily="34" charset="-122"/>
                <a:cs typeface="Noto Sans KR" pitchFamily="34" charset="-120"/>
              </a:rPr>
              <a:t>용어 10 · 데이터 모델</a:t>
            </a:r>
            <a:endParaRPr lang="en-US" sz="1088" dirty="0"/>
          </a:p>
        </p:txBody>
      </p:sp>
      <p:sp>
        <p:nvSpPr>
          <p:cNvPr id="3" name="Text 1"/>
          <p:cNvSpPr/>
          <p:nvPr/>
        </p:nvSpPr>
        <p:spPr>
          <a:xfrm>
            <a:off x="812800" y="1077813"/>
            <a:ext cx="10883392" cy="430014"/>
          </a:xfrm>
          <a:prstGeom prst="rect">
            <a:avLst/>
          </a:prstGeom>
          <a:noFill/>
          <a:ln/>
        </p:spPr>
        <p:txBody>
          <a:bodyPr wrap="square" lIns="0" tIns="0" rIns="0" bIns="0" rtlCol="0" anchor="t">
            <a:normAutofit/>
          </a:bodyPr>
          <a:lstStyle/>
          <a:p>
            <a:pPr marL="0" indent="0" algn="l">
              <a:lnSpc>
                <a:spcPts val="3217"/>
              </a:lnSpc>
              <a:buNone/>
            </a:pPr>
            <a:r>
              <a:rPr lang="en-US" sz="2681" b="1" dirty="0">
                <a:solidFill>
                  <a:srgbClr val="1B2A44"/>
                </a:solidFill>
                <a:latin typeface="Noto Sans KR" pitchFamily="34" charset="0"/>
                <a:ea typeface="Noto Sans KR" pitchFamily="34" charset="-122"/>
                <a:cs typeface="Noto Sans KR" pitchFamily="34" charset="-120"/>
              </a:rPr>
              <a:t>데이터를 어떤 덩어리로 나누고 어떻게 잇는지 그린 설계도</a:t>
            </a:r>
            <a:endParaRPr lang="en-US" sz="2681" dirty="0"/>
          </a:p>
        </p:txBody>
      </p:sp>
      <p:sp>
        <p:nvSpPr>
          <p:cNvPr id="4" name="Shape 2"/>
          <p:cNvSpPr/>
          <p:nvPr/>
        </p:nvSpPr>
        <p:spPr>
          <a:xfrm>
            <a:off x="815975" y="1739602"/>
            <a:ext cx="3397250" cy="1269206"/>
          </a:xfrm>
          <a:prstGeom prst="roundRect">
            <a:avLst>
              <a:gd name="adj" fmla="val 7755"/>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1971377"/>
            <a:ext cx="3021711" cy="198338"/>
          </a:xfrm>
          <a:prstGeom prst="rect">
            <a:avLst/>
          </a:prstGeom>
          <a:noFill/>
          <a:ln/>
        </p:spPr>
        <p:txBody>
          <a:bodyPr wrap="square" lIns="0" tIns="0" rIns="0" bIns="0" rtlCol="0" anchor="t">
            <a:normAutofit/>
          </a:bodyPr>
          <a:lstStyle/>
          <a:p>
            <a:pPr marL="0" indent="0" algn="l">
              <a:lnSpc>
                <a:spcPts val="1370"/>
              </a:lnSpc>
              <a:buNone/>
            </a:pPr>
            <a:r>
              <a:rPr lang="en-US" sz="979" b="1" dirty="0">
                <a:solidFill>
                  <a:srgbClr val="2458A6"/>
                </a:solidFill>
                <a:latin typeface="Noto Sans KR" pitchFamily="34" charset="0"/>
                <a:ea typeface="Noto Sans KR" pitchFamily="34" charset="-122"/>
                <a:cs typeface="Noto Sans KR" pitchFamily="34" charset="-120"/>
              </a:rPr>
              <a:t>엔터티</a:t>
            </a:r>
            <a:endParaRPr lang="en-US" sz="979" dirty="0"/>
          </a:p>
        </p:txBody>
      </p:sp>
      <p:sp>
        <p:nvSpPr>
          <p:cNvPr id="6" name="Text 4"/>
          <p:cNvSpPr/>
          <p:nvPr/>
        </p:nvSpPr>
        <p:spPr>
          <a:xfrm>
            <a:off x="1047750" y="2233216"/>
            <a:ext cx="3021711" cy="266204"/>
          </a:xfrm>
          <a:prstGeom prst="rect">
            <a:avLst/>
          </a:prstGeom>
          <a:noFill/>
          <a:ln/>
        </p:spPr>
        <p:txBody>
          <a:bodyPr wrap="square" lIns="0" tIns="0" rIns="0" bIns="0" rtlCol="0" anchor="t">
            <a:normAutofit/>
          </a:bodyPr>
          <a:lstStyle/>
          <a:p>
            <a:pPr marL="0" indent="0" algn="l">
              <a:lnSpc>
                <a:spcPts val="1923"/>
              </a:lnSpc>
              <a:buNone/>
            </a:pPr>
            <a:r>
              <a:rPr lang="en-US" sz="1479" b="1" dirty="0">
                <a:solidFill>
                  <a:srgbClr val="1B2A44"/>
                </a:solidFill>
                <a:latin typeface="Noto Sans KR" pitchFamily="34" charset="0"/>
                <a:ea typeface="Noto Sans KR" pitchFamily="34" charset="-122"/>
                <a:cs typeface="Noto Sans KR" pitchFamily="34" charset="-120"/>
              </a:rPr>
              <a:t>관리할 대상</a:t>
            </a:r>
            <a:endParaRPr lang="en-US" sz="1479" dirty="0"/>
          </a:p>
        </p:txBody>
      </p:sp>
      <p:sp>
        <p:nvSpPr>
          <p:cNvPr id="7" name="Text 5"/>
          <p:cNvSpPr/>
          <p:nvPr/>
        </p:nvSpPr>
        <p:spPr>
          <a:xfrm>
            <a:off x="1047750" y="2562920"/>
            <a:ext cx="3021711" cy="239514"/>
          </a:xfrm>
          <a:prstGeom prst="rect">
            <a:avLst/>
          </a:prstGeom>
          <a:noFill/>
          <a:ln/>
        </p:spPr>
        <p:txBody>
          <a:bodyPr wrap="square" lIns="0" tIns="0" rIns="0" bIns="0" rtlCol="0" anchor="t">
            <a:normAutofit/>
          </a:bodyPr>
          <a:lstStyle/>
          <a:p>
            <a:pPr marL="0" indent="0" algn="l">
              <a:lnSpc>
                <a:spcPts val="1723"/>
              </a:lnSpc>
              <a:buNone/>
            </a:pPr>
            <a:r>
              <a:rPr lang="en-US" sz="1077" dirty="0">
                <a:solidFill>
                  <a:srgbClr val="3D4757"/>
                </a:solidFill>
                <a:latin typeface="Noto Sans KR" pitchFamily="34" charset="0"/>
                <a:ea typeface="Noto Sans KR" pitchFamily="34" charset="-122"/>
                <a:cs typeface="Noto Sans KR" pitchFamily="34" charset="-120"/>
              </a:rPr>
              <a:t>고객 · 주문 · 주문항목 · 상품</a:t>
            </a:r>
            <a:endParaRPr lang="en-US" sz="1077" dirty="0"/>
          </a:p>
        </p:txBody>
      </p:sp>
      <p:sp>
        <p:nvSpPr>
          <p:cNvPr id="8" name="Shape 6"/>
          <p:cNvSpPr/>
          <p:nvPr/>
        </p:nvSpPr>
        <p:spPr>
          <a:xfrm>
            <a:off x="4397375" y="1739602"/>
            <a:ext cx="3397250" cy="1269206"/>
          </a:xfrm>
          <a:prstGeom prst="roundRect">
            <a:avLst>
              <a:gd name="adj" fmla="val 7755"/>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1971377"/>
            <a:ext cx="3021711" cy="198338"/>
          </a:xfrm>
          <a:prstGeom prst="rect">
            <a:avLst/>
          </a:prstGeom>
          <a:noFill/>
          <a:ln/>
        </p:spPr>
        <p:txBody>
          <a:bodyPr wrap="square" lIns="0" tIns="0" rIns="0" bIns="0" rtlCol="0" anchor="t">
            <a:normAutofit/>
          </a:bodyPr>
          <a:lstStyle/>
          <a:p>
            <a:pPr marL="0" indent="0" algn="l">
              <a:lnSpc>
                <a:spcPts val="1370"/>
              </a:lnSpc>
              <a:buNone/>
            </a:pPr>
            <a:r>
              <a:rPr lang="en-US" sz="979" b="1" dirty="0">
                <a:solidFill>
                  <a:srgbClr val="2458A6"/>
                </a:solidFill>
                <a:latin typeface="Noto Sans KR" pitchFamily="34" charset="0"/>
                <a:ea typeface="Noto Sans KR" pitchFamily="34" charset="-122"/>
                <a:cs typeface="Noto Sans KR" pitchFamily="34" charset="-120"/>
              </a:rPr>
              <a:t>속성</a:t>
            </a:r>
            <a:endParaRPr lang="en-US" sz="979" dirty="0"/>
          </a:p>
        </p:txBody>
      </p:sp>
      <p:sp>
        <p:nvSpPr>
          <p:cNvPr id="10" name="Text 8"/>
          <p:cNvSpPr/>
          <p:nvPr/>
        </p:nvSpPr>
        <p:spPr>
          <a:xfrm>
            <a:off x="4629150" y="2233216"/>
            <a:ext cx="3021711" cy="266204"/>
          </a:xfrm>
          <a:prstGeom prst="rect">
            <a:avLst/>
          </a:prstGeom>
          <a:noFill/>
          <a:ln/>
        </p:spPr>
        <p:txBody>
          <a:bodyPr wrap="square" lIns="0" tIns="0" rIns="0" bIns="0" rtlCol="0" anchor="t">
            <a:normAutofit/>
          </a:bodyPr>
          <a:lstStyle/>
          <a:p>
            <a:pPr marL="0" indent="0" algn="l">
              <a:lnSpc>
                <a:spcPts val="1923"/>
              </a:lnSpc>
              <a:buNone/>
            </a:pPr>
            <a:r>
              <a:rPr lang="en-US" sz="1479" b="1" dirty="0">
                <a:solidFill>
                  <a:srgbClr val="1B2A44"/>
                </a:solidFill>
                <a:latin typeface="Noto Sans KR" pitchFamily="34" charset="0"/>
                <a:ea typeface="Noto Sans KR" pitchFamily="34" charset="-122"/>
                <a:cs typeface="Noto Sans KR" pitchFamily="34" charset="-120"/>
              </a:rPr>
              <a:t>대상이 가진 정보</a:t>
            </a:r>
            <a:endParaRPr lang="en-US" sz="1479" dirty="0"/>
          </a:p>
        </p:txBody>
      </p:sp>
      <p:sp>
        <p:nvSpPr>
          <p:cNvPr id="11" name="Text 9"/>
          <p:cNvSpPr/>
          <p:nvPr/>
        </p:nvSpPr>
        <p:spPr>
          <a:xfrm>
            <a:off x="4629150" y="2562920"/>
            <a:ext cx="3021711" cy="239514"/>
          </a:xfrm>
          <a:prstGeom prst="rect">
            <a:avLst/>
          </a:prstGeom>
          <a:noFill/>
          <a:ln/>
        </p:spPr>
        <p:txBody>
          <a:bodyPr wrap="square" lIns="0" tIns="0" rIns="0" bIns="0" rtlCol="0" anchor="t">
            <a:normAutofit/>
          </a:bodyPr>
          <a:lstStyle/>
          <a:p>
            <a:pPr marL="0" indent="0" algn="l">
              <a:lnSpc>
                <a:spcPts val="1723"/>
              </a:lnSpc>
              <a:buNone/>
            </a:pPr>
            <a:r>
              <a:rPr lang="en-US" sz="1077" dirty="0">
                <a:solidFill>
                  <a:srgbClr val="3D4757"/>
                </a:solidFill>
                <a:latin typeface="Noto Sans KR" pitchFamily="34" charset="0"/>
                <a:ea typeface="Noto Sans KR" pitchFamily="34" charset="-122"/>
                <a:cs typeface="Noto Sans KR" pitchFamily="34" charset="-120"/>
              </a:rPr>
              <a:t>고객의 이름, 주문의 일자, 상품의 가격</a:t>
            </a:r>
            <a:endParaRPr lang="en-US" sz="1077" dirty="0"/>
          </a:p>
        </p:txBody>
      </p:sp>
      <p:sp>
        <p:nvSpPr>
          <p:cNvPr id="12" name="Shape 10"/>
          <p:cNvSpPr/>
          <p:nvPr/>
        </p:nvSpPr>
        <p:spPr>
          <a:xfrm>
            <a:off x="7978775" y="1739602"/>
            <a:ext cx="3397250" cy="1269206"/>
          </a:xfrm>
          <a:prstGeom prst="roundRect">
            <a:avLst>
              <a:gd name="adj" fmla="val 7755"/>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1971377"/>
            <a:ext cx="3021711" cy="198338"/>
          </a:xfrm>
          <a:prstGeom prst="rect">
            <a:avLst/>
          </a:prstGeom>
          <a:noFill/>
          <a:ln/>
        </p:spPr>
        <p:txBody>
          <a:bodyPr wrap="square" lIns="0" tIns="0" rIns="0" bIns="0" rtlCol="0" anchor="t">
            <a:normAutofit/>
          </a:bodyPr>
          <a:lstStyle/>
          <a:p>
            <a:pPr marL="0" indent="0" algn="l">
              <a:lnSpc>
                <a:spcPts val="1370"/>
              </a:lnSpc>
              <a:buNone/>
            </a:pPr>
            <a:r>
              <a:rPr lang="en-US" sz="979" b="1" dirty="0">
                <a:solidFill>
                  <a:srgbClr val="2458A6"/>
                </a:solidFill>
                <a:latin typeface="Noto Sans KR" pitchFamily="34" charset="0"/>
                <a:ea typeface="Noto Sans KR" pitchFamily="34" charset="-122"/>
                <a:cs typeface="Noto Sans KR" pitchFamily="34" charset="-120"/>
              </a:rPr>
              <a:t>식별자</a:t>
            </a:r>
            <a:endParaRPr lang="en-US" sz="979" dirty="0"/>
          </a:p>
        </p:txBody>
      </p:sp>
      <p:sp>
        <p:nvSpPr>
          <p:cNvPr id="14" name="Text 12"/>
          <p:cNvSpPr/>
          <p:nvPr/>
        </p:nvSpPr>
        <p:spPr>
          <a:xfrm>
            <a:off x="8210550" y="2233216"/>
            <a:ext cx="3021711" cy="266204"/>
          </a:xfrm>
          <a:prstGeom prst="rect">
            <a:avLst/>
          </a:prstGeom>
          <a:noFill/>
          <a:ln/>
        </p:spPr>
        <p:txBody>
          <a:bodyPr wrap="square" lIns="0" tIns="0" rIns="0" bIns="0" rtlCol="0" anchor="t">
            <a:normAutofit/>
          </a:bodyPr>
          <a:lstStyle/>
          <a:p>
            <a:pPr marL="0" indent="0" algn="l">
              <a:lnSpc>
                <a:spcPts val="1923"/>
              </a:lnSpc>
              <a:buNone/>
            </a:pPr>
            <a:r>
              <a:rPr lang="en-US" sz="1479" b="1" dirty="0">
                <a:solidFill>
                  <a:srgbClr val="1B2A44"/>
                </a:solidFill>
                <a:latin typeface="Noto Sans KR" pitchFamily="34" charset="0"/>
                <a:ea typeface="Noto Sans KR" pitchFamily="34" charset="-122"/>
                <a:cs typeface="Noto Sans KR" pitchFamily="34" charset="-120"/>
              </a:rPr>
              <a:t>대상을 하나로 짚어 내는 값</a:t>
            </a:r>
            <a:endParaRPr lang="en-US" sz="1479" dirty="0"/>
          </a:p>
        </p:txBody>
      </p:sp>
      <p:sp>
        <p:nvSpPr>
          <p:cNvPr id="15" name="Text 13"/>
          <p:cNvSpPr/>
          <p:nvPr/>
        </p:nvSpPr>
        <p:spPr>
          <a:xfrm>
            <a:off x="8210550" y="2562920"/>
            <a:ext cx="3021711" cy="239514"/>
          </a:xfrm>
          <a:prstGeom prst="rect">
            <a:avLst/>
          </a:prstGeom>
          <a:noFill/>
          <a:ln/>
        </p:spPr>
        <p:txBody>
          <a:bodyPr wrap="square" lIns="0" tIns="0" rIns="0" bIns="0" rtlCol="0" anchor="t">
            <a:normAutofit/>
          </a:bodyPr>
          <a:lstStyle/>
          <a:p>
            <a:pPr marL="0" indent="0" algn="l">
              <a:lnSpc>
                <a:spcPts val="1723"/>
              </a:lnSpc>
              <a:buNone/>
            </a:pPr>
            <a:r>
              <a:rPr lang="en-US" sz="1077" dirty="0">
                <a:solidFill>
                  <a:srgbClr val="3D4757"/>
                </a:solidFill>
                <a:latin typeface="Noto Sans KR" pitchFamily="34" charset="0"/>
                <a:ea typeface="Noto Sans KR" pitchFamily="34" charset="-122"/>
                <a:cs typeface="Noto Sans KR" pitchFamily="34" charset="-120"/>
              </a:rPr>
              <a:t>고객번호 · 주문번호 · 주문번호 + 순번</a:t>
            </a:r>
            <a:endParaRPr lang="en-US" sz="1077" dirty="0"/>
          </a:p>
        </p:txBody>
      </p:sp>
      <p:sp>
        <p:nvSpPr>
          <p:cNvPr id="16" name="Shape 14"/>
          <p:cNvSpPr/>
          <p:nvPr/>
        </p:nvSpPr>
        <p:spPr>
          <a:xfrm>
            <a:off x="812800" y="3265984"/>
            <a:ext cx="10566400" cy="1192113"/>
          </a:xfrm>
          <a:prstGeom prst="roundRect">
            <a:avLst>
              <a:gd name="adj" fmla="val 6392"/>
            </a:avLst>
          </a:prstGeom>
          <a:solidFill>
            <a:srgbClr val="E3EFE7"/>
          </a:solidFill>
          <a:ln/>
        </p:spPr>
        <p:txBody>
          <a:bodyPr/>
          <a:lstStyle/>
          <a:p>
            <a:endParaRPr lang="ko-KR" altLang="en-US"/>
          </a:p>
        </p:txBody>
      </p:sp>
      <p:sp>
        <p:nvSpPr>
          <p:cNvPr id="17" name="Shape 15"/>
          <p:cNvSpPr/>
          <p:nvPr/>
        </p:nvSpPr>
        <p:spPr>
          <a:xfrm>
            <a:off x="812800" y="3265984"/>
            <a:ext cx="10566400" cy="1192113"/>
          </a:xfrm>
          <a:custGeom>
            <a:avLst/>
            <a:gdLst/>
            <a:ahLst/>
            <a:cxnLst/>
            <a:rect l="l" t="t" r="r" b="b"/>
            <a:pathLst>
              <a:path w="10566400" h="1192113">
                <a:moveTo>
                  <a:pt x="76200" y="1192113"/>
                </a:moveTo>
                <a:lnTo>
                  <a:pt x="76200" y="1192113"/>
                </a:lnTo>
                <a:arcTo wR="76200" hR="76200" stAng="5400000" swAng="5400000"/>
                <a:lnTo>
                  <a:pt x="0" y="76200"/>
                </a:lnTo>
                <a:arcTo wR="76200" hR="76200" stAng="10800000" swAng="5400000"/>
                <a:lnTo>
                  <a:pt x="76200" y="0"/>
                </a:lnTo>
                <a:arcTo wR="25400" hR="76200" stAng="16200000" swAng="-5400000"/>
                <a:lnTo>
                  <a:pt x="50800" y="1115913"/>
                </a:lnTo>
                <a:arcTo wR="25400" hR="76200" stAng="10800000" swAng="-5400000"/>
                <a:close/>
              </a:path>
            </a:pathLst>
          </a:custGeom>
          <a:solidFill>
            <a:srgbClr val="2E6B4F"/>
          </a:solidFill>
          <a:ln/>
        </p:spPr>
        <p:txBody>
          <a:bodyPr/>
          <a:lstStyle/>
          <a:p>
            <a:endParaRPr lang="ko-KR" altLang="en-US"/>
          </a:p>
        </p:txBody>
      </p:sp>
      <p:sp>
        <p:nvSpPr>
          <p:cNvPr id="18" name="Text 16"/>
          <p:cNvSpPr/>
          <p:nvPr/>
        </p:nvSpPr>
        <p:spPr>
          <a:xfrm>
            <a:off x="1117600" y="3469184"/>
            <a:ext cx="10307828" cy="230287"/>
          </a:xfrm>
          <a:prstGeom prst="rect">
            <a:avLst/>
          </a:prstGeom>
          <a:noFill/>
          <a:ln/>
        </p:spPr>
        <p:txBody>
          <a:bodyPr wrap="square" lIns="0" tIns="0" rIns="0" bIns="0" rtlCol="0" anchor="t">
            <a:normAutofit/>
          </a:bodyPr>
          <a:lstStyle/>
          <a:p>
            <a:pPr marL="0" indent="0" algn="l">
              <a:lnSpc>
                <a:spcPts val="1621"/>
              </a:lnSpc>
              <a:buNone/>
            </a:pPr>
            <a:r>
              <a:rPr lang="en-US" sz="1158" b="1" dirty="0">
                <a:solidFill>
                  <a:srgbClr val="23573F"/>
                </a:solidFill>
                <a:latin typeface="Noto Sans KR" pitchFamily="34" charset="0"/>
                <a:ea typeface="Noto Sans KR" pitchFamily="34" charset="-122"/>
                <a:cs typeface="Noto Sans KR" pitchFamily="34" charset="-120"/>
              </a:rPr>
              <a:t>예 — 학급 명단</a:t>
            </a:r>
            <a:endParaRPr lang="en-US" sz="1158" dirty="0"/>
          </a:p>
        </p:txBody>
      </p:sp>
      <p:sp>
        <p:nvSpPr>
          <p:cNvPr id="19" name="Text 17"/>
          <p:cNvSpPr/>
          <p:nvPr/>
        </p:nvSpPr>
        <p:spPr>
          <a:xfrm>
            <a:off x="1117600" y="3750270"/>
            <a:ext cx="10307828" cy="530027"/>
          </a:xfrm>
          <a:prstGeom prst="rect">
            <a:avLst/>
          </a:prstGeom>
          <a:noFill/>
          <a:ln/>
        </p:spPr>
        <p:txBody>
          <a:bodyPr wrap="square" lIns="0" tIns="0" rIns="0" bIns="0" rtlCol="0" anchor="t">
            <a:normAutofit/>
          </a:bodyPr>
          <a:lstStyle/>
          <a:p>
            <a:pPr marL="0" indent="0" algn="l">
              <a:lnSpc>
                <a:spcPts val="2030"/>
              </a:lnSpc>
              <a:buNone/>
            </a:pPr>
            <a:r>
              <a:rPr lang="en-US" sz="1269" dirty="0">
                <a:solidFill>
                  <a:srgbClr val="2B3A33"/>
                </a:solidFill>
                <a:latin typeface="Noto Sans KR" pitchFamily="34" charset="0"/>
                <a:ea typeface="Noto Sans KR" pitchFamily="34" charset="-122"/>
                <a:cs typeface="Noto Sans KR" pitchFamily="34" charset="-120"/>
              </a:rPr>
              <a:t>학생(엔터티)마다 이름·반·번호(속성)가 있고, 학번(식별자)으로 한 명을 정확히 짚어 냅니다. 이름은 같은 학생이 있을 수 있어서 식별자가 되지 못합니다.</a:t>
            </a:r>
            <a:endParaRPr lang="en-US" sz="1269" dirty="0"/>
          </a:p>
        </p:txBody>
      </p:sp>
      <p:sp>
        <p:nvSpPr>
          <p:cNvPr id="20" name="Shape 18"/>
          <p:cNvSpPr/>
          <p:nvPr/>
        </p:nvSpPr>
        <p:spPr>
          <a:xfrm>
            <a:off x="812800" y="4712097"/>
            <a:ext cx="10566400" cy="1129903"/>
          </a:xfrm>
          <a:prstGeom prst="roundRect">
            <a:avLst>
              <a:gd name="adj" fmla="val 6744"/>
            </a:avLst>
          </a:prstGeom>
          <a:solidFill>
            <a:srgbClr val="F8EBDD"/>
          </a:solidFill>
          <a:ln/>
        </p:spPr>
        <p:txBody>
          <a:bodyPr/>
          <a:lstStyle/>
          <a:p>
            <a:endParaRPr lang="ko-KR" altLang="en-US"/>
          </a:p>
        </p:txBody>
      </p:sp>
      <p:sp>
        <p:nvSpPr>
          <p:cNvPr id="21" name="Shape 19"/>
          <p:cNvSpPr/>
          <p:nvPr/>
        </p:nvSpPr>
        <p:spPr>
          <a:xfrm>
            <a:off x="812800" y="4712097"/>
            <a:ext cx="10566400" cy="1129903"/>
          </a:xfrm>
          <a:custGeom>
            <a:avLst/>
            <a:gdLst/>
            <a:ahLst/>
            <a:cxnLst/>
            <a:rect l="l" t="t" r="r" b="b"/>
            <a:pathLst>
              <a:path w="10566400" h="1129903">
                <a:moveTo>
                  <a:pt x="76200" y="1129903"/>
                </a:moveTo>
                <a:lnTo>
                  <a:pt x="76200" y="1129903"/>
                </a:lnTo>
                <a:arcTo wR="76200" hR="76200" stAng="5400000" swAng="5400000"/>
                <a:lnTo>
                  <a:pt x="0" y="76200"/>
                </a:lnTo>
                <a:arcTo wR="76200" hR="76200" stAng="10800000" swAng="5400000"/>
                <a:lnTo>
                  <a:pt x="76200" y="0"/>
                </a:lnTo>
                <a:arcTo wR="25400" hR="76200" stAng="16200000" swAng="-5400000"/>
                <a:lnTo>
                  <a:pt x="50800" y="1053703"/>
                </a:lnTo>
                <a:arcTo wR="25400" hR="76200" stAng="10800000" swAng="-5400000"/>
                <a:close/>
              </a:path>
            </a:pathLst>
          </a:custGeom>
          <a:solidFill>
            <a:srgbClr val="A94E12"/>
          </a:solidFill>
          <a:ln/>
        </p:spPr>
        <p:txBody>
          <a:bodyPr/>
          <a:lstStyle/>
          <a:p>
            <a:endParaRPr lang="ko-KR" altLang="en-US"/>
          </a:p>
        </p:txBody>
      </p:sp>
      <p:sp>
        <p:nvSpPr>
          <p:cNvPr id="22" name="Text 20"/>
          <p:cNvSpPr/>
          <p:nvPr/>
        </p:nvSpPr>
        <p:spPr>
          <a:xfrm>
            <a:off x="1092200" y="4889897"/>
            <a:ext cx="10360152" cy="230684"/>
          </a:xfrm>
          <a:prstGeom prst="rect">
            <a:avLst/>
          </a:prstGeom>
          <a:noFill/>
          <a:ln/>
        </p:spPr>
        <p:txBody>
          <a:bodyPr wrap="square" lIns="0" tIns="0" rIns="0" bIns="0" rtlCol="0" anchor="t">
            <a:normAutofit/>
          </a:bodyPr>
          <a:lstStyle/>
          <a:p>
            <a:pPr marL="0" indent="0" algn="l">
              <a:lnSpc>
                <a:spcPts val="1621"/>
              </a:lnSpc>
              <a:buNone/>
            </a:pPr>
            <a:r>
              <a:rPr lang="en-US" sz="1158" b="1" dirty="0">
                <a:solidFill>
                  <a:srgbClr val="A94E12"/>
                </a:solidFill>
                <a:latin typeface="Noto Sans KR" pitchFamily="34" charset="0"/>
                <a:ea typeface="Noto Sans KR" pitchFamily="34" charset="-122"/>
                <a:cs typeface="Noto Sans KR" pitchFamily="34" charset="-120"/>
              </a:rPr>
              <a:t>4일차 함정 예고</a:t>
            </a:r>
            <a:endParaRPr lang="en-US" sz="1158" dirty="0"/>
          </a:p>
        </p:txBody>
      </p:sp>
      <p:sp>
        <p:nvSpPr>
          <p:cNvPr id="23" name="Text 21"/>
          <p:cNvSpPr/>
          <p:nvPr/>
        </p:nvSpPr>
        <p:spPr>
          <a:xfrm>
            <a:off x="1092200" y="5158680"/>
            <a:ext cx="10360152" cy="530920"/>
          </a:xfrm>
          <a:prstGeom prst="rect">
            <a:avLst/>
          </a:prstGeom>
          <a:noFill/>
          <a:ln/>
        </p:spPr>
        <p:txBody>
          <a:bodyPr wrap="square" lIns="0" tIns="0" rIns="0" bIns="0" rtlCol="0" anchor="t">
            <a:normAutofit/>
          </a:bodyPr>
          <a:lstStyle/>
          <a:p>
            <a:pPr marL="0" indent="0" algn="l">
              <a:lnSpc>
                <a:spcPts val="2009"/>
              </a:lnSpc>
              <a:buNone/>
            </a:pPr>
            <a:r>
              <a:rPr lang="en-US" sz="1256" dirty="0">
                <a:solidFill>
                  <a:srgbClr val="3D4757"/>
                </a:solidFill>
                <a:latin typeface="Noto Sans KR" pitchFamily="34" charset="0"/>
                <a:ea typeface="Noto Sans KR" pitchFamily="34" charset="-122"/>
                <a:cs typeface="Noto Sans KR" pitchFamily="34" charset="-120"/>
              </a:rPr>
              <a:t>한빛유통 데이터에서 고객 이름이 </a:t>
            </a:r>
            <a:r>
              <a:rPr lang="en-US" sz="1256" b="1" dirty="0">
                <a:solidFill>
                  <a:srgbClr val="3D4757"/>
                </a:solidFill>
                <a:latin typeface="Noto Sans KR" pitchFamily="34" charset="0"/>
                <a:ea typeface="Noto Sans KR" pitchFamily="34" charset="-122"/>
                <a:cs typeface="Noto Sans KR" pitchFamily="34" charset="-120"/>
              </a:rPr>
              <a:t>우연히 전부 다르게</a:t>
            </a:r>
            <a:r>
              <a:rPr lang="en-US" sz="1256" dirty="0">
                <a:solidFill>
                  <a:srgbClr val="3D4757"/>
                </a:solidFill>
                <a:latin typeface="Noto Sans KR" pitchFamily="34" charset="0"/>
                <a:ea typeface="Noto Sans KR" pitchFamily="34" charset="-122"/>
                <a:cs typeface="Noto Sans KR" pitchFamily="34" charset="-120"/>
              </a:rPr>
              <a:t> 나옵니다. 그렇다고 이름을 식별자로 쓰면 안 됩니다. 지금 겹치지 않는 것과 앞으로도 겹치지 않는 것은 다릅니다.</a:t>
            </a:r>
            <a:endParaRPr lang="en-US" sz="1256"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27 / 60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11 · grain (한 행의 의미)</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이 표에서 한 줄은 무엇 하나를 뜻하는가?</a:t>
            </a:r>
            <a:endParaRPr lang="en-US" sz="3000" dirty="0"/>
          </a:p>
        </p:txBody>
      </p:sp>
      <p:sp>
        <p:nvSpPr>
          <p:cNvPr id="4" name="Text 2"/>
          <p:cNvSpPr/>
          <p:nvPr/>
        </p:nvSpPr>
        <p:spPr>
          <a:xfrm>
            <a:off x="812800" y="1813520"/>
            <a:ext cx="3047055"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458A6"/>
                </a:solidFill>
                <a:latin typeface="Noto Sans KR" pitchFamily="34" charset="0"/>
                <a:ea typeface="Noto Sans KR" pitchFamily="34" charset="-122"/>
                <a:cs typeface="Noto Sans KR" pitchFamily="34" charset="-120"/>
              </a:rPr>
              <a:t>3,952</a:t>
            </a:r>
            <a:endParaRPr lang="en-US" sz="4400" dirty="0"/>
          </a:p>
        </p:txBody>
      </p:sp>
      <p:sp>
        <p:nvSpPr>
          <p:cNvPr id="5" name="Text 3"/>
          <p:cNvSpPr/>
          <p:nvPr/>
        </p:nvSpPr>
        <p:spPr>
          <a:xfrm>
            <a:off x="812800" y="2478980"/>
            <a:ext cx="3047055"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주문 파일의 줄 수</a:t>
            </a:r>
            <a:endParaRPr lang="en-US" sz="1500" dirty="0"/>
          </a:p>
        </p:txBody>
      </p:sp>
      <p:sp>
        <p:nvSpPr>
          <p:cNvPr id="6" name="Text 4"/>
          <p:cNvSpPr/>
          <p:nvPr/>
        </p:nvSpPr>
        <p:spPr>
          <a:xfrm>
            <a:off x="812800" y="2834580"/>
            <a:ext cx="3047055" cy="269180"/>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5E6673"/>
                </a:solidFill>
                <a:latin typeface="Noto Sans KR" pitchFamily="34" charset="0"/>
                <a:ea typeface="Noto Sans KR" pitchFamily="34" charset="-122"/>
                <a:cs typeface="Noto Sans KR" pitchFamily="34" charset="-120"/>
              </a:rPr>
              <a:t>len(df) 로 센 값</a:t>
            </a:r>
            <a:endParaRPr lang="en-US" sz="1200" dirty="0"/>
          </a:p>
        </p:txBody>
      </p:sp>
      <p:sp>
        <p:nvSpPr>
          <p:cNvPr id="7" name="Text 5"/>
          <p:cNvSpPr/>
          <p:nvPr/>
        </p:nvSpPr>
        <p:spPr>
          <a:xfrm>
            <a:off x="4025106" y="1813520"/>
            <a:ext cx="3047158"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94E12"/>
                </a:solidFill>
                <a:latin typeface="Noto Sans KR" pitchFamily="34" charset="0"/>
                <a:ea typeface="Noto Sans KR" pitchFamily="34" charset="-122"/>
                <a:cs typeface="Noto Sans KR" pitchFamily="34" charset="-120"/>
              </a:rPr>
              <a:t>1,500</a:t>
            </a:r>
            <a:endParaRPr lang="en-US" sz="4400" dirty="0"/>
          </a:p>
        </p:txBody>
      </p:sp>
      <p:sp>
        <p:nvSpPr>
          <p:cNvPr id="8" name="Text 6"/>
          <p:cNvSpPr/>
          <p:nvPr/>
        </p:nvSpPr>
        <p:spPr>
          <a:xfrm>
            <a:off x="4025106" y="2478980"/>
            <a:ext cx="3047158"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실제 주문 건수</a:t>
            </a:r>
            <a:endParaRPr lang="en-US" sz="1500" dirty="0"/>
          </a:p>
        </p:txBody>
      </p:sp>
      <p:sp>
        <p:nvSpPr>
          <p:cNvPr id="9" name="Text 7"/>
          <p:cNvSpPr/>
          <p:nvPr/>
        </p:nvSpPr>
        <p:spPr>
          <a:xfrm>
            <a:off x="4025106" y="2834580"/>
            <a:ext cx="3047158" cy="269180"/>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5E6673"/>
                </a:solidFill>
                <a:latin typeface="Noto Sans KR" pitchFamily="34" charset="0"/>
                <a:ea typeface="Noto Sans KR" pitchFamily="34" charset="-122"/>
                <a:cs typeface="Noto Sans KR" pitchFamily="34" charset="-120"/>
              </a:rPr>
              <a:t>주문번호 종류 수</a:t>
            </a:r>
            <a:endParaRPr lang="en-US" sz="1200" dirty="0"/>
          </a:p>
        </p:txBody>
      </p:sp>
      <p:sp>
        <p:nvSpPr>
          <p:cNvPr id="10" name="Text 8"/>
          <p:cNvSpPr/>
          <p:nvPr/>
        </p:nvSpPr>
        <p:spPr>
          <a:xfrm>
            <a:off x="7237512" y="1813520"/>
            <a:ext cx="426593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둘이 다른 이유</a:t>
            </a:r>
            <a:endParaRPr lang="en-US" sz="1500" dirty="0"/>
          </a:p>
        </p:txBody>
      </p:sp>
      <p:sp>
        <p:nvSpPr>
          <p:cNvPr id="11" name="Text 9"/>
          <p:cNvSpPr/>
          <p:nvPr/>
        </p:nvSpPr>
        <p:spPr>
          <a:xfrm>
            <a:off x="7237512" y="2194520"/>
            <a:ext cx="4265939" cy="87878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한 줄 = 주문 한 건이 아니라 </a:t>
            </a:r>
            <a:r>
              <a:rPr lang="en-US" sz="1400" b="1" dirty="0">
                <a:solidFill>
                  <a:srgbClr val="3D4757"/>
                </a:solidFill>
                <a:latin typeface="Noto Sans KR" pitchFamily="34" charset="0"/>
                <a:ea typeface="Noto Sans KR" pitchFamily="34" charset="-122"/>
                <a:cs typeface="Noto Sans KR" pitchFamily="34" charset="-120"/>
              </a:rPr>
              <a:t>주문 안의 상품 한 줄</a:t>
            </a:r>
            <a:r>
              <a:rPr lang="en-US" sz="1400" dirty="0">
                <a:solidFill>
                  <a:srgbClr val="3D4757"/>
                </a:solidFill>
                <a:latin typeface="Noto Sans KR" pitchFamily="34" charset="0"/>
                <a:ea typeface="Noto Sans KR" pitchFamily="34" charset="-122"/>
                <a:cs typeface="Noto Sans KR" pitchFamily="34" charset="-120"/>
              </a:rPr>
              <a:t>이기 때문입니다. '주문이 몇 건이냐'는 질문에 len을 답하면 틀립니다.</a:t>
            </a:r>
            <a:endParaRPr lang="en-US" sz="1400" dirty="0"/>
          </a:p>
        </p:txBody>
      </p:sp>
      <p:sp>
        <p:nvSpPr>
          <p:cNvPr id="12" name="Shape 10"/>
          <p:cNvSpPr/>
          <p:nvPr/>
        </p:nvSpPr>
        <p:spPr>
          <a:xfrm>
            <a:off x="812800" y="3332361"/>
            <a:ext cx="10566400" cy="1282601"/>
          </a:xfrm>
          <a:prstGeom prst="roundRect">
            <a:avLst>
              <a:gd name="adj" fmla="val 5941"/>
            </a:avLst>
          </a:prstGeom>
          <a:solidFill>
            <a:srgbClr val="E3EFE7"/>
          </a:solidFill>
          <a:ln/>
        </p:spPr>
        <p:txBody>
          <a:bodyPr/>
          <a:lstStyle/>
          <a:p>
            <a:endParaRPr lang="ko-KR" altLang="en-US"/>
          </a:p>
        </p:txBody>
      </p:sp>
      <p:sp>
        <p:nvSpPr>
          <p:cNvPr id="13" name="Shape 11"/>
          <p:cNvSpPr/>
          <p:nvPr/>
        </p:nvSpPr>
        <p:spPr>
          <a:xfrm>
            <a:off x="812800" y="333236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4" name="Text 12"/>
          <p:cNvSpPr/>
          <p:nvPr/>
        </p:nvSpPr>
        <p:spPr>
          <a:xfrm>
            <a:off x="1117600" y="353556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영수증 한 장, 영수증 한 줄</a:t>
            </a:r>
            <a:endParaRPr lang="en-US" sz="1300" dirty="0"/>
          </a:p>
        </p:txBody>
      </p:sp>
      <p:sp>
        <p:nvSpPr>
          <p:cNvPr id="15" name="Text 13"/>
          <p:cNvSpPr/>
          <p:nvPr/>
        </p:nvSpPr>
        <p:spPr>
          <a:xfrm>
            <a:off x="1117600" y="3842841"/>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영수증 '장수'를 세는 것과 영수증의 '줄 수'를 세는 것은 다른 질문입니다. 배송비는 한 장에 한 번, 상품 가격은 한 줄마다 붙습니다. grain을 먼저 말하지 않으면 모든 숫자가 흔들립니다.</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28 / 60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12 · 정규화와 키</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값은 자기가 속한 곳에 한 번만 적습니다</a:t>
            </a:r>
            <a:endParaRPr lang="en-US" sz="3000" dirty="0"/>
          </a:p>
        </p:txBody>
      </p:sp>
      <p:sp>
        <p:nvSpPr>
          <p:cNvPr id="4" name="Shape 2"/>
          <p:cNvSpPr/>
          <p:nvPr/>
        </p:nvSpPr>
        <p:spPr>
          <a:xfrm>
            <a:off x="1462881" y="1819870"/>
            <a:ext cx="1638300" cy="829270"/>
          </a:xfrm>
          <a:prstGeom prst="roundRect">
            <a:avLst>
              <a:gd name="adj" fmla="val 9955"/>
            </a:avLst>
          </a:prstGeom>
          <a:solidFill>
            <a:srgbClr val="FFFDF8"/>
          </a:solidFill>
          <a:ln w="12700">
            <a:solidFill>
              <a:srgbClr val="D9D4C7"/>
            </a:solidFill>
            <a:prstDash val="solid"/>
          </a:ln>
        </p:spPr>
        <p:txBody>
          <a:bodyPr/>
          <a:lstStyle/>
          <a:p>
            <a:endParaRPr lang="ko-KR" altLang="en-US"/>
          </a:p>
        </p:txBody>
      </p:sp>
      <p:sp>
        <p:nvSpPr>
          <p:cNvPr id="5" name="Text 3"/>
          <p:cNvSpPr/>
          <p:nvPr/>
        </p:nvSpPr>
        <p:spPr>
          <a:xfrm>
            <a:off x="2081312" y="1978620"/>
            <a:ext cx="401340"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1B2A44"/>
                </a:solidFill>
                <a:latin typeface="Noto Sans KR" pitchFamily="34" charset="0"/>
                <a:ea typeface="Noto Sans KR" pitchFamily="34" charset="-122"/>
                <a:cs typeface="Noto Sans KR" pitchFamily="34" charset="-120"/>
              </a:rPr>
              <a:t>고객</a:t>
            </a:r>
            <a:endParaRPr lang="en-US" sz="1500" dirty="0"/>
          </a:p>
        </p:txBody>
      </p:sp>
      <p:sp>
        <p:nvSpPr>
          <p:cNvPr id="6" name="Text 4"/>
          <p:cNvSpPr/>
          <p:nvPr/>
        </p:nvSpPr>
        <p:spPr>
          <a:xfrm>
            <a:off x="2066330" y="2277070"/>
            <a:ext cx="43130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CUST</a:t>
            </a:r>
            <a:endParaRPr lang="en-US" sz="1200" dirty="0"/>
          </a:p>
        </p:txBody>
      </p:sp>
      <p:sp>
        <p:nvSpPr>
          <p:cNvPr id="7" name="Text 5"/>
          <p:cNvSpPr/>
          <p:nvPr/>
        </p:nvSpPr>
        <p:spPr>
          <a:xfrm>
            <a:off x="3183731" y="1957685"/>
            <a:ext cx="400546" cy="223441"/>
          </a:xfrm>
          <a:prstGeom prst="rect">
            <a:avLst/>
          </a:prstGeom>
          <a:noFill/>
          <a:ln/>
        </p:spPr>
        <p:txBody>
          <a:bodyPr wrap="square" lIns="0" tIns="0" rIns="0" bIns="0" rtlCol="0" anchor="t">
            <a:normAutofit/>
          </a:bodyPr>
          <a:lstStyle/>
          <a:p>
            <a:pPr marL="0" indent="0" algn="ctr">
              <a:lnSpc>
                <a:spcPts val="1560"/>
              </a:lnSpc>
              <a:buNone/>
            </a:pPr>
            <a:r>
              <a:rPr lang="en-US" sz="1300" b="1" dirty="0">
                <a:solidFill>
                  <a:srgbClr val="5E6673"/>
                </a:solidFill>
                <a:latin typeface="Noto Sans KR" pitchFamily="34" charset="0"/>
                <a:ea typeface="Noto Sans KR" pitchFamily="34" charset="-122"/>
                <a:cs typeface="Noto Sans KR" pitchFamily="34" charset="-120"/>
              </a:rPr>
              <a:t>1 : N</a:t>
            </a:r>
            <a:endParaRPr lang="en-US" sz="1300" dirty="0"/>
          </a:p>
        </p:txBody>
      </p:sp>
      <p:sp>
        <p:nvSpPr>
          <p:cNvPr id="8" name="Text 6"/>
          <p:cNvSpPr/>
          <p:nvPr/>
        </p:nvSpPr>
        <p:spPr>
          <a:xfrm>
            <a:off x="3183731" y="2155726"/>
            <a:ext cx="400546"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9" name="Shape 7"/>
          <p:cNvSpPr/>
          <p:nvPr/>
        </p:nvSpPr>
        <p:spPr>
          <a:xfrm>
            <a:off x="3666827" y="1819870"/>
            <a:ext cx="2146300" cy="829270"/>
          </a:xfrm>
          <a:prstGeom prst="roundRect">
            <a:avLst>
              <a:gd name="adj" fmla="val 9955"/>
            </a:avLst>
          </a:prstGeom>
          <a:solidFill>
            <a:srgbClr val="E4ECF7"/>
          </a:solidFill>
          <a:ln w="12700">
            <a:solidFill>
              <a:srgbClr val="9DB6DC"/>
            </a:solidFill>
            <a:prstDash val="solid"/>
          </a:ln>
        </p:spPr>
        <p:txBody>
          <a:bodyPr/>
          <a:lstStyle/>
          <a:p>
            <a:endParaRPr lang="ko-KR" altLang="en-US"/>
          </a:p>
        </p:txBody>
      </p:sp>
      <p:sp>
        <p:nvSpPr>
          <p:cNvPr id="10" name="Text 8"/>
          <p:cNvSpPr/>
          <p:nvPr/>
        </p:nvSpPr>
        <p:spPr>
          <a:xfrm>
            <a:off x="4539258" y="1978620"/>
            <a:ext cx="401340"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2458A6"/>
                </a:solidFill>
                <a:latin typeface="Noto Sans KR" pitchFamily="34" charset="0"/>
                <a:ea typeface="Noto Sans KR" pitchFamily="34" charset="-122"/>
                <a:cs typeface="Noto Sans KR" pitchFamily="34" charset="-120"/>
              </a:rPr>
              <a:t>주문</a:t>
            </a:r>
            <a:endParaRPr lang="en-US" sz="1500" dirty="0"/>
          </a:p>
        </p:txBody>
      </p:sp>
      <p:sp>
        <p:nvSpPr>
          <p:cNvPr id="11" name="Text 9"/>
          <p:cNvSpPr/>
          <p:nvPr/>
        </p:nvSpPr>
        <p:spPr>
          <a:xfrm>
            <a:off x="4042569" y="2277070"/>
            <a:ext cx="139471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458A6"/>
                </a:solidFill>
                <a:latin typeface="Noto Sans KR" pitchFamily="34" charset="0"/>
                <a:ea typeface="Noto Sans KR" pitchFamily="34" charset="-122"/>
                <a:cs typeface="Noto Sans KR" pitchFamily="34" charset="-120"/>
              </a:rPr>
              <a:t>ORD · 배송비는 여기</a:t>
            </a:r>
            <a:endParaRPr lang="en-US" sz="1200" dirty="0"/>
          </a:p>
        </p:txBody>
      </p:sp>
      <p:sp>
        <p:nvSpPr>
          <p:cNvPr id="12" name="Text 10"/>
          <p:cNvSpPr/>
          <p:nvPr/>
        </p:nvSpPr>
        <p:spPr>
          <a:xfrm>
            <a:off x="5895677" y="1957685"/>
            <a:ext cx="400546" cy="223441"/>
          </a:xfrm>
          <a:prstGeom prst="rect">
            <a:avLst/>
          </a:prstGeom>
          <a:noFill/>
          <a:ln/>
        </p:spPr>
        <p:txBody>
          <a:bodyPr wrap="square" lIns="0" tIns="0" rIns="0" bIns="0" rtlCol="0" anchor="t">
            <a:normAutofit/>
          </a:bodyPr>
          <a:lstStyle/>
          <a:p>
            <a:pPr marL="0" indent="0" algn="ctr">
              <a:lnSpc>
                <a:spcPts val="1560"/>
              </a:lnSpc>
              <a:buNone/>
            </a:pPr>
            <a:r>
              <a:rPr lang="en-US" sz="1300" b="1" dirty="0">
                <a:solidFill>
                  <a:srgbClr val="5E6673"/>
                </a:solidFill>
                <a:latin typeface="Noto Sans KR" pitchFamily="34" charset="0"/>
                <a:ea typeface="Noto Sans KR" pitchFamily="34" charset="-122"/>
                <a:cs typeface="Noto Sans KR" pitchFamily="34" charset="-120"/>
              </a:rPr>
              <a:t>1 : N</a:t>
            </a:r>
            <a:endParaRPr lang="en-US" sz="1300" dirty="0"/>
          </a:p>
        </p:txBody>
      </p:sp>
      <p:sp>
        <p:nvSpPr>
          <p:cNvPr id="13" name="Text 11"/>
          <p:cNvSpPr/>
          <p:nvPr/>
        </p:nvSpPr>
        <p:spPr>
          <a:xfrm>
            <a:off x="5895677" y="2155726"/>
            <a:ext cx="400546"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14" name="Shape 12"/>
          <p:cNvSpPr/>
          <p:nvPr/>
        </p:nvSpPr>
        <p:spPr>
          <a:xfrm>
            <a:off x="6378773" y="1819870"/>
            <a:ext cx="2146300" cy="829270"/>
          </a:xfrm>
          <a:prstGeom prst="roundRect">
            <a:avLst>
              <a:gd name="adj" fmla="val 9955"/>
            </a:avLst>
          </a:prstGeom>
          <a:solidFill>
            <a:srgbClr val="FFFDF8"/>
          </a:solidFill>
          <a:ln w="12700">
            <a:solidFill>
              <a:srgbClr val="D9D4C7"/>
            </a:solidFill>
            <a:prstDash val="solid"/>
          </a:ln>
        </p:spPr>
        <p:txBody>
          <a:bodyPr/>
          <a:lstStyle/>
          <a:p>
            <a:endParaRPr lang="ko-KR" altLang="en-US"/>
          </a:p>
        </p:txBody>
      </p:sp>
      <p:sp>
        <p:nvSpPr>
          <p:cNvPr id="15" name="Text 13"/>
          <p:cNvSpPr/>
          <p:nvPr/>
        </p:nvSpPr>
        <p:spPr>
          <a:xfrm>
            <a:off x="7075984" y="1978620"/>
            <a:ext cx="751880"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1B2A44"/>
                </a:solidFill>
                <a:latin typeface="Noto Sans KR" pitchFamily="34" charset="0"/>
                <a:ea typeface="Noto Sans KR" pitchFamily="34" charset="-122"/>
                <a:cs typeface="Noto Sans KR" pitchFamily="34" charset="-120"/>
              </a:rPr>
              <a:t>주문항목</a:t>
            </a:r>
            <a:endParaRPr lang="en-US" sz="1500" dirty="0"/>
          </a:p>
        </p:txBody>
      </p:sp>
      <p:sp>
        <p:nvSpPr>
          <p:cNvPr id="16" name="Text 14"/>
          <p:cNvSpPr/>
          <p:nvPr/>
        </p:nvSpPr>
        <p:spPr>
          <a:xfrm>
            <a:off x="6660356" y="2277070"/>
            <a:ext cx="158303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ORD_ITEM · 상품 한 줄</a:t>
            </a:r>
            <a:endParaRPr lang="en-US" sz="1200" dirty="0"/>
          </a:p>
        </p:txBody>
      </p:sp>
      <p:sp>
        <p:nvSpPr>
          <p:cNvPr id="17" name="Text 15"/>
          <p:cNvSpPr/>
          <p:nvPr/>
        </p:nvSpPr>
        <p:spPr>
          <a:xfrm>
            <a:off x="8607623" y="1957685"/>
            <a:ext cx="400546" cy="223441"/>
          </a:xfrm>
          <a:prstGeom prst="rect">
            <a:avLst/>
          </a:prstGeom>
          <a:noFill/>
          <a:ln/>
        </p:spPr>
        <p:txBody>
          <a:bodyPr wrap="square" lIns="0" tIns="0" rIns="0" bIns="0" rtlCol="0" anchor="t">
            <a:normAutofit/>
          </a:bodyPr>
          <a:lstStyle/>
          <a:p>
            <a:pPr marL="0" indent="0" algn="ctr">
              <a:lnSpc>
                <a:spcPts val="1560"/>
              </a:lnSpc>
              <a:buNone/>
            </a:pPr>
            <a:r>
              <a:rPr lang="en-US" sz="1300" b="1" dirty="0">
                <a:solidFill>
                  <a:srgbClr val="5E6673"/>
                </a:solidFill>
                <a:latin typeface="Noto Sans KR" pitchFamily="34" charset="0"/>
                <a:ea typeface="Noto Sans KR" pitchFamily="34" charset="-122"/>
                <a:cs typeface="Noto Sans KR" pitchFamily="34" charset="-120"/>
              </a:rPr>
              <a:t>N : 1</a:t>
            </a:r>
            <a:endParaRPr lang="en-US" sz="1300" dirty="0"/>
          </a:p>
        </p:txBody>
      </p:sp>
      <p:sp>
        <p:nvSpPr>
          <p:cNvPr id="18" name="Text 16"/>
          <p:cNvSpPr/>
          <p:nvPr/>
        </p:nvSpPr>
        <p:spPr>
          <a:xfrm>
            <a:off x="8607623" y="2155726"/>
            <a:ext cx="400546" cy="381000"/>
          </a:xfrm>
          <a:prstGeom prst="rect">
            <a:avLst/>
          </a:prstGeom>
          <a:noFill/>
          <a:ln/>
        </p:spPr>
        <p:txBody>
          <a:bodyPr wrap="square" lIns="0" tIns="0" rIns="0" bIns="0" rtlCol="0" anchor="t">
            <a:normAutofit/>
          </a:bodyPr>
          <a:lstStyle/>
          <a:p>
            <a:pPr marL="0" indent="0" algn="ctr">
              <a:lnSpc>
                <a:spcPts val="2800"/>
              </a:lnSpc>
              <a:buNone/>
            </a:pPr>
            <a:r>
              <a:rPr lang="en-US" sz="2000" b="1" dirty="0">
                <a:solidFill>
                  <a:srgbClr val="5E6673"/>
                </a:solidFill>
                <a:latin typeface="Noto Sans KR" pitchFamily="34" charset="0"/>
                <a:ea typeface="Noto Sans KR" pitchFamily="34" charset="-122"/>
                <a:cs typeface="Noto Sans KR" pitchFamily="34" charset="-120"/>
              </a:rPr>
              <a:t>←</a:t>
            </a:r>
            <a:endParaRPr lang="en-US" sz="2000" dirty="0"/>
          </a:p>
        </p:txBody>
      </p:sp>
      <p:sp>
        <p:nvSpPr>
          <p:cNvPr id="19" name="Shape 17"/>
          <p:cNvSpPr/>
          <p:nvPr/>
        </p:nvSpPr>
        <p:spPr>
          <a:xfrm>
            <a:off x="9090720" y="1819870"/>
            <a:ext cx="1638300" cy="829270"/>
          </a:xfrm>
          <a:prstGeom prst="roundRect">
            <a:avLst>
              <a:gd name="adj" fmla="val 9955"/>
            </a:avLst>
          </a:prstGeom>
          <a:solidFill>
            <a:srgbClr val="FFFDF8"/>
          </a:solidFill>
          <a:ln w="12700">
            <a:solidFill>
              <a:srgbClr val="D9D4C7"/>
            </a:solidFill>
            <a:prstDash val="solid"/>
          </a:ln>
        </p:spPr>
        <p:txBody>
          <a:bodyPr/>
          <a:lstStyle/>
          <a:p>
            <a:endParaRPr lang="ko-KR" altLang="en-US"/>
          </a:p>
        </p:txBody>
      </p:sp>
      <p:sp>
        <p:nvSpPr>
          <p:cNvPr id="20" name="Text 18"/>
          <p:cNvSpPr/>
          <p:nvPr/>
        </p:nvSpPr>
        <p:spPr>
          <a:xfrm>
            <a:off x="9709150" y="1978620"/>
            <a:ext cx="401340"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1B2A44"/>
                </a:solidFill>
                <a:latin typeface="Noto Sans KR" pitchFamily="34" charset="0"/>
                <a:ea typeface="Noto Sans KR" pitchFamily="34" charset="-122"/>
                <a:cs typeface="Noto Sans KR" pitchFamily="34" charset="-120"/>
              </a:rPr>
              <a:t>상품</a:t>
            </a:r>
            <a:endParaRPr lang="en-US" sz="1500" dirty="0"/>
          </a:p>
        </p:txBody>
      </p:sp>
      <p:sp>
        <p:nvSpPr>
          <p:cNvPr id="21" name="Text 19"/>
          <p:cNvSpPr/>
          <p:nvPr/>
        </p:nvSpPr>
        <p:spPr>
          <a:xfrm>
            <a:off x="9735344" y="2277070"/>
            <a:ext cx="34895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PRD</a:t>
            </a:r>
            <a:endParaRPr lang="en-US" sz="1200" dirty="0"/>
          </a:p>
        </p:txBody>
      </p:sp>
      <p:sp>
        <p:nvSpPr>
          <p:cNvPr id="22" name="Shape 20"/>
          <p:cNvSpPr/>
          <p:nvPr/>
        </p:nvSpPr>
        <p:spPr>
          <a:xfrm>
            <a:off x="815975" y="2912666"/>
            <a:ext cx="3397250" cy="1558131"/>
          </a:xfrm>
          <a:prstGeom prst="roundRect">
            <a:avLst>
              <a:gd name="adj" fmla="val 6317"/>
            </a:avLst>
          </a:prstGeom>
          <a:solidFill>
            <a:srgbClr val="FFFDF8"/>
          </a:solidFill>
          <a:ln w="6350">
            <a:solidFill>
              <a:srgbClr val="D9D4C7"/>
            </a:solidFill>
            <a:prstDash val="solid"/>
          </a:ln>
        </p:spPr>
        <p:txBody>
          <a:bodyPr/>
          <a:lstStyle/>
          <a:p>
            <a:endParaRPr lang="ko-KR" altLang="en-US"/>
          </a:p>
        </p:txBody>
      </p:sp>
      <p:sp>
        <p:nvSpPr>
          <p:cNvPr id="23" name="Text 21"/>
          <p:cNvSpPr/>
          <p:nvPr/>
        </p:nvSpPr>
        <p:spPr>
          <a:xfrm>
            <a:off x="1047750" y="3144441"/>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정규화</a:t>
            </a:r>
            <a:endParaRPr lang="en-US" sz="1200" dirty="0"/>
          </a:p>
        </p:txBody>
      </p:sp>
      <p:sp>
        <p:nvSpPr>
          <p:cNvPr id="24" name="Text 22"/>
          <p:cNvSpPr/>
          <p:nvPr/>
        </p:nvSpPr>
        <p:spPr>
          <a:xfrm>
            <a:off x="1047750" y="3446661"/>
            <a:ext cx="302171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배송비처럼 주문 단위 값은 주문 테이블로 옮겨 </a:t>
            </a:r>
            <a:r>
              <a:rPr lang="en-US" sz="1300" b="1" dirty="0">
                <a:solidFill>
                  <a:srgbClr val="3D4757"/>
                </a:solidFill>
                <a:latin typeface="Noto Sans KR" pitchFamily="34" charset="0"/>
                <a:ea typeface="Noto Sans KR" pitchFamily="34" charset="-122"/>
                <a:cs typeface="Noto Sans KR" pitchFamily="34" charset="-120"/>
              </a:rPr>
              <a:t>한 번만</a:t>
            </a:r>
            <a:r>
              <a:rPr lang="en-US" sz="1300" dirty="0">
                <a:solidFill>
                  <a:srgbClr val="3D4757"/>
                </a:solidFill>
                <a:latin typeface="Noto Sans KR" pitchFamily="34" charset="0"/>
                <a:ea typeface="Noto Sans KR" pitchFamily="34" charset="-122"/>
                <a:cs typeface="Noto Sans KR" pitchFamily="34" charset="-120"/>
              </a:rPr>
              <a:t> 적습니다. 그러면 더해도 부풀지 않습니다.</a:t>
            </a:r>
            <a:endParaRPr lang="en-US" sz="1300" dirty="0"/>
          </a:p>
        </p:txBody>
      </p:sp>
      <p:sp>
        <p:nvSpPr>
          <p:cNvPr id="25" name="Shape 23"/>
          <p:cNvSpPr/>
          <p:nvPr/>
        </p:nvSpPr>
        <p:spPr>
          <a:xfrm>
            <a:off x="4397375" y="2912666"/>
            <a:ext cx="3397250" cy="1558131"/>
          </a:xfrm>
          <a:prstGeom prst="roundRect">
            <a:avLst>
              <a:gd name="adj" fmla="val 6317"/>
            </a:avLst>
          </a:prstGeom>
          <a:solidFill>
            <a:srgbClr val="FFFDF8"/>
          </a:solidFill>
          <a:ln w="6350">
            <a:solidFill>
              <a:srgbClr val="D9D4C7"/>
            </a:solidFill>
            <a:prstDash val="solid"/>
          </a:ln>
        </p:spPr>
        <p:txBody>
          <a:bodyPr/>
          <a:lstStyle/>
          <a:p>
            <a:endParaRPr lang="ko-KR" altLang="en-US"/>
          </a:p>
        </p:txBody>
      </p:sp>
      <p:sp>
        <p:nvSpPr>
          <p:cNvPr id="26" name="Text 24"/>
          <p:cNvSpPr/>
          <p:nvPr/>
        </p:nvSpPr>
        <p:spPr>
          <a:xfrm>
            <a:off x="4629150" y="3144441"/>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PK (기본키)</a:t>
            </a:r>
            <a:endParaRPr lang="en-US" sz="1200" dirty="0"/>
          </a:p>
        </p:txBody>
      </p:sp>
      <p:sp>
        <p:nvSpPr>
          <p:cNvPr id="27" name="Text 25"/>
          <p:cNvSpPr/>
          <p:nvPr/>
        </p:nvSpPr>
        <p:spPr>
          <a:xfrm>
            <a:off x="4629150" y="3446661"/>
            <a:ext cx="302171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테이블 안에서 한 줄을 짚어 내는 값. 주문항목은 </a:t>
            </a:r>
            <a:r>
              <a:rPr lang="en-US" sz="1300" b="1" dirty="0">
                <a:solidFill>
                  <a:srgbClr val="3D4757"/>
                </a:solidFill>
                <a:latin typeface="Noto Sans KR" pitchFamily="34" charset="0"/>
                <a:ea typeface="Noto Sans KR" pitchFamily="34" charset="-122"/>
                <a:cs typeface="Noto Sans KR" pitchFamily="34" charset="-120"/>
              </a:rPr>
              <a:t>주문번호 + 순번</a:t>
            </a:r>
            <a:r>
              <a:rPr lang="en-US" sz="1300" dirty="0">
                <a:solidFill>
                  <a:srgbClr val="3D4757"/>
                </a:solidFill>
                <a:latin typeface="Noto Sans KR" pitchFamily="34" charset="0"/>
                <a:ea typeface="Noto Sans KR" pitchFamily="34" charset="-122"/>
                <a:cs typeface="Noto Sans KR" pitchFamily="34" charset="-120"/>
              </a:rPr>
              <a:t> 두 개를 합쳐 PK로 씁니다.</a:t>
            </a:r>
            <a:endParaRPr lang="en-US" sz="1300" dirty="0"/>
          </a:p>
        </p:txBody>
      </p:sp>
      <p:sp>
        <p:nvSpPr>
          <p:cNvPr id="28" name="Shape 26"/>
          <p:cNvSpPr/>
          <p:nvPr/>
        </p:nvSpPr>
        <p:spPr>
          <a:xfrm>
            <a:off x="7978775" y="2912666"/>
            <a:ext cx="3397250" cy="1558131"/>
          </a:xfrm>
          <a:prstGeom prst="roundRect">
            <a:avLst>
              <a:gd name="adj" fmla="val 6317"/>
            </a:avLst>
          </a:prstGeom>
          <a:solidFill>
            <a:srgbClr val="FFFDF8"/>
          </a:solidFill>
          <a:ln w="6350">
            <a:solidFill>
              <a:srgbClr val="D9D4C7"/>
            </a:solidFill>
            <a:prstDash val="solid"/>
          </a:ln>
        </p:spPr>
        <p:txBody>
          <a:bodyPr/>
          <a:lstStyle/>
          <a:p>
            <a:endParaRPr lang="ko-KR" altLang="en-US"/>
          </a:p>
        </p:txBody>
      </p:sp>
      <p:sp>
        <p:nvSpPr>
          <p:cNvPr id="29" name="Text 27"/>
          <p:cNvSpPr/>
          <p:nvPr/>
        </p:nvSpPr>
        <p:spPr>
          <a:xfrm>
            <a:off x="8210550" y="3144441"/>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FK (외래키)</a:t>
            </a:r>
            <a:endParaRPr lang="en-US" sz="1200" dirty="0"/>
          </a:p>
        </p:txBody>
      </p:sp>
      <p:sp>
        <p:nvSpPr>
          <p:cNvPr id="30" name="Text 28"/>
          <p:cNvSpPr/>
          <p:nvPr/>
        </p:nvSpPr>
        <p:spPr>
          <a:xfrm>
            <a:off x="8210550" y="344666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다른 테이블의 PK를 가리키는 값. 주문의 고객번호는 고객 테이블을 가리킵니다.</a:t>
            </a:r>
            <a:endParaRPr lang="en-US" sz="1300" dirty="0"/>
          </a:p>
        </p:txBody>
      </p:sp>
      <p:sp>
        <p:nvSpPr>
          <p:cNvPr id="31" name="Text 29"/>
          <p:cNvSpPr/>
          <p:nvPr/>
        </p:nvSpPr>
        <p:spPr>
          <a:xfrm>
            <a:off x="812800" y="4727972"/>
            <a:ext cx="10883392"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5E6673"/>
                </a:solidFill>
                <a:latin typeface="Noto Sans KR" pitchFamily="34" charset="0"/>
                <a:ea typeface="Noto Sans KR" pitchFamily="34" charset="-122"/>
                <a:cs typeface="Noto Sans KR" pitchFamily="34" charset="-120"/>
              </a:rPr>
              <a:t>4일차에 그림으로 설계하고, 5일차에 MySQL에 실제 테이블로 만듭니다.</a:t>
            </a:r>
            <a:endParaRPr lang="en-US" sz="1300" dirty="0"/>
          </a:p>
        </p:txBody>
      </p:sp>
      <p:sp>
        <p:nvSpPr>
          <p:cNvPr id="32" name="Text 3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33" name="Text 3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29 / 60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13 · AI Ready Data</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AI와 분석 도구가 바로 읽고, 믿고, 쓸 수 있는 데이터</a:t>
            </a:r>
            <a:endParaRPr lang="en-US" sz="3000" dirty="0"/>
          </a:p>
        </p:txBody>
      </p:sp>
      <p:sp>
        <p:nvSpPr>
          <p:cNvPr id="4" name="Shape 2"/>
          <p:cNvSpPr/>
          <p:nvPr/>
        </p:nvSpPr>
        <p:spPr>
          <a:xfrm>
            <a:off x="815975" y="1816695"/>
            <a:ext cx="2015430" cy="1977231"/>
          </a:xfrm>
          <a:prstGeom prst="roundRect">
            <a:avLst>
              <a:gd name="adj" fmla="val 4978"/>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16026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조건 1</a:t>
            </a:r>
            <a:endParaRPr lang="en-US" sz="1200" dirty="0"/>
          </a:p>
        </p:txBody>
      </p:sp>
      <p:sp>
        <p:nvSpPr>
          <p:cNvPr id="6" name="Text 4"/>
          <p:cNvSpPr/>
          <p:nvPr/>
        </p:nvSpPr>
        <p:spPr>
          <a:xfrm>
            <a:off x="1047750" y="2350691"/>
            <a:ext cx="1602680"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표준화되어 있다</a:t>
            </a:r>
            <a:endParaRPr lang="en-US" sz="1800" dirty="0"/>
          </a:p>
        </p:txBody>
      </p:sp>
      <p:sp>
        <p:nvSpPr>
          <p:cNvPr id="7" name="Text 5"/>
          <p:cNvSpPr/>
          <p:nvPr/>
        </p:nvSpPr>
        <p:spPr>
          <a:xfrm>
            <a:off x="1047750" y="2736751"/>
            <a:ext cx="1602680"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이름·형식·값이 약속대로</a:t>
            </a:r>
            <a:endParaRPr lang="en-US" sz="1300" dirty="0"/>
          </a:p>
        </p:txBody>
      </p:sp>
      <p:sp>
        <p:nvSpPr>
          <p:cNvPr id="8" name="Shape 6"/>
          <p:cNvSpPr/>
          <p:nvPr/>
        </p:nvSpPr>
        <p:spPr>
          <a:xfrm>
            <a:off x="2952055" y="1816695"/>
            <a:ext cx="2015530" cy="1977231"/>
          </a:xfrm>
          <a:prstGeom prst="roundRect">
            <a:avLst>
              <a:gd name="adj" fmla="val 4978"/>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3183830" y="2048470"/>
            <a:ext cx="1602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조건 2</a:t>
            </a:r>
            <a:endParaRPr lang="en-US" sz="1200" dirty="0"/>
          </a:p>
        </p:txBody>
      </p:sp>
      <p:sp>
        <p:nvSpPr>
          <p:cNvPr id="10" name="Text 8"/>
          <p:cNvSpPr/>
          <p:nvPr/>
        </p:nvSpPr>
        <p:spPr>
          <a:xfrm>
            <a:off x="3183830" y="2350691"/>
            <a:ext cx="1602780"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품질이 검증되어 있다</a:t>
            </a:r>
            <a:endParaRPr lang="en-US" sz="1800" dirty="0"/>
          </a:p>
        </p:txBody>
      </p:sp>
      <p:sp>
        <p:nvSpPr>
          <p:cNvPr id="11" name="Text 9"/>
          <p:cNvSpPr/>
          <p:nvPr/>
        </p:nvSpPr>
        <p:spPr>
          <a:xfrm>
            <a:off x="3183830" y="3033911"/>
            <a:ext cx="1602780"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검사 결과가 숫자로 남아 있다</a:t>
            </a:r>
            <a:endParaRPr lang="en-US" sz="1300" dirty="0"/>
          </a:p>
        </p:txBody>
      </p:sp>
      <p:sp>
        <p:nvSpPr>
          <p:cNvPr id="12" name="Shape 10"/>
          <p:cNvSpPr/>
          <p:nvPr/>
        </p:nvSpPr>
        <p:spPr>
          <a:xfrm>
            <a:off x="5088235" y="1816695"/>
            <a:ext cx="2015430" cy="1977231"/>
          </a:xfrm>
          <a:prstGeom prst="roundRect">
            <a:avLst>
              <a:gd name="adj" fmla="val 4978"/>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5320010" y="2048470"/>
            <a:ext cx="16026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조건 3</a:t>
            </a:r>
            <a:endParaRPr lang="en-US" sz="1200" dirty="0"/>
          </a:p>
        </p:txBody>
      </p:sp>
      <p:sp>
        <p:nvSpPr>
          <p:cNvPr id="14" name="Text 12"/>
          <p:cNvSpPr/>
          <p:nvPr/>
        </p:nvSpPr>
        <p:spPr>
          <a:xfrm>
            <a:off x="5320010" y="2350691"/>
            <a:ext cx="1602680"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설명이 붙어 있다</a:t>
            </a:r>
            <a:endParaRPr lang="en-US" sz="1800" dirty="0"/>
          </a:p>
        </p:txBody>
      </p:sp>
      <p:sp>
        <p:nvSpPr>
          <p:cNvPr id="15" name="Text 13"/>
          <p:cNvSpPr/>
          <p:nvPr/>
        </p:nvSpPr>
        <p:spPr>
          <a:xfrm>
            <a:off x="5320010" y="3033911"/>
            <a:ext cx="1602680"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메타데이터 · 카탈로그</a:t>
            </a:r>
            <a:endParaRPr lang="en-US" sz="1300" dirty="0"/>
          </a:p>
        </p:txBody>
      </p:sp>
      <p:sp>
        <p:nvSpPr>
          <p:cNvPr id="16" name="Shape 14"/>
          <p:cNvSpPr/>
          <p:nvPr/>
        </p:nvSpPr>
        <p:spPr>
          <a:xfrm>
            <a:off x="7224316" y="1816695"/>
            <a:ext cx="2015530" cy="1977231"/>
          </a:xfrm>
          <a:prstGeom prst="roundRect">
            <a:avLst>
              <a:gd name="adj" fmla="val 4978"/>
            </a:avLst>
          </a:prstGeom>
          <a:solidFill>
            <a:srgbClr val="FFFDF8"/>
          </a:solidFill>
          <a:ln w="6350">
            <a:solidFill>
              <a:srgbClr val="D9D4C7"/>
            </a:solidFill>
            <a:prstDash val="solid"/>
          </a:ln>
        </p:spPr>
        <p:txBody>
          <a:bodyPr/>
          <a:lstStyle/>
          <a:p>
            <a:endParaRPr lang="ko-KR" altLang="en-US"/>
          </a:p>
        </p:txBody>
      </p:sp>
      <p:sp>
        <p:nvSpPr>
          <p:cNvPr id="17" name="Text 15"/>
          <p:cNvSpPr/>
          <p:nvPr/>
        </p:nvSpPr>
        <p:spPr>
          <a:xfrm>
            <a:off x="7456091" y="2048470"/>
            <a:ext cx="1602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조건 4</a:t>
            </a:r>
            <a:endParaRPr lang="en-US" sz="1200" dirty="0"/>
          </a:p>
        </p:txBody>
      </p:sp>
      <p:sp>
        <p:nvSpPr>
          <p:cNvPr id="18" name="Text 16"/>
          <p:cNvSpPr/>
          <p:nvPr/>
        </p:nvSpPr>
        <p:spPr>
          <a:xfrm>
            <a:off x="7456091" y="2350691"/>
            <a:ext cx="1602780"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다시 만들 수 있다</a:t>
            </a:r>
            <a:endParaRPr lang="en-US" sz="1800" dirty="0"/>
          </a:p>
        </p:txBody>
      </p:sp>
      <p:sp>
        <p:nvSpPr>
          <p:cNvPr id="19" name="Text 17"/>
          <p:cNvSpPr/>
          <p:nvPr/>
        </p:nvSpPr>
        <p:spPr>
          <a:xfrm>
            <a:off x="7456091" y="3033911"/>
            <a:ext cx="1602780"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누가 돌려도 같은 결과</a:t>
            </a:r>
            <a:endParaRPr lang="en-US" sz="1300" dirty="0"/>
          </a:p>
        </p:txBody>
      </p:sp>
      <p:sp>
        <p:nvSpPr>
          <p:cNvPr id="20" name="Shape 18"/>
          <p:cNvSpPr/>
          <p:nvPr/>
        </p:nvSpPr>
        <p:spPr>
          <a:xfrm>
            <a:off x="9360495" y="1816695"/>
            <a:ext cx="2015530" cy="1977231"/>
          </a:xfrm>
          <a:prstGeom prst="roundRect">
            <a:avLst>
              <a:gd name="adj" fmla="val 4978"/>
            </a:avLst>
          </a:prstGeom>
          <a:solidFill>
            <a:srgbClr val="FFFDF8"/>
          </a:solidFill>
          <a:ln w="6350">
            <a:solidFill>
              <a:srgbClr val="D9D4C7"/>
            </a:solidFill>
            <a:prstDash val="solid"/>
          </a:ln>
        </p:spPr>
        <p:txBody>
          <a:bodyPr/>
          <a:lstStyle/>
          <a:p>
            <a:endParaRPr lang="ko-KR" altLang="en-US"/>
          </a:p>
        </p:txBody>
      </p:sp>
      <p:sp>
        <p:nvSpPr>
          <p:cNvPr id="21" name="Text 19"/>
          <p:cNvSpPr/>
          <p:nvPr/>
        </p:nvSpPr>
        <p:spPr>
          <a:xfrm>
            <a:off x="9592270" y="2048470"/>
            <a:ext cx="16027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조건 5</a:t>
            </a:r>
            <a:endParaRPr lang="en-US" sz="1200" dirty="0"/>
          </a:p>
        </p:txBody>
      </p:sp>
      <p:sp>
        <p:nvSpPr>
          <p:cNvPr id="22" name="Text 20"/>
          <p:cNvSpPr/>
          <p:nvPr/>
        </p:nvSpPr>
        <p:spPr>
          <a:xfrm>
            <a:off x="9592270" y="2350691"/>
            <a:ext cx="1602780"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미래가 섞이지 않았다</a:t>
            </a:r>
            <a:endParaRPr lang="en-US" sz="1800" dirty="0"/>
          </a:p>
        </p:txBody>
      </p:sp>
      <p:sp>
        <p:nvSpPr>
          <p:cNvPr id="23" name="Text 21"/>
          <p:cNvSpPr/>
          <p:nvPr/>
        </p:nvSpPr>
        <p:spPr>
          <a:xfrm>
            <a:off x="9592270" y="3033911"/>
            <a:ext cx="1602780"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공부용·정답용 기간 분리</a:t>
            </a:r>
            <a:endParaRPr lang="en-US" sz="1300" dirty="0"/>
          </a:p>
        </p:txBody>
      </p:sp>
      <p:sp>
        <p:nvSpPr>
          <p:cNvPr id="24" name="Shape 22"/>
          <p:cNvSpPr/>
          <p:nvPr/>
        </p:nvSpPr>
        <p:spPr>
          <a:xfrm>
            <a:off x="812800" y="4051102"/>
            <a:ext cx="10566400" cy="1282601"/>
          </a:xfrm>
          <a:prstGeom prst="roundRect">
            <a:avLst>
              <a:gd name="adj" fmla="val 5941"/>
            </a:avLst>
          </a:prstGeom>
          <a:solidFill>
            <a:srgbClr val="E3EFE7"/>
          </a:solidFill>
          <a:ln/>
        </p:spPr>
        <p:txBody>
          <a:bodyPr/>
          <a:lstStyle/>
          <a:p>
            <a:endParaRPr lang="ko-KR" altLang="en-US"/>
          </a:p>
        </p:txBody>
      </p:sp>
      <p:sp>
        <p:nvSpPr>
          <p:cNvPr id="25" name="Shape 23"/>
          <p:cNvSpPr/>
          <p:nvPr/>
        </p:nvSpPr>
        <p:spPr>
          <a:xfrm>
            <a:off x="812800" y="4051102"/>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26" name="Text 24"/>
          <p:cNvSpPr/>
          <p:nvPr/>
        </p:nvSpPr>
        <p:spPr>
          <a:xfrm>
            <a:off x="1117600" y="4254302"/>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밀키트</a:t>
            </a:r>
            <a:endParaRPr lang="en-US" sz="1300" dirty="0"/>
          </a:p>
        </p:txBody>
      </p:sp>
      <p:sp>
        <p:nvSpPr>
          <p:cNvPr id="27" name="Text 25"/>
          <p:cNvSpPr/>
          <p:nvPr/>
        </p:nvSpPr>
        <p:spPr>
          <a:xfrm>
            <a:off x="1117600" y="456158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재료가 손질되어 있고(표준화), 상한 재료는 빠져 있고(품질), 레시피 카드가 들어 있고(설명), 누가 만들어도 같은 맛이 나는(재현성) 상태. 바로 요리에 들어갈 수 있는 재료가 AI Ready Data입니다.</a:t>
            </a:r>
            <a:endParaRPr lang="en-US" sz="14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30 / 60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실제 현장 · AI-레디 공공데이터</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행정안전부도 공공데이터에 같은 개념을 도입했습니다</a:t>
            </a:r>
            <a:endParaRPr lang="en-US" sz="3000" dirty="0"/>
          </a:p>
        </p:txBody>
      </p:sp>
      <p:sp>
        <p:nvSpPr>
          <p:cNvPr id="4" name="Text 2"/>
          <p:cNvSpPr/>
          <p:nvPr/>
        </p:nvSpPr>
        <p:spPr>
          <a:xfrm>
            <a:off x="812800" y="1813520"/>
            <a:ext cx="457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E12"/>
                </a:solidFill>
                <a:latin typeface="Noto Sans KR" pitchFamily="34" charset="0"/>
                <a:ea typeface="Noto Sans KR" pitchFamily="34" charset="-122"/>
                <a:cs typeface="Noto Sans KR" pitchFamily="34" charset="-120"/>
              </a:rPr>
              <a:t>1</a:t>
            </a:r>
            <a:endParaRPr lang="en-US" sz="2200" dirty="0"/>
          </a:p>
        </p:txBody>
      </p:sp>
      <p:sp>
        <p:nvSpPr>
          <p:cNvPr id="5" name="Text 3"/>
          <p:cNvSpPr/>
          <p:nvPr/>
        </p:nvSpPr>
        <p:spPr>
          <a:xfrm>
            <a:off x="1320800" y="1866205"/>
            <a:ext cx="3914387"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B2A44"/>
                </a:solidFill>
                <a:latin typeface="Noto Sans KR" pitchFamily="34" charset="0"/>
                <a:ea typeface="Noto Sans KR" pitchFamily="34" charset="-122"/>
                <a:cs typeface="Noto Sans KR" pitchFamily="34" charset="-120"/>
              </a:rPr>
              <a:t>AI가 바로 읽고 활용할 수 있는 </a:t>
            </a:r>
            <a:r>
              <a:rPr lang="en-US" sz="1500" b="1" dirty="0">
                <a:solidFill>
                  <a:srgbClr val="1B2A44"/>
                </a:solidFill>
                <a:latin typeface="Noto Sans KR" pitchFamily="34" charset="0"/>
                <a:ea typeface="Noto Sans KR" pitchFamily="34" charset="-122"/>
                <a:cs typeface="Noto Sans KR" pitchFamily="34" charset="-120"/>
              </a:rPr>
              <a:t>형식</a:t>
            </a:r>
            <a:r>
              <a:rPr lang="en-US" sz="1500" dirty="0">
                <a:solidFill>
                  <a:srgbClr val="1B2A44"/>
                </a:solidFill>
                <a:latin typeface="Noto Sans KR" pitchFamily="34" charset="0"/>
                <a:ea typeface="Noto Sans KR" pitchFamily="34" charset="-122"/>
                <a:cs typeface="Noto Sans KR" pitchFamily="34" charset="-120"/>
              </a:rPr>
              <a:t>으로 제공한다</a:t>
            </a:r>
            <a:endParaRPr lang="en-US" sz="1500" dirty="0"/>
          </a:p>
        </p:txBody>
      </p:sp>
      <p:sp>
        <p:nvSpPr>
          <p:cNvPr id="6" name="Text 4"/>
          <p:cNvSpPr/>
          <p:nvPr/>
        </p:nvSpPr>
        <p:spPr>
          <a:xfrm>
            <a:off x="812800" y="2344341"/>
            <a:ext cx="457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E12"/>
                </a:solidFill>
                <a:latin typeface="Noto Sans KR" pitchFamily="34" charset="0"/>
                <a:ea typeface="Noto Sans KR" pitchFamily="34" charset="-122"/>
                <a:cs typeface="Noto Sans KR" pitchFamily="34" charset="-120"/>
              </a:rPr>
              <a:t>2</a:t>
            </a:r>
            <a:endParaRPr lang="en-US" sz="2200" dirty="0"/>
          </a:p>
        </p:txBody>
      </p:sp>
      <p:sp>
        <p:nvSpPr>
          <p:cNvPr id="7" name="Text 5"/>
          <p:cNvSpPr/>
          <p:nvPr/>
        </p:nvSpPr>
        <p:spPr>
          <a:xfrm>
            <a:off x="1320800" y="2397026"/>
            <a:ext cx="6436056"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B2A44"/>
                </a:solidFill>
                <a:latin typeface="Noto Sans KR" pitchFamily="34" charset="0"/>
                <a:ea typeface="Noto Sans KR" pitchFamily="34" charset="-122"/>
                <a:cs typeface="Noto Sans KR" pitchFamily="34" charset="-120"/>
              </a:rPr>
              <a:t>완결성·결측률 같은 </a:t>
            </a:r>
            <a:r>
              <a:rPr lang="en-US" sz="1500" b="1" dirty="0">
                <a:solidFill>
                  <a:srgbClr val="1B2A44"/>
                </a:solidFill>
                <a:latin typeface="Noto Sans KR" pitchFamily="34" charset="0"/>
                <a:ea typeface="Noto Sans KR" pitchFamily="34" charset="-122"/>
                <a:cs typeface="Noto Sans KR" pitchFamily="34" charset="-120"/>
              </a:rPr>
              <a:t>요약 통계</a:t>
            </a:r>
            <a:r>
              <a:rPr lang="en-US" sz="1500" dirty="0">
                <a:solidFill>
                  <a:srgbClr val="1B2A44"/>
                </a:solidFill>
                <a:latin typeface="Noto Sans KR" pitchFamily="34" charset="0"/>
                <a:ea typeface="Noto Sans KR" pitchFamily="34" charset="-122"/>
                <a:cs typeface="Noto Sans KR" pitchFamily="34" charset="-120"/>
              </a:rPr>
              <a:t>, 갱신 주기, 변경 이력을 </a:t>
            </a:r>
            <a:r>
              <a:rPr lang="en-US" sz="1500" b="1" dirty="0">
                <a:solidFill>
                  <a:srgbClr val="1B2A44"/>
                </a:solidFill>
                <a:latin typeface="Noto Sans KR" pitchFamily="34" charset="0"/>
                <a:ea typeface="Noto Sans KR" pitchFamily="34" charset="-122"/>
                <a:cs typeface="Noto Sans KR" pitchFamily="34" charset="-120"/>
              </a:rPr>
              <a:t>메타데이터</a:t>
            </a:r>
            <a:r>
              <a:rPr lang="en-US" sz="1500" dirty="0">
                <a:solidFill>
                  <a:srgbClr val="1B2A44"/>
                </a:solidFill>
                <a:latin typeface="Noto Sans KR" pitchFamily="34" charset="0"/>
                <a:ea typeface="Noto Sans KR" pitchFamily="34" charset="-122"/>
                <a:cs typeface="Noto Sans KR" pitchFamily="34" charset="-120"/>
              </a:rPr>
              <a:t>로 함께 담는다</a:t>
            </a:r>
            <a:endParaRPr lang="en-US" sz="1500" dirty="0"/>
          </a:p>
        </p:txBody>
      </p:sp>
      <p:sp>
        <p:nvSpPr>
          <p:cNvPr id="8" name="Text 6"/>
          <p:cNvSpPr/>
          <p:nvPr/>
        </p:nvSpPr>
        <p:spPr>
          <a:xfrm>
            <a:off x="812800" y="2875161"/>
            <a:ext cx="457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E12"/>
                </a:solidFill>
                <a:latin typeface="Noto Sans KR" pitchFamily="34" charset="0"/>
                <a:ea typeface="Noto Sans KR" pitchFamily="34" charset="-122"/>
                <a:cs typeface="Noto Sans KR" pitchFamily="34" charset="-120"/>
              </a:rPr>
              <a:t>3</a:t>
            </a:r>
            <a:endParaRPr lang="en-US" sz="2200" dirty="0"/>
          </a:p>
        </p:txBody>
      </p:sp>
      <p:sp>
        <p:nvSpPr>
          <p:cNvPr id="9" name="Text 7"/>
          <p:cNvSpPr/>
          <p:nvPr/>
        </p:nvSpPr>
        <p:spPr>
          <a:xfrm>
            <a:off x="1320800" y="2927846"/>
            <a:ext cx="4120924"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B2A44"/>
                </a:solidFill>
                <a:latin typeface="Noto Sans KR" pitchFamily="34" charset="0"/>
                <a:ea typeface="Noto Sans KR" pitchFamily="34" charset="-122"/>
                <a:cs typeface="Noto Sans KR" pitchFamily="34" charset="-120"/>
              </a:rPr>
              <a:t>주소·행정코드 같은 식별 값에 </a:t>
            </a:r>
            <a:r>
              <a:rPr lang="en-US" sz="1500" b="1" dirty="0">
                <a:solidFill>
                  <a:srgbClr val="1B2A44"/>
                </a:solidFill>
                <a:latin typeface="Noto Sans KR" pitchFamily="34" charset="0"/>
                <a:ea typeface="Noto Sans KR" pitchFamily="34" charset="-122"/>
                <a:cs typeface="Noto Sans KR" pitchFamily="34" charset="-120"/>
              </a:rPr>
              <a:t>표준코드</a:t>
            </a:r>
            <a:r>
              <a:rPr lang="en-US" sz="1500" dirty="0">
                <a:solidFill>
                  <a:srgbClr val="1B2A44"/>
                </a:solidFill>
                <a:latin typeface="Noto Sans KR" pitchFamily="34" charset="0"/>
                <a:ea typeface="Noto Sans KR" pitchFamily="34" charset="-122"/>
                <a:cs typeface="Noto Sans KR" pitchFamily="34" charset="-120"/>
              </a:rPr>
              <a:t>를 적용한다</a:t>
            </a:r>
            <a:endParaRPr lang="en-US" sz="1500" dirty="0"/>
          </a:p>
        </p:txBody>
      </p:sp>
      <p:sp>
        <p:nvSpPr>
          <p:cNvPr id="10" name="Text 8"/>
          <p:cNvSpPr/>
          <p:nvPr/>
        </p:nvSpPr>
        <p:spPr>
          <a:xfrm>
            <a:off x="812800" y="3405981"/>
            <a:ext cx="457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E12"/>
                </a:solidFill>
                <a:latin typeface="Noto Sans KR" pitchFamily="34" charset="0"/>
                <a:ea typeface="Noto Sans KR" pitchFamily="34" charset="-122"/>
                <a:cs typeface="Noto Sans KR" pitchFamily="34" charset="-120"/>
              </a:rPr>
              <a:t>4</a:t>
            </a:r>
            <a:endParaRPr lang="en-US" sz="2200" dirty="0"/>
          </a:p>
        </p:txBody>
      </p:sp>
      <p:sp>
        <p:nvSpPr>
          <p:cNvPr id="11" name="Text 9"/>
          <p:cNvSpPr/>
          <p:nvPr/>
        </p:nvSpPr>
        <p:spPr>
          <a:xfrm>
            <a:off x="1320800" y="3458666"/>
            <a:ext cx="4637112"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B2A44"/>
                </a:solidFill>
                <a:latin typeface="Noto Sans KR" pitchFamily="34" charset="0"/>
                <a:ea typeface="Noto Sans KR" pitchFamily="34" charset="-122"/>
                <a:cs typeface="Noto Sans KR" pitchFamily="34" charset="-120"/>
              </a:rPr>
              <a:t>AI 서비스의 정확성과 신뢰성을 위한 </a:t>
            </a:r>
            <a:r>
              <a:rPr lang="en-US" sz="1500" b="1" dirty="0">
                <a:solidFill>
                  <a:srgbClr val="1B2A44"/>
                </a:solidFill>
                <a:latin typeface="Noto Sans KR" pitchFamily="34" charset="0"/>
                <a:ea typeface="Noto Sans KR" pitchFamily="34" charset="-122"/>
                <a:cs typeface="Noto Sans KR" pitchFamily="34" charset="-120"/>
              </a:rPr>
              <a:t>품질 기준</a:t>
            </a:r>
            <a:r>
              <a:rPr lang="en-US" sz="1500" dirty="0">
                <a:solidFill>
                  <a:srgbClr val="1B2A44"/>
                </a:solidFill>
                <a:latin typeface="Noto Sans KR" pitchFamily="34" charset="0"/>
                <a:ea typeface="Noto Sans KR" pitchFamily="34" charset="-122"/>
                <a:cs typeface="Noto Sans KR" pitchFamily="34" charset="-120"/>
              </a:rPr>
              <a:t>을 만족한다</a:t>
            </a:r>
            <a:endParaRPr lang="en-US" sz="1500" dirty="0"/>
          </a:p>
        </p:txBody>
      </p:sp>
      <p:sp>
        <p:nvSpPr>
          <p:cNvPr id="12" name="Shape 10"/>
          <p:cNvSpPr/>
          <p:nvPr/>
        </p:nvSpPr>
        <p:spPr>
          <a:xfrm>
            <a:off x="812800" y="4051102"/>
            <a:ext cx="10566400" cy="1219101"/>
          </a:xfrm>
          <a:prstGeom prst="roundRect">
            <a:avLst>
              <a:gd name="adj" fmla="val 6251"/>
            </a:avLst>
          </a:prstGeom>
          <a:solidFill>
            <a:srgbClr val="E4ECF7"/>
          </a:solidFill>
          <a:ln/>
        </p:spPr>
        <p:txBody>
          <a:bodyPr/>
          <a:lstStyle/>
          <a:p>
            <a:endParaRPr lang="ko-KR" altLang="en-US"/>
          </a:p>
        </p:txBody>
      </p:sp>
      <p:sp>
        <p:nvSpPr>
          <p:cNvPr id="13" name="Shape 11"/>
          <p:cNvSpPr/>
          <p:nvPr/>
        </p:nvSpPr>
        <p:spPr>
          <a:xfrm>
            <a:off x="812800" y="405110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14" name="Text 12"/>
          <p:cNvSpPr/>
          <p:nvPr/>
        </p:nvSpPr>
        <p:spPr>
          <a:xfrm>
            <a:off x="1092200" y="422890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우리 과목과 똑같은 방향</a:t>
            </a:r>
            <a:endParaRPr lang="en-US" sz="1300" dirty="0"/>
          </a:p>
        </p:txBody>
      </p:sp>
      <p:sp>
        <p:nvSpPr>
          <p:cNvPr id="15" name="Text 13"/>
          <p:cNvSpPr/>
          <p:nvPr/>
        </p:nvSpPr>
        <p:spPr>
          <a:xfrm>
            <a:off x="1092200" y="452348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형식 → 표준화 · 요약 통계 → 프로파일링과 품질보고서 · 메타데이터 → 표준 사전과 카탈로그 · 표준코드 → 코드 매핑. </a:t>
            </a:r>
            <a:r>
              <a:rPr lang="en-US" sz="1400" b="1" dirty="0">
                <a:solidFill>
                  <a:srgbClr val="3D4757"/>
                </a:solidFill>
                <a:latin typeface="Noto Sans KR" pitchFamily="34" charset="0"/>
                <a:ea typeface="Noto Sans KR" pitchFamily="34" charset="-122"/>
                <a:cs typeface="Noto Sans KR" pitchFamily="34" charset="-120"/>
              </a:rPr>
              <a:t>여러분이 열흘 동안 하는 일이 그대로 나라의 기준과 겹칩니다.</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31 / 60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14 · 저장용과 활용용</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잘 보관하는 모양과 잘 쓰는 모양은 다릅니다</a:t>
            </a:r>
            <a:endParaRPr lang="en-US" sz="3000" dirty="0"/>
          </a:p>
        </p:txBody>
      </p:sp>
      <p:sp>
        <p:nvSpPr>
          <p:cNvPr id="4" name="Shape 2"/>
          <p:cNvSpPr/>
          <p:nvPr/>
        </p:nvSpPr>
        <p:spPr>
          <a:xfrm>
            <a:off x="815975" y="1816695"/>
            <a:ext cx="49212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45914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저장용 데이터</a:t>
            </a:r>
            <a:endParaRPr lang="en-US" sz="1200" dirty="0"/>
          </a:p>
        </p:txBody>
      </p:sp>
      <p:sp>
        <p:nvSpPr>
          <p:cNvPr id="6" name="Text 4"/>
          <p:cNvSpPr/>
          <p:nvPr/>
        </p:nvSpPr>
        <p:spPr>
          <a:xfrm>
            <a:off x="1047750" y="2350691"/>
            <a:ext cx="459143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정규화된 여러 테이블</a:t>
            </a:r>
            <a:endParaRPr lang="en-US" sz="1800" dirty="0"/>
          </a:p>
        </p:txBody>
      </p:sp>
      <p:sp>
        <p:nvSpPr>
          <p:cNvPr id="7" name="Text 5"/>
          <p:cNvSpPr/>
          <p:nvPr/>
        </p:nvSpPr>
        <p:spPr>
          <a:xfrm>
            <a:off x="1047750" y="2736751"/>
            <a:ext cx="459143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고객 · 주문 · 주문항목 · 상품</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중복 없이, 빠짐없이, 약속대로 보관합니다.</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 5~6일차 MySQL</a:t>
            </a:r>
            <a:endParaRPr lang="en-US" sz="1300" dirty="0"/>
          </a:p>
        </p:txBody>
      </p:sp>
      <p:sp>
        <p:nvSpPr>
          <p:cNvPr id="8" name="Text 6"/>
          <p:cNvSpPr/>
          <p:nvPr/>
        </p:nvSpPr>
        <p:spPr>
          <a:xfrm>
            <a:off x="5918200" y="2539901"/>
            <a:ext cx="4064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5E6673"/>
                </a:solidFill>
                <a:latin typeface="Noto Sans KR" pitchFamily="34" charset="0"/>
                <a:ea typeface="Noto Sans KR" pitchFamily="34" charset="-122"/>
                <a:cs typeface="Noto Sans KR" pitchFamily="34" charset="-120"/>
              </a:rPr>
              <a:t>→</a:t>
            </a:r>
            <a:endParaRPr lang="en-US" sz="2800" dirty="0"/>
          </a:p>
        </p:txBody>
      </p:sp>
      <p:sp>
        <p:nvSpPr>
          <p:cNvPr id="9" name="Shape 7"/>
          <p:cNvSpPr/>
          <p:nvPr/>
        </p:nvSpPr>
        <p:spPr>
          <a:xfrm>
            <a:off x="6454775" y="1816695"/>
            <a:ext cx="49212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10" name="Text 8"/>
          <p:cNvSpPr/>
          <p:nvPr/>
        </p:nvSpPr>
        <p:spPr>
          <a:xfrm>
            <a:off x="6686550" y="2048470"/>
            <a:ext cx="45914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활용용 데이터</a:t>
            </a:r>
            <a:endParaRPr lang="en-US" sz="1200" dirty="0"/>
          </a:p>
        </p:txBody>
      </p:sp>
      <p:sp>
        <p:nvSpPr>
          <p:cNvPr id="11" name="Text 9"/>
          <p:cNvSpPr/>
          <p:nvPr/>
        </p:nvSpPr>
        <p:spPr>
          <a:xfrm>
            <a:off x="6686550" y="2350691"/>
            <a:ext cx="459143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고객 한 명 = 한 줄</a:t>
            </a:r>
            <a:endParaRPr lang="en-US" sz="1800" dirty="0"/>
          </a:p>
        </p:txBody>
      </p:sp>
      <p:sp>
        <p:nvSpPr>
          <p:cNvPr id="12" name="Text 10"/>
          <p:cNvSpPr/>
          <p:nvPr/>
        </p:nvSpPr>
        <p:spPr>
          <a:xfrm>
            <a:off x="6686550" y="2736751"/>
            <a:ext cx="459143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구매 횟수, 구매 금액, 마지막 구매일 같은 </a:t>
            </a:r>
            <a:r>
              <a:rPr lang="en-US" sz="1300" b="1" dirty="0">
                <a:solidFill>
                  <a:srgbClr val="3D4757"/>
                </a:solidFill>
                <a:latin typeface="Noto Sans KR" pitchFamily="34" charset="0"/>
                <a:ea typeface="Noto Sans KR" pitchFamily="34" charset="-122"/>
                <a:cs typeface="Noto Sans KR" pitchFamily="34" charset="-120"/>
              </a:rPr>
              <a:t>구매 특성</a:t>
            </a:r>
            <a:r>
              <a:rPr lang="en-US" sz="1300" dirty="0">
                <a:solidFill>
                  <a:srgbClr val="3D4757"/>
                </a:solidFill>
                <a:latin typeface="Noto Sans KR" pitchFamily="34" charset="0"/>
                <a:ea typeface="Noto Sans KR" pitchFamily="34" charset="-122"/>
                <a:cs typeface="Noto Sans KR" pitchFamily="34" charset="-120"/>
              </a:rPr>
              <a:t>을 고객마다 한 줄로 모읍니다.</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 7일차 customer_features.csv</a:t>
            </a:r>
            <a:endParaRPr lang="en-US" sz="1300" dirty="0"/>
          </a:p>
        </p:txBody>
      </p:sp>
      <p:sp>
        <p:nvSpPr>
          <p:cNvPr id="13" name="Shape 11"/>
          <p:cNvSpPr/>
          <p:nvPr/>
        </p:nvSpPr>
        <p:spPr>
          <a:xfrm>
            <a:off x="812800" y="4018062"/>
            <a:ext cx="10566400" cy="1282601"/>
          </a:xfrm>
          <a:prstGeom prst="roundRect">
            <a:avLst>
              <a:gd name="adj" fmla="val 5941"/>
            </a:avLst>
          </a:prstGeom>
          <a:solidFill>
            <a:srgbClr val="E3EFE7"/>
          </a:solidFill>
          <a:ln/>
        </p:spPr>
        <p:txBody>
          <a:bodyPr/>
          <a:lstStyle/>
          <a:p>
            <a:endParaRPr lang="ko-KR" altLang="en-US"/>
          </a:p>
        </p:txBody>
      </p:sp>
      <p:sp>
        <p:nvSpPr>
          <p:cNvPr id="14" name="Shape 12"/>
          <p:cNvSpPr/>
          <p:nvPr/>
        </p:nvSpPr>
        <p:spPr>
          <a:xfrm>
            <a:off x="812800" y="4018062"/>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5" name="Text 13"/>
          <p:cNvSpPr/>
          <p:nvPr/>
        </p:nvSpPr>
        <p:spPr>
          <a:xfrm>
            <a:off x="1117600" y="4221262"/>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창고와 진열대</a:t>
            </a:r>
            <a:endParaRPr lang="en-US" sz="1300" dirty="0"/>
          </a:p>
        </p:txBody>
      </p:sp>
      <p:sp>
        <p:nvSpPr>
          <p:cNvPr id="16" name="Text 14"/>
          <p:cNvSpPr/>
          <p:nvPr/>
        </p:nvSpPr>
        <p:spPr>
          <a:xfrm>
            <a:off x="1117600" y="452854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창고에는 종류별로 정리해서 쌓아 두고, 매장 진열대에는 손님이 바로 집을 수 있게 골라 담아 둡니다. 창고가 정리되어 있어야 진열대를 빨리, 정확하게 채울 수 있습니다.</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32 / 60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용어 한눈에 보기</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오늘 나온 용어를 한 장에 모았습니다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2874168"/>
        </p:xfrm>
        <a:graphic>
          <a:graphicData uri="http://schemas.openxmlformats.org/drawingml/2006/table">
            <a:tbl>
              <a:tblPr/>
              <a:tblGrid>
                <a:gridCol w="1477518">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588258">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묶음</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용어</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한 줄 뜻</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처음 쓰는 날</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표준화</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 사전 (단어·도메인·용어·코드)</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약속을 적어 두는 네 개의 시트</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2일차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표준화</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명명 규칙 · 매핑표</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이름 짓는 법 · 원천→표준 번역표</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2일차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품질</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품질 6기준 · 프로파일링</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좋은 데이터의 기준 · 데이터 건강검진</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2 · 3일차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품질</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변환 규칙 · 네 가지 분류</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바꾸는 규칙서 · 정상/제거/제외/격리</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3일차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모델</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엔터티 · 속성 · 식별자 · grain</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대상 · 정보 · 짚어 내는 값 · 한 줄의 의미</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4일차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모델</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정규화 · PK · FK</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한 번만 적기 · 한 줄 짚기 · 다른 표 가리키기</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5일차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AI Ready</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메타데이터 · 저장용/활용용 · 누수</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설명 · 창고/진열대 · 미래 섞임 금지</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6~8일차</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33 / 60</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23216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Noto Sans KR" pitchFamily="34" charset="0"/>
                <a:ea typeface="Noto Sans KR" pitchFamily="34" charset="-122"/>
                <a:cs typeface="Noto Sans KR" pitchFamily="34" charset="-120"/>
              </a:rPr>
              <a:t>PART 3</a:t>
            </a:r>
            <a:endParaRPr lang="en-US" sz="1200" dirty="0"/>
          </a:p>
        </p:txBody>
      </p:sp>
      <p:sp>
        <p:nvSpPr>
          <p:cNvPr id="3" name="Text 1"/>
          <p:cNvSpPr/>
          <p:nvPr/>
        </p:nvSpPr>
        <p:spPr>
          <a:xfrm>
            <a:off x="812800" y="2738140"/>
            <a:ext cx="10883392" cy="726380"/>
          </a:xfrm>
          <a:prstGeom prst="rect">
            <a:avLst/>
          </a:prstGeom>
          <a:noFill/>
          <a:ln/>
        </p:spPr>
        <p:txBody>
          <a:bodyPr wrap="square" lIns="0" tIns="0" rIns="0" bIns="0" rtlCol="0" anchor="t">
            <a:normAutofit/>
          </a:bodyPr>
          <a:lstStyle/>
          <a:p>
            <a:pPr marL="0" indent="0" algn="l">
              <a:lnSpc>
                <a:spcPts val="5520"/>
              </a:lnSpc>
              <a:buNone/>
            </a:pPr>
            <a:r>
              <a:rPr lang="en-US" sz="4800" b="1" dirty="0">
                <a:solidFill>
                  <a:srgbClr val="F6F4EF"/>
                </a:solidFill>
                <a:latin typeface="Noto Sans KR" pitchFamily="34" charset="0"/>
                <a:ea typeface="Noto Sans KR" pitchFamily="34" charset="-122"/>
                <a:cs typeface="Noto Sans KR" pitchFamily="34" charset="-120"/>
              </a:rPr>
              <a:t>어떤 순서로 할까?</a:t>
            </a:r>
            <a:endParaRPr lang="en-US" sz="4800" dirty="0"/>
          </a:p>
        </p:txBody>
      </p:sp>
      <p:sp>
        <p:nvSpPr>
          <p:cNvPr id="4" name="Text 2"/>
          <p:cNvSpPr/>
          <p:nvPr/>
        </p:nvSpPr>
        <p:spPr>
          <a:xfrm>
            <a:off x="812800" y="3642320"/>
            <a:ext cx="10883392" cy="716161"/>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표준화는 한 번에 뚝딱 끝나는 일이 아닙니다.</a:t>
            </a:r>
            <a:endParaRPr lang="en-US" sz="1700" dirty="0"/>
          </a:p>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순서가 있고, 단계마다 남기는 파일이 있습니다.</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Noto Sans KR" pitchFamily="34" charset="0"/>
                <a:ea typeface="Noto Sans KR" pitchFamily="34" charset="-122"/>
                <a:cs typeface="Noto Sans KR" pitchFamily="34" charset="-120"/>
              </a:rPr>
              <a:t>34 / 60</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전체 흐름</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아홉 단계 — 앞 단계의 결과가 다음 단계의 재료가 됩니다</a:t>
            </a:r>
            <a:endParaRPr lang="en-US" sz="3000" dirty="0"/>
          </a:p>
        </p:txBody>
      </p:sp>
      <p:sp>
        <p:nvSpPr>
          <p:cNvPr id="4" name="Shape 2"/>
          <p:cNvSpPr/>
          <p:nvPr/>
        </p:nvSpPr>
        <p:spPr>
          <a:xfrm>
            <a:off x="819150" y="1819870"/>
            <a:ext cx="1805880"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5" name="Text 3"/>
          <p:cNvSpPr/>
          <p:nvPr/>
        </p:nvSpPr>
        <p:spPr>
          <a:xfrm>
            <a:off x="1677095" y="1965920"/>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1</a:t>
            </a:r>
            <a:endParaRPr lang="en-US" sz="1200" dirty="0"/>
          </a:p>
        </p:txBody>
      </p:sp>
      <p:sp>
        <p:nvSpPr>
          <p:cNvPr id="6" name="Text 4"/>
          <p:cNvSpPr/>
          <p:nvPr/>
        </p:nvSpPr>
        <p:spPr>
          <a:xfrm>
            <a:off x="1324471" y="2217341"/>
            <a:ext cx="795139"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현황 파악</a:t>
            </a:r>
            <a:endParaRPr lang="en-US" sz="1500" dirty="0"/>
          </a:p>
        </p:txBody>
      </p:sp>
      <p:sp>
        <p:nvSpPr>
          <p:cNvPr id="7" name="Text 5"/>
          <p:cNvSpPr/>
          <p:nvPr/>
        </p:nvSpPr>
        <p:spPr>
          <a:xfrm>
            <a:off x="1329035" y="2522141"/>
            <a:ext cx="786011"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무엇이 있나</a:t>
            </a:r>
            <a:endParaRPr lang="en-US" sz="1200" dirty="0"/>
          </a:p>
        </p:txBody>
      </p:sp>
      <p:sp>
        <p:nvSpPr>
          <p:cNvPr id="8" name="Text 6"/>
          <p:cNvSpPr/>
          <p:nvPr/>
        </p:nvSpPr>
        <p:spPr>
          <a:xfrm>
            <a:off x="2707580" y="2199580"/>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9" name="Shape 7"/>
          <p:cNvSpPr/>
          <p:nvPr/>
        </p:nvSpPr>
        <p:spPr>
          <a:xfrm>
            <a:off x="3006030" y="1819870"/>
            <a:ext cx="1805980"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10" name="Text 8"/>
          <p:cNvSpPr/>
          <p:nvPr/>
        </p:nvSpPr>
        <p:spPr>
          <a:xfrm>
            <a:off x="3863975" y="1965920"/>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2</a:t>
            </a:r>
            <a:endParaRPr lang="en-US" sz="1200" dirty="0"/>
          </a:p>
        </p:txBody>
      </p:sp>
      <p:sp>
        <p:nvSpPr>
          <p:cNvPr id="11" name="Text 9"/>
          <p:cNvSpPr/>
          <p:nvPr/>
        </p:nvSpPr>
        <p:spPr>
          <a:xfrm>
            <a:off x="3445470" y="2217341"/>
            <a:ext cx="9271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프로파일링</a:t>
            </a:r>
            <a:endParaRPr lang="en-US" sz="1500" dirty="0"/>
          </a:p>
        </p:txBody>
      </p:sp>
      <p:sp>
        <p:nvSpPr>
          <p:cNvPr id="12" name="Text 10"/>
          <p:cNvSpPr/>
          <p:nvPr/>
        </p:nvSpPr>
        <p:spPr>
          <a:xfrm>
            <a:off x="3445867" y="2522141"/>
            <a:ext cx="92620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어떤 상태인가</a:t>
            </a:r>
            <a:endParaRPr lang="en-US" sz="1200" dirty="0"/>
          </a:p>
        </p:txBody>
      </p:sp>
      <p:sp>
        <p:nvSpPr>
          <p:cNvPr id="13" name="Text 11"/>
          <p:cNvSpPr/>
          <p:nvPr/>
        </p:nvSpPr>
        <p:spPr>
          <a:xfrm>
            <a:off x="4894560" y="2199580"/>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14" name="Shape 12"/>
          <p:cNvSpPr/>
          <p:nvPr/>
        </p:nvSpPr>
        <p:spPr>
          <a:xfrm>
            <a:off x="5193010" y="1819870"/>
            <a:ext cx="1805880"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15" name="Text 13"/>
          <p:cNvSpPr/>
          <p:nvPr/>
        </p:nvSpPr>
        <p:spPr>
          <a:xfrm>
            <a:off x="6050955" y="1965920"/>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3</a:t>
            </a:r>
            <a:endParaRPr lang="en-US" sz="1200" dirty="0"/>
          </a:p>
        </p:txBody>
      </p:sp>
      <p:sp>
        <p:nvSpPr>
          <p:cNvPr id="16" name="Text 14"/>
          <p:cNvSpPr/>
          <p:nvPr/>
        </p:nvSpPr>
        <p:spPr>
          <a:xfrm>
            <a:off x="5698331" y="2217341"/>
            <a:ext cx="795139"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표준 정의</a:t>
            </a:r>
            <a:endParaRPr lang="en-US" sz="1500" dirty="0"/>
          </a:p>
        </p:txBody>
      </p:sp>
      <p:sp>
        <p:nvSpPr>
          <p:cNvPr id="17" name="Text 15"/>
          <p:cNvSpPr/>
          <p:nvPr/>
        </p:nvSpPr>
        <p:spPr>
          <a:xfrm>
            <a:off x="5562699" y="2522141"/>
            <a:ext cx="106640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약속은 무엇인가</a:t>
            </a:r>
            <a:endParaRPr lang="en-US" sz="1200" dirty="0"/>
          </a:p>
        </p:txBody>
      </p:sp>
      <p:sp>
        <p:nvSpPr>
          <p:cNvPr id="18" name="Text 16"/>
          <p:cNvSpPr/>
          <p:nvPr/>
        </p:nvSpPr>
        <p:spPr>
          <a:xfrm>
            <a:off x="7081441" y="2199580"/>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19" name="Shape 17"/>
          <p:cNvSpPr/>
          <p:nvPr/>
        </p:nvSpPr>
        <p:spPr>
          <a:xfrm>
            <a:off x="7379891" y="1819870"/>
            <a:ext cx="1805980"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20" name="Text 18"/>
          <p:cNvSpPr/>
          <p:nvPr/>
        </p:nvSpPr>
        <p:spPr>
          <a:xfrm>
            <a:off x="8237835" y="1965920"/>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4</a:t>
            </a:r>
            <a:endParaRPr lang="en-US" sz="1200" dirty="0"/>
          </a:p>
        </p:txBody>
      </p:sp>
      <p:sp>
        <p:nvSpPr>
          <p:cNvPr id="21" name="Text 19"/>
          <p:cNvSpPr/>
          <p:nvPr/>
        </p:nvSpPr>
        <p:spPr>
          <a:xfrm>
            <a:off x="7807325" y="2217341"/>
            <a:ext cx="951111"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매핑 · 규칙</a:t>
            </a:r>
            <a:endParaRPr lang="en-US" sz="1500" dirty="0"/>
          </a:p>
        </p:txBody>
      </p:sp>
      <p:sp>
        <p:nvSpPr>
          <p:cNvPr id="22" name="Text 20"/>
          <p:cNvSpPr/>
          <p:nvPr/>
        </p:nvSpPr>
        <p:spPr>
          <a:xfrm>
            <a:off x="7819727" y="2522141"/>
            <a:ext cx="92620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어떻게 바꿀까</a:t>
            </a:r>
            <a:endParaRPr lang="en-US" sz="1200" dirty="0"/>
          </a:p>
        </p:txBody>
      </p:sp>
      <p:sp>
        <p:nvSpPr>
          <p:cNvPr id="23" name="Text 21"/>
          <p:cNvSpPr/>
          <p:nvPr/>
        </p:nvSpPr>
        <p:spPr>
          <a:xfrm>
            <a:off x="9268420" y="2199580"/>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24" name="Shape 22"/>
          <p:cNvSpPr/>
          <p:nvPr/>
        </p:nvSpPr>
        <p:spPr>
          <a:xfrm>
            <a:off x="9566870" y="1819870"/>
            <a:ext cx="1805980"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25" name="Text 23"/>
          <p:cNvSpPr/>
          <p:nvPr/>
        </p:nvSpPr>
        <p:spPr>
          <a:xfrm>
            <a:off x="10424815" y="1965920"/>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5</a:t>
            </a:r>
            <a:endParaRPr lang="en-US" sz="1200" dirty="0"/>
          </a:p>
        </p:txBody>
      </p:sp>
      <p:sp>
        <p:nvSpPr>
          <p:cNvPr id="26" name="Text 24"/>
          <p:cNvSpPr/>
          <p:nvPr/>
        </p:nvSpPr>
        <p:spPr>
          <a:xfrm>
            <a:off x="10181530" y="2217341"/>
            <a:ext cx="576659"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모델링</a:t>
            </a:r>
            <a:endParaRPr lang="en-US" sz="1500" dirty="0"/>
          </a:p>
        </p:txBody>
      </p:sp>
      <p:sp>
        <p:nvSpPr>
          <p:cNvPr id="27" name="Text 25"/>
          <p:cNvSpPr/>
          <p:nvPr/>
        </p:nvSpPr>
        <p:spPr>
          <a:xfrm>
            <a:off x="10006707" y="2522141"/>
            <a:ext cx="92620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어떻게 나눌까</a:t>
            </a:r>
            <a:endParaRPr lang="en-US" sz="1200" dirty="0"/>
          </a:p>
        </p:txBody>
      </p:sp>
      <p:sp>
        <p:nvSpPr>
          <p:cNvPr id="28" name="Shape 26"/>
          <p:cNvSpPr/>
          <p:nvPr/>
        </p:nvSpPr>
        <p:spPr>
          <a:xfrm>
            <a:off x="1835150" y="3072011"/>
            <a:ext cx="1844675"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29" name="Text 27"/>
          <p:cNvSpPr/>
          <p:nvPr/>
        </p:nvSpPr>
        <p:spPr>
          <a:xfrm>
            <a:off x="2712442" y="3218061"/>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6</a:t>
            </a:r>
            <a:endParaRPr lang="en-US" sz="1200" dirty="0"/>
          </a:p>
        </p:txBody>
      </p:sp>
      <p:sp>
        <p:nvSpPr>
          <p:cNvPr id="30" name="Text 28"/>
          <p:cNvSpPr/>
          <p:nvPr/>
        </p:nvSpPr>
        <p:spPr>
          <a:xfrm>
            <a:off x="2402284" y="3469481"/>
            <a:ext cx="710406"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DB 적재</a:t>
            </a:r>
            <a:endParaRPr lang="en-US" sz="1500" dirty="0"/>
          </a:p>
        </p:txBody>
      </p:sp>
      <p:sp>
        <p:nvSpPr>
          <p:cNvPr id="31" name="Text 29"/>
          <p:cNvSpPr/>
          <p:nvPr/>
        </p:nvSpPr>
        <p:spPr>
          <a:xfrm>
            <a:off x="2294334" y="3774281"/>
            <a:ext cx="92620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어디에 담을까</a:t>
            </a:r>
            <a:endParaRPr lang="en-US" sz="1200" dirty="0"/>
          </a:p>
        </p:txBody>
      </p:sp>
      <p:sp>
        <p:nvSpPr>
          <p:cNvPr id="32" name="Text 30"/>
          <p:cNvSpPr/>
          <p:nvPr/>
        </p:nvSpPr>
        <p:spPr>
          <a:xfrm>
            <a:off x="3762375" y="3451721"/>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33" name="Shape 31"/>
          <p:cNvSpPr/>
          <p:nvPr/>
        </p:nvSpPr>
        <p:spPr>
          <a:xfrm>
            <a:off x="4060825" y="3072011"/>
            <a:ext cx="1844675"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34" name="Text 32"/>
          <p:cNvSpPr/>
          <p:nvPr/>
        </p:nvSpPr>
        <p:spPr>
          <a:xfrm>
            <a:off x="4938117" y="3218061"/>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7</a:t>
            </a:r>
            <a:endParaRPr lang="en-US" sz="1200" dirty="0"/>
          </a:p>
        </p:txBody>
      </p:sp>
      <p:sp>
        <p:nvSpPr>
          <p:cNvPr id="35" name="Text 33"/>
          <p:cNvSpPr/>
          <p:nvPr/>
        </p:nvSpPr>
        <p:spPr>
          <a:xfrm>
            <a:off x="4585593" y="3469481"/>
            <a:ext cx="795139"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품질 검증</a:t>
            </a:r>
            <a:endParaRPr lang="en-US" sz="1500" dirty="0"/>
          </a:p>
        </p:txBody>
      </p:sp>
      <p:sp>
        <p:nvSpPr>
          <p:cNvPr id="36" name="Text 34"/>
          <p:cNvSpPr/>
          <p:nvPr/>
        </p:nvSpPr>
        <p:spPr>
          <a:xfrm>
            <a:off x="4660205" y="3774281"/>
            <a:ext cx="64581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잘 되었나</a:t>
            </a:r>
            <a:endParaRPr lang="en-US" sz="1200" dirty="0"/>
          </a:p>
        </p:txBody>
      </p:sp>
      <p:sp>
        <p:nvSpPr>
          <p:cNvPr id="37" name="Text 35"/>
          <p:cNvSpPr/>
          <p:nvPr/>
        </p:nvSpPr>
        <p:spPr>
          <a:xfrm>
            <a:off x="5988050" y="3451721"/>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38" name="Shape 36"/>
          <p:cNvSpPr/>
          <p:nvPr/>
        </p:nvSpPr>
        <p:spPr>
          <a:xfrm>
            <a:off x="6286500" y="3072011"/>
            <a:ext cx="1844675"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39" name="Text 37"/>
          <p:cNvSpPr/>
          <p:nvPr/>
        </p:nvSpPr>
        <p:spPr>
          <a:xfrm>
            <a:off x="7163792" y="3218061"/>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8</a:t>
            </a:r>
            <a:endParaRPr lang="en-US" sz="1200" dirty="0"/>
          </a:p>
        </p:txBody>
      </p:sp>
      <p:sp>
        <p:nvSpPr>
          <p:cNvPr id="40" name="Text 38"/>
          <p:cNvSpPr/>
          <p:nvPr/>
        </p:nvSpPr>
        <p:spPr>
          <a:xfrm>
            <a:off x="6832898" y="3469481"/>
            <a:ext cx="75188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카탈로그</a:t>
            </a:r>
            <a:endParaRPr lang="en-US" sz="1500" dirty="0"/>
          </a:p>
        </p:txBody>
      </p:sp>
      <p:sp>
        <p:nvSpPr>
          <p:cNvPr id="41" name="Text 39"/>
          <p:cNvSpPr/>
          <p:nvPr/>
        </p:nvSpPr>
        <p:spPr>
          <a:xfrm>
            <a:off x="6675636" y="3774281"/>
            <a:ext cx="106640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어떻게 설명할까</a:t>
            </a:r>
            <a:endParaRPr lang="en-US" sz="1200" dirty="0"/>
          </a:p>
        </p:txBody>
      </p:sp>
      <p:sp>
        <p:nvSpPr>
          <p:cNvPr id="42" name="Text 40"/>
          <p:cNvSpPr/>
          <p:nvPr/>
        </p:nvSpPr>
        <p:spPr>
          <a:xfrm>
            <a:off x="8213725" y="3451721"/>
            <a:ext cx="26670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5E6673"/>
                </a:solidFill>
                <a:latin typeface="Noto Sans KR" pitchFamily="34" charset="0"/>
                <a:ea typeface="Noto Sans KR" pitchFamily="34" charset="-122"/>
                <a:cs typeface="Noto Sans KR" pitchFamily="34" charset="-120"/>
              </a:rPr>
              <a:t>→</a:t>
            </a:r>
            <a:endParaRPr lang="en-US" sz="1700" dirty="0"/>
          </a:p>
        </p:txBody>
      </p:sp>
      <p:sp>
        <p:nvSpPr>
          <p:cNvPr id="43" name="Shape 41"/>
          <p:cNvSpPr/>
          <p:nvPr/>
        </p:nvSpPr>
        <p:spPr>
          <a:xfrm>
            <a:off x="8512175" y="3072011"/>
            <a:ext cx="1844675" cy="1061641"/>
          </a:xfrm>
          <a:prstGeom prst="roundRect">
            <a:avLst>
              <a:gd name="adj" fmla="val 7776"/>
            </a:avLst>
          </a:prstGeom>
          <a:solidFill>
            <a:srgbClr val="FFFDF8"/>
          </a:solidFill>
          <a:ln w="12700">
            <a:solidFill>
              <a:srgbClr val="D9D4C7"/>
            </a:solidFill>
            <a:prstDash val="solid"/>
          </a:ln>
        </p:spPr>
        <p:txBody>
          <a:bodyPr/>
          <a:lstStyle/>
          <a:p>
            <a:endParaRPr lang="ko-KR" altLang="en-US"/>
          </a:p>
        </p:txBody>
      </p:sp>
      <p:sp>
        <p:nvSpPr>
          <p:cNvPr id="44" name="Text 42"/>
          <p:cNvSpPr/>
          <p:nvPr/>
        </p:nvSpPr>
        <p:spPr>
          <a:xfrm>
            <a:off x="9389467" y="3218061"/>
            <a:ext cx="1407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9</a:t>
            </a:r>
            <a:endParaRPr lang="en-US" sz="1200" dirty="0"/>
          </a:p>
        </p:txBody>
      </p:sp>
      <p:sp>
        <p:nvSpPr>
          <p:cNvPr id="45" name="Text 43"/>
          <p:cNvSpPr/>
          <p:nvPr/>
        </p:nvSpPr>
        <p:spPr>
          <a:xfrm>
            <a:off x="8949333" y="3469481"/>
            <a:ext cx="970359"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B2A44"/>
                </a:solidFill>
                <a:latin typeface="Noto Sans KR" pitchFamily="34" charset="0"/>
                <a:ea typeface="Noto Sans KR" pitchFamily="34" charset="-122"/>
                <a:cs typeface="Noto Sans KR" pitchFamily="34" charset="-120"/>
              </a:rPr>
              <a:t>활용 데이터</a:t>
            </a:r>
            <a:endParaRPr lang="en-US" sz="1500" dirty="0"/>
          </a:p>
        </p:txBody>
      </p:sp>
      <p:sp>
        <p:nvSpPr>
          <p:cNvPr id="46" name="Text 44"/>
          <p:cNvSpPr/>
          <p:nvPr/>
        </p:nvSpPr>
        <p:spPr>
          <a:xfrm>
            <a:off x="8885634" y="3774281"/>
            <a:ext cx="109765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673"/>
                </a:solidFill>
                <a:latin typeface="Noto Sans KR" pitchFamily="34" charset="0"/>
                <a:ea typeface="Noto Sans KR" pitchFamily="34" charset="-122"/>
                <a:cs typeface="Noto Sans KR" pitchFamily="34" charset="-120"/>
              </a:rPr>
              <a:t>AI에 무엇을 줄까</a:t>
            </a:r>
            <a:endParaRPr lang="en-US" sz="1200" dirty="0"/>
          </a:p>
        </p:txBody>
      </p:sp>
      <p:sp>
        <p:nvSpPr>
          <p:cNvPr id="47" name="Shape 45"/>
          <p:cNvSpPr/>
          <p:nvPr/>
        </p:nvSpPr>
        <p:spPr>
          <a:xfrm>
            <a:off x="812800" y="4394002"/>
            <a:ext cx="10566400" cy="1219101"/>
          </a:xfrm>
          <a:prstGeom prst="roundRect">
            <a:avLst>
              <a:gd name="adj" fmla="val 6251"/>
            </a:avLst>
          </a:prstGeom>
          <a:solidFill>
            <a:srgbClr val="E4ECF7"/>
          </a:solidFill>
          <a:ln/>
        </p:spPr>
        <p:txBody>
          <a:bodyPr/>
          <a:lstStyle/>
          <a:p>
            <a:endParaRPr lang="ko-KR" altLang="en-US"/>
          </a:p>
        </p:txBody>
      </p:sp>
      <p:sp>
        <p:nvSpPr>
          <p:cNvPr id="48" name="Shape 46"/>
          <p:cNvSpPr/>
          <p:nvPr/>
        </p:nvSpPr>
        <p:spPr>
          <a:xfrm>
            <a:off x="812800" y="439400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49" name="Text 47"/>
          <p:cNvSpPr/>
          <p:nvPr/>
        </p:nvSpPr>
        <p:spPr>
          <a:xfrm>
            <a:off x="1092200" y="457180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순서가 중요한 이유</a:t>
            </a:r>
            <a:endParaRPr lang="en-US" sz="1300" dirty="0"/>
          </a:p>
        </p:txBody>
      </p:sp>
      <p:sp>
        <p:nvSpPr>
          <p:cNvPr id="50" name="Text 48"/>
          <p:cNvSpPr/>
          <p:nvPr/>
        </p:nvSpPr>
        <p:spPr>
          <a:xfrm>
            <a:off x="1092200" y="486638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상태를 모르고(2) 약속을 정할 수 없고(3), 약속 없이 바꿀 수 없고(4), 바꾸지 않은 데이터로는 모델을 확정할 수 없습니다(5). 순서를 건너뛰면 뒤에서 반드시 다시 돌아오게 됩니다.</a:t>
            </a:r>
            <a:endParaRPr lang="en-US" sz="1400" dirty="0"/>
          </a:p>
        </p:txBody>
      </p:sp>
      <p:sp>
        <p:nvSpPr>
          <p:cNvPr id="51" name="Text 4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52" name="Text 5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35 / 60</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단계별로 남기는 파일</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단계마다 '질문'에 답하고, 답을 파일로 남깁니다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3233439"/>
        </p:xfrm>
        <a:graphic>
          <a:graphicData uri="http://schemas.openxmlformats.org/drawingml/2006/table">
            <a:tbl>
              <a:tblPr/>
              <a:tblGrid>
                <a:gridCol w="1899666">
                  <a:extLst>
                    <a:ext uri="{9D8B030D-6E8A-4147-A177-3AD203B41FA5}">
                      <a16:colId xmlns:a16="http://schemas.microsoft.com/office/drawing/2014/main" val="20000"/>
                    </a:ext>
                  </a:extLst>
                </a:gridCol>
                <a:gridCol w="485470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단계</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답하는 질문</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820"/>
                        </a:lnSpc>
                        <a:buNone/>
                      </a:pPr>
                      <a:r>
                        <a:rPr lang="en-US" sz="1300" b="1" dirty="0">
                          <a:solidFill>
                            <a:srgbClr val="F6F4EF"/>
                          </a:solidFill>
                          <a:latin typeface="Noto Sans KR" pitchFamily="34" charset="0"/>
                          <a:ea typeface="Noto Sans KR" pitchFamily="34" charset="-122"/>
                          <a:cs typeface="Noto Sans KR" pitchFamily="34" charset="-120"/>
                        </a:rPr>
                        <a:t>여러분이 만드는 파일</a:t>
                      </a:r>
                      <a:endParaRPr lang="en-US" sz="1300" dirty="0">
                        <a:latin typeface="Noto Sans KR" charset="0"/>
                        <a:ea typeface="Noto Sans KR" charset="0"/>
                        <a:cs typeface="Noto Sans KR" charset="0"/>
                      </a:endParaRPr>
                    </a:p>
                  </a:txBody>
                  <a:tcPr marL="57785" marR="57785" marT="57785" marB="57785">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현황 파악</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어떤 원천이 있고 어떻게 읽어야 하나?</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탐색 노트 · 환경체크리스트</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프로파일링</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빈 값·중복·이상한 형식이 얼마나 있나?</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AS-IS 품질보고서</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 정의</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이름·형식·값의 약속은 무엇인가?</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표준사전.xlsx (4시트)</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매핑 · 규칙</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무엇을 어떻게 바꾸고, 판단 못 하면 어떻게 하나?</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매핑표.xlsx · 변환규칙정의서</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모델링</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한 줄의 의미는? 테이블을 어떻게 나누나?</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AS-IS 모델 · TO-BE 모델 (ERD)</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DB 적재</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어떤 테이블과 제약으로 담나?</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ddl.sql · 실습 DB</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품질 검증</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건수와 합계가 맞나? 다시 돌려도 같나?</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검증 결과 · 데이터카탈로그.md</a:t>
                      </a:r>
                      <a:endParaRPr lang="en-US" sz="1300" dirty="0">
                        <a:latin typeface="Noto Sans KR" charset="0"/>
                        <a:ea typeface="Noto Sans KR" charset="0"/>
                        <a:cs typeface="Noto Sans KR"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활용 데이터</a:t>
                      </a:r>
                      <a:endParaRPr lang="en-US" sz="1300" dirty="0">
                        <a:latin typeface="Noto Sans KR" charset="0"/>
                        <a:ea typeface="Noto Sans KR" charset="0"/>
                        <a:cs typeface="Noto Sans KR"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AI에 무엇을, 어느 기간까지 주나?</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820"/>
                        </a:lnSpc>
                        <a:buNone/>
                      </a:pPr>
                      <a:r>
                        <a:rPr lang="en-US" sz="1300" dirty="0">
                          <a:solidFill>
                            <a:srgbClr val="3D4757"/>
                          </a:solidFill>
                          <a:latin typeface="Noto Sans KR" pitchFamily="34" charset="0"/>
                          <a:ea typeface="Noto Sans KR" pitchFamily="34" charset="-122"/>
                          <a:cs typeface="Noto Sans KR" pitchFamily="34" charset="-120"/>
                        </a:rPr>
                        <a:t>etl.py · customer_features.csv</a:t>
                      </a:r>
                      <a:endParaRPr lang="en-US" sz="1300" dirty="0">
                        <a:latin typeface="Noto Sans KR" charset="0"/>
                        <a:ea typeface="Noto Sans KR" charset="0"/>
                        <a:cs typeface="Noto Sans KR"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36 / 60</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157241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2A65A"/>
                </a:solidFill>
                <a:latin typeface="Noto Sans KR" pitchFamily="34" charset="0"/>
                <a:ea typeface="Noto Sans KR" pitchFamily="34" charset="-122"/>
                <a:cs typeface="Noto Sans KR" pitchFamily="34" charset="-120"/>
              </a:rPr>
              <a:t>원칙 1</a:t>
            </a:r>
            <a:endParaRPr lang="en-US" sz="1300" dirty="0"/>
          </a:p>
        </p:txBody>
      </p:sp>
      <p:sp>
        <p:nvSpPr>
          <p:cNvPr id="3" name="Text 1"/>
          <p:cNvSpPr/>
          <p:nvPr/>
        </p:nvSpPr>
        <p:spPr>
          <a:xfrm>
            <a:off x="812800" y="2057499"/>
            <a:ext cx="10883392" cy="2105422"/>
          </a:xfrm>
          <a:prstGeom prst="rect">
            <a:avLst/>
          </a:prstGeom>
          <a:noFill/>
          <a:ln/>
        </p:spPr>
        <p:txBody>
          <a:bodyPr wrap="square" lIns="0" tIns="0" rIns="0" bIns="0" rtlCol="0" anchor="t">
            <a:normAutofit/>
          </a:bodyPr>
          <a:lstStyle/>
          <a:p>
            <a:pPr marL="0" indent="0" algn="l">
              <a:lnSpc>
                <a:spcPts val="5460"/>
              </a:lnSpc>
              <a:buNone/>
            </a:pPr>
            <a:r>
              <a:rPr lang="en-US" sz="4200" b="1" dirty="0">
                <a:solidFill>
                  <a:srgbClr val="F6F4EF"/>
                </a:solidFill>
                <a:latin typeface="Noto Sans KR" pitchFamily="34" charset="0"/>
                <a:ea typeface="Noto Sans KR" pitchFamily="34" charset="-122"/>
                <a:cs typeface="Noto Sans KR" pitchFamily="34" charset="-120"/>
              </a:rPr>
              <a:t>판단할 수 없는 데이터는</a:t>
            </a:r>
            <a:endParaRPr lang="en-US" sz="4200" dirty="0"/>
          </a:p>
          <a:p>
            <a:pPr marL="0" indent="0" algn="l">
              <a:lnSpc>
                <a:spcPts val="5460"/>
              </a:lnSpc>
              <a:buNone/>
            </a:pPr>
            <a:r>
              <a:rPr lang="en-US" sz="4200" b="1" dirty="0">
                <a:solidFill>
                  <a:srgbClr val="F6F4EF"/>
                </a:solidFill>
                <a:latin typeface="Noto Sans KR" pitchFamily="34" charset="0"/>
                <a:ea typeface="Noto Sans KR" pitchFamily="34" charset="-122"/>
                <a:cs typeface="Noto Sans KR" pitchFamily="34" charset="-120"/>
              </a:rPr>
              <a:t>지우지 않는다.</a:t>
            </a:r>
            <a:endParaRPr lang="en-US" sz="4200" dirty="0"/>
          </a:p>
          <a:p>
            <a:pPr marL="0" indent="0" algn="l">
              <a:lnSpc>
                <a:spcPts val="5460"/>
              </a:lnSpc>
              <a:buNone/>
            </a:pPr>
            <a:r>
              <a:rPr lang="en-US" sz="4200" b="1" dirty="0">
                <a:solidFill>
                  <a:srgbClr val="F6F4EF"/>
                </a:solidFill>
                <a:latin typeface="Noto Sans KR" pitchFamily="34" charset="0"/>
                <a:ea typeface="Noto Sans KR" pitchFamily="34" charset="-122"/>
                <a:cs typeface="Noto Sans KR" pitchFamily="34" charset="-120"/>
              </a:rPr>
              <a:t>격리하고, 근거를 남긴다.</a:t>
            </a:r>
            <a:endParaRPr lang="en-US" sz="4200" dirty="0"/>
          </a:p>
        </p:txBody>
      </p:sp>
      <p:sp>
        <p:nvSpPr>
          <p:cNvPr id="4" name="Text 2"/>
          <p:cNvSpPr/>
          <p:nvPr/>
        </p:nvSpPr>
        <p:spPr>
          <a:xfrm>
            <a:off x="812800" y="4391521"/>
            <a:ext cx="10883392" cy="716161"/>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dropna() 한 줄이면 깔끔해 보입니다. 하지만 지운 줄 안에 진짜 고객의 진짜 주문이 있었다면,</a:t>
            </a:r>
            <a:endParaRPr lang="en-US" sz="1700" dirty="0"/>
          </a:p>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그 매출은 보고서에서 조용히 사라집니다.</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Noto Sans KR" pitchFamily="34" charset="0"/>
                <a:ea typeface="Noto Sans KR" pitchFamily="34" charset="-122"/>
                <a:cs typeface="Noto Sans KR" pitchFamily="34" charset="-120"/>
              </a:rPr>
              <a:t>37 / 60</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원칙 2 · 틀린 결과를 먼저 봅니다</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정의를 외우기 전에, 틀리는 장면을 먼저 겪습니다</a:t>
            </a:r>
            <a:endParaRPr lang="en-US" sz="3000" dirty="0"/>
          </a:p>
        </p:txBody>
      </p:sp>
      <p:sp>
        <p:nvSpPr>
          <p:cNvPr id="4" name="Shape 2"/>
          <p:cNvSpPr/>
          <p:nvPr/>
        </p:nvSpPr>
        <p:spPr>
          <a:xfrm>
            <a:off x="8159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① 강사 시연</a:t>
            </a:r>
            <a:endParaRPr lang="en-US" sz="1200" dirty="0"/>
          </a:p>
        </p:txBody>
      </p:sp>
      <p:sp>
        <p:nvSpPr>
          <p:cNvPr id="6" name="Text 4"/>
          <p:cNvSpPr/>
          <p:nvPr/>
        </p:nvSpPr>
        <p:spPr>
          <a:xfrm>
            <a:off x="10477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먼저 봅니다</a:t>
            </a:r>
            <a:endParaRPr lang="en-US" sz="1800" dirty="0"/>
          </a:p>
        </p:txBody>
      </p:sp>
      <p:sp>
        <p:nvSpPr>
          <p:cNvPr id="7" name="Text 5"/>
          <p:cNvSpPr/>
          <p:nvPr/>
        </p:nvSpPr>
        <p:spPr>
          <a:xfrm>
            <a:off x="10477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강사가 화면에서 직접 치고, 틀린 결과가 나오는 장면을 보여 줍니다.</a:t>
            </a:r>
            <a:endParaRPr lang="en-US" sz="1300" dirty="0"/>
          </a:p>
        </p:txBody>
      </p:sp>
      <p:sp>
        <p:nvSpPr>
          <p:cNvPr id="8" name="Shape 6"/>
          <p:cNvSpPr/>
          <p:nvPr/>
        </p:nvSpPr>
        <p:spPr>
          <a:xfrm>
            <a:off x="43973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② 같이 치기</a:t>
            </a:r>
            <a:endParaRPr lang="en-US" sz="1200" dirty="0"/>
          </a:p>
        </p:txBody>
      </p:sp>
      <p:sp>
        <p:nvSpPr>
          <p:cNvPr id="10" name="Text 8"/>
          <p:cNvSpPr/>
          <p:nvPr/>
        </p:nvSpPr>
        <p:spPr>
          <a:xfrm>
            <a:off x="46291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따라 칩니다</a:t>
            </a:r>
            <a:endParaRPr lang="en-US" sz="1800" dirty="0"/>
          </a:p>
        </p:txBody>
      </p:sp>
      <p:sp>
        <p:nvSpPr>
          <p:cNvPr id="11" name="Text 9"/>
          <p:cNvSpPr/>
          <p:nvPr/>
        </p:nvSpPr>
        <p:spPr>
          <a:xfrm>
            <a:off x="46291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같은 코드를 함께 치면서 같은 결과가 나오는지 확인합니다.</a:t>
            </a:r>
            <a:endParaRPr lang="en-US" sz="1300" dirty="0"/>
          </a:p>
        </p:txBody>
      </p:sp>
      <p:sp>
        <p:nvSpPr>
          <p:cNvPr id="12" name="Shape 10"/>
          <p:cNvSpPr/>
          <p:nvPr/>
        </p:nvSpPr>
        <p:spPr>
          <a:xfrm>
            <a:off x="79787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③ 혼자 치기</a:t>
            </a:r>
            <a:endParaRPr lang="en-US" sz="1200" dirty="0"/>
          </a:p>
        </p:txBody>
      </p:sp>
      <p:sp>
        <p:nvSpPr>
          <p:cNvPr id="14" name="Text 12"/>
          <p:cNvSpPr/>
          <p:nvPr/>
        </p:nvSpPr>
        <p:spPr>
          <a:xfrm>
            <a:off x="82105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스스로 해 봅니다</a:t>
            </a:r>
            <a:endParaRPr lang="en-US" sz="1800" dirty="0"/>
          </a:p>
        </p:txBody>
      </p:sp>
      <p:sp>
        <p:nvSpPr>
          <p:cNvPr id="15" name="Text 13"/>
          <p:cNvSpPr/>
          <p:nvPr/>
        </p:nvSpPr>
        <p:spPr>
          <a:xfrm>
            <a:off x="82105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비슷한 문제를 혼자 풀고, 검사 프로그램으로 확인합니다.</a:t>
            </a:r>
            <a:endParaRPr lang="en-US" sz="1300" dirty="0"/>
          </a:p>
        </p:txBody>
      </p:sp>
      <p:sp>
        <p:nvSpPr>
          <p:cNvPr id="16" name="Shape 14"/>
          <p:cNvSpPr/>
          <p:nvPr/>
        </p:nvSpPr>
        <p:spPr>
          <a:xfrm>
            <a:off x="812800" y="3753941"/>
            <a:ext cx="10566400" cy="1282601"/>
          </a:xfrm>
          <a:prstGeom prst="roundRect">
            <a:avLst>
              <a:gd name="adj" fmla="val 5941"/>
            </a:avLst>
          </a:prstGeom>
          <a:solidFill>
            <a:srgbClr val="E3EFE7"/>
          </a:solidFill>
          <a:ln/>
        </p:spPr>
        <p:txBody>
          <a:bodyPr/>
          <a:lstStyle/>
          <a:p>
            <a:endParaRPr lang="ko-KR" altLang="en-US"/>
          </a:p>
        </p:txBody>
      </p:sp>
      <p:sp>
        <p:nvSpPr>
          <p:cNvPr id="17" name="Shape 15"/>
          <p:cNvSpPr/>
          <p:nvPr/>
        </p:nvSpPr>
        <p:spPr>
          <a:xfrm>
            <a:off x="812800" y="375394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8" name="Text 16"/>
          <p:cNvSpPr/>
          <p:nvPr/>
        </p:nvSpPr>
        <p:spPr>
          <a:xfrm>
            <a:off x="1117600" y="395714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자전거 배우기</a:t>
            </a:r>
            <a:endParaRPr lang="en-US" sz="1300" dirty="0"/>
          </a:p>
        </p:txBody>
      </p:sp>
      <p:sp>
        <p:nvSpPr>
          <p:cNvPr id="19" name="Text 17"/>
          <p:cNvSpPr/>
          <p:nvPr/>
        </p:nvSpPr>
        <p:spPr>
          <a:xfrm>
            <a:off x="1117600" y="426442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넘어지는 이유를 책으로 읽는 것보다, 한 번 휘청해 보고 '아, 이래서 핸들을 이렇게 잡는구나' 할 때 오래 기억됩니다. 오늘 본 네 장면처럼, 틀린 결과를 먼저 보면 규칙이 왜 필요한지 몸으로 압니다.</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38 / 60</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원칙 3 · 눈 대신 검사 프로그램</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'잘 된 것 같다'가 아니라 '검사 결과 0건'으로 말합니다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2701727"/>
        </p:xfrm>
        <a:graphic>
          <a:graphicData uri="http://schemas.openxmlformats.org/drawingml/2006/table">
            <a:tbl>
              <a:tblPr/>
              <a:tblGrid>
                <a:gridCol w="3166110">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검사 프로그램</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무엇을 확인하나</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언제</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check_env.py</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내 PC 환경과 폴더가 준비되었나</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매일 1교시</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check_dictionary.py</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표준 사전이 약속을 지키나</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2일차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check_rulebook.py</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변환규칙정의서가 빠짐없이 쓰였나</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3일차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check_model.py</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모델이 표준 사전의 이름을 따르나</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4일차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check_ddl.py</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테이블 정의가 표준을 따르나</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5일차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catalog_check.py</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DB가 문서와 실제로 같은가</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6일차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781947"/>
            <a:ext cx="10883392" cy="3098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1B2A44"/>
                </a:solidFill>
                <a:latin typeface="Noto Sans KR" pitchFamily="34" charset="0"/>
                <a:ea typeface="Noto Sans KR" pitchFamily="34" charset="-122"/>
                <a:cs typeface="Noto Sans KR" pitchFamily="34" charset="-120"/>
              </a:rPr>
              <a:t>사람 눈은 피곤하면 놓칩니다. 검사 프로그램은 몇 번을 돌려도 같은 기준으로 봅니다.</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39 / 60</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원칙 4 · 누가 몇 번 돌려도 같은 결과</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재현성 — 데이터를 만드는 과정까지 약속합니다</a:t>
            </a:r>
            <a:endParaRPr lang="en-US" sz="3000" dirty="0"/>
          </a:p>
        </p:txBody>
      </p:sp>
      <p:sp>
        <p:nvSpPr>
          <p:cNvPr id="4" name="Shape 2"/>
          <p:cNvSpPr/>
          <p:nvPr/>
        </p:nvSpPr>
        <p:spPr>
          <a:xfrm>
            <a:off x="815975" y="1816695"/>
            <a:ext cx="5187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같은 데이터</a:t>
            </a:r>
            <a:endParaRPr lang="en-US" sz="1200" dirty="0"/>
          </a:p>
        </p:txBody>
      </p:sp>
      <p:sp>
        <p:nvSpPr>
          <p:cNvPr id="6" name="Text 4"/>
          <p:cNvSpPr/>
          <p:nvPr/>
        </p:nvSpPr>
        <p:spPr>
          <a:xfrm>
            <a:off x="1047750" y="2350691"/>
            <a:ext cx="486613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직접 만들어 쓰는 실습 데이터</a:t>
            </a:r>
            <a:endParaRPr lang="en-US" sz="1800" dirty="0"/>
          </a:p>
        </p:txBody>
      </p:sp>
      <p:sp>
        <p:nvSpPr>
          <p:cNvPr id="7" name="Text 5"/>
          <p:cNvSpPr/>
          <p:nvPr/>
        </p:nvSpPr>
        <p:spPr>
          <a:xfrm>
            <a:off x="1047750" y="2736751"/>
            <a:ext cx="486613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1일차에 여러분이 </a:t>
            </a:r>
            <a:r>
              <a:rPr lang="en-US" sz="1300" b="1" dirty="0">
                <a:solidFill>
                  <a:srgbClr val="3D4757"/>
                </a:solidFill>
                <a:latin typeface="Noto Sans KR" pitchFamily="34" charset="0"/>
                <a:ea typeface="Noto Sans KR" pitchFamily="34" charset="-122"/>
                <a:cs typeface="Noto Sans KR" pitchFamily="34" charset="-120"/>
              </a:rPr>
              <a:t>make_dataset.py</a:t>
            </a:r>
            <a:r>
              <a:rPr lang="en-US" sz="1300" dirty="0">
                <a:solidFill>
                  <a:srgbClr val="3D4757"/>
                </a:solidFill>
                <a:latin typeface="Noto Sans KR" pitchFamily="34" charset="0"/>
                <a:ea typeface="Noto Sans KR" pitchFamily="34" charset="-122"/>
                <a:cs typeface="Noto Sans KR" pitchFamily="34" charset="-120"/>
              </a:rPr>
              <a:t>를 직접 실행해 데이터를 만듭니다. 난수 시드가 고정되어 있어서 모두의 데이터가 한 글자까지 같습니다.</a:t>
            </a:r>
            <a:endParaRPr lang="en-US" sz="1300" dirty="0"/>
          </a:p>
        </p:txBody>
      </p:sp>
      <p:sp>
        <p:nvSpPr>
          <p:cNvPr id="8" name="Shape 6"/>
          <p:cNvSpPr/>
          <p:nvPr/>
        </p:nvSpPr>
        <p:spPr>
          <a:xfrm>
            <a:off x="6188075" y="1816695"/>
            <a:ext cx="5187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6419850" y="2048470"/>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같은 결과</a:t>
            </a:r>
            <a:endParaRPr lang="en-US" sz="1200" dirty="0"/>
          </a:p>
        </p:txBody>
      </p:sp>
      <p:sp>
        <p:nvSpPr>
          <p:cNvPr id="10" name="Text 8"/>
          <p:cNvSpPr/>
          <p:nvPr/>
        </p:nvSpPr>
        <p:spPr>
          <a:xfrm>
            <a:off x="6419850" y="2350691"/>
            <a:ext cx="486613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다시 돌려도 달라지지 않는 처리</a:t>
            </a:r>
            <a:endParaRPr lang="en-US" sz="1800" dirty="0"/>
          </a:p>
        </p:txBody>
      </p:sp>
      <p:sp>
        <p:nvSpPr>
          <p:cNvPr id="11" name="Text 9"/>
          <p:cNvSpPr/>
          <p:nvPr/>
        </p:nvSpPr>
        <p:spPr>
          <a:xfrm>
            <a:off x="6419850" y="2736751"/>
            <a:ext cx="486613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ETL을 두 번 돌려도 데이터가 두 배가 되지 않아야 합니다. 이것을 </a:t>
            </a:r>
            <a:r>
              <a:rPr lang="en-US" sz="1300" b="1" dirty="0">
                <a:solidFill>
                  <a:srgbClr val="3D4757"/>
                </a:solidFill>
                <a:latin typeface="Noto Sans KR" pitchFamily="34" charset="0"/>
                <a:ea typeface="Noto Sans KR" pitchFamily="34" charset="-122"/>
                <a:cs typeface="Noto Sans KR" pitchFamily="34" charset="-120"/>
              </a:rPr>
              <a:t>멱등성</a:t>
            </a:r>
            <a:r>
              <a:rPr lang="en-US" sz="1300" dirty="0">
                <a:solidFill>
                  <a:srgbClr val="3D4757"/>
                </a:solidFill>
                <a:latin typeface="Noto Sans KR" pitchFamily="34" charset="0"/>
                <a:ea typeface="Noto Sans KR" pitchFamily="34" charset="-122"/>
                <a:cs typeface="Noto Sans KR" pitchFamily="34" charset="-120"/>
              </a:rPr>
              <a:t>이라고 부르고 8일차에 확인합니다.</a:t>
            </a:r>
            <a:endParaRPr lang="en-US" sz="1300" dirty="0"/>
          </a:p>
        </p:txBody>
      </p:sp>
      <p:sp>
        <p:nvSpPr>
          <p:cNvPr id="12" name="Shape 10"/>
          <p:cNvSpPr/>
          <p:nvPr/>
        </p:nvSpPr>
        <p:spPr>
          <a:xfrm>
            <a:off x="812800" y="4018062"/>
            <a:ext cx="10566400" cy="1282601"/>
          </a:xfrm>
          <a:prstGeom prst="roundRect">
            <a:avLst>
              <a:gd name="adj" fmla="val 5941"/>
            </a:avLst>
          </a:prstGeom>
          <a:solidFill>
            <a:srgbClr val="E3EFE7"/>
          </a:solidFill>
          <a:ln/>
        </p:spPr>
        <p:txBody>
          <a:bodyPr/>
          <a:lstStyle/>
          <a:p>
            <a:endParaRPr lang="ko-KR" altLang="en-US"/>
          </a:p>
        </p:txBody>
      </p:sp>
      <p:sp>
        <p:nvSpPr>
          <p:cNvPr id="13" name="Shape 11"/>
          <p:cNvSpPr/>
          <p:nvPr/>
        </p:nvSpPr>
        <p:spPr>
          <a:xfrm>
            <a:off x="812800" y="4018062"/>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4" name="Text 12"/>
          <p:cNvSpPr/>
          <p:nvPr/>
        </p:nvSpPr>
        <p:spPr>
          <a:xfrm>
            <a:off x="1117600" y="4221262"/>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자판기</a:t>
            </a:r>
            <a:endParaRPr lang="en-US" sz="1300" dirty="0"/>
          </a:p>
        </p:txBody>
      </p:sp>
      <p:sp>
        <p:nvSpPr>
          <p:cNvPr id="15" name="Text 13"/>
          <p:cNvSpPr/>
          <p:nvPr/>
        </p:nvSpPr>
        <p:spPr>
          <a:xfrm>
            <a:off x="1117600" y="452854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같은 버튼을 누르면 언제나 같은 음료가 나와야 믿고 씁니다. 누를 때마다 다른 게 나오거나, 두 번 누르면 두 개가 나오는 자판기는 믿을 수 없습니다.</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40 / 60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23216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Noto Sans KR" pitchFamily="34" charset="0"/>
                <a:ea typeface="Noto Sans KR" pitchFamily="34" charset="-122"/>
                <a:cs typeface="Noto Sans KR" pitchFamily="34" charset="-120"/>
              </a:rPr>
              <a:t>PART 4</a:t>
            </a:r>
            <a:endParaRPr lang="en-US" sz="1200" dirty="0"/>
          </a:p>
        </p:txBody>
      </p:sp>
      <p:sp>
        <p:nvSpPr>
          <p:cNvPr id="3" name="Text 1"/>
          <p:cNvSpPr/>
          <p:nvPr/>
        </p:nvSpPr>
        <p:spPr>
          <a:xfrm>
            <a:off x="812800" y="2738140"/>
            <a:ext cx="10883392" cy="726380"/>
          </a:xfrm>
          <a:prstGeom prst="rect">
            <a:avLst/>
          </a:prstGeom>
          <a:noFill/>
          <a:ln/>
        </p:spPr>
        <p:txBody>
          <a:bodyPr wrap="square" lIns="0" tIns="0" rIns="0" bIns="0" rtlCol="0" anchor="t">
            <a:normAutofit/>
          </a:bodyPr>
          <a:lstStyle/>
          <a:p>
            <a:pPr marL="0" indent="0" algn="l">
              <a:lnSpc>
                <a:spcPts val="5520"/>
              </a:lnSpc>
              <a:buNone/>
            </a:pPr>
            <a:r>
              <a:rPr lang="en-US" sz="4800" b="1" dirty="0">
                <a:solidFill>
                  <a:srgbClr val="F6F4EF"/>
                </a:solidFill>
                <a:latin typeface="Noto Sans KR" pitchFamily="34" charset="0"/>
                <a:ea typeface="Noto Sans KR" pitchFamily="34" charset="-122"/>
                <a:cs typeface="Noto Sans KR" pitchFamily="34" charset="-120"/>
              </a:rPr>
              <a:t>열흘 동안 무엇을 만들까?</a:t>
            </a:r>
            <a:endParaRPr lang="en-US" sz="4800" dirty="0"/>
          </a:p>
        </p:txBody>
      </p:sp>
      <p:sp>
        <p:nvSpPr>
          <p:cNvPr id="4" name="Text 2"/>
          <p:cNvSpPr/>
          <p:nvPr/>
        </p:nvSpPr>
        <p:spPr>
          <a:xfrm>
            <a:off x="812800" y="3642320"/>
            <a:ext cx="10883392" cy="716161"/>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기초 → 모델링 → 구축 실습 → 프로젝트.</a:t>
            </a:r>
            <a:endParaRPr lang="en-US" sz="1700" dirty="0"/>
          </a:p>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매일 만든 파일이 다음 날의 재료가 됩니다.</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Noto Sans KR" pitchFamily="34" charset="0"/>
                <a:ea typeface="Noto Sans KR" pitchFamily="34" charset="-122"/>
                <a:cs typeface="Noto Sans KR" pitchFamily="34" charset="-120"/>
              </a:rPr>
              <a:t>41 / 60</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네 개의 단원</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표준을 세우고, 설계하고, 만들고, 팀으로 해 봅니다</a:t>
            </a:r>
            <a:endParaRPr lang="en-US" sz="3000" dirty="0"/>
          </a:p>
        </p:txBody>
      </p:sp>
      <p:sp>
        <p:nvSpPr>
          <p:cNvPr id="4" name="Shape 2"/>
          <p:cNvSpPr/>
          <p:nvPr/>
        </p:nvSpPr>
        <p:spPr>
          <a:xfrm>
            <a:off x="815975" y="1816695"/>
            <a:ext cx="2520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1~3일차</a:t>
            </a:r>
            <a:endParaRPr lang="en-US" sz="1200" dirty="0"/>
          </a:p>
        </p:txBody>
      </p:sp>
      <p:sp>
        <p:nvSpPr>
          <p:cNvPr id="6" name="Text 4"/>
          <p:cNvSpPr/>
          <p:nvPr/>
        </p:nvSpPr>
        <p:spPr>
          <a:xfrm>
            <a:off x="10477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 표준화 기초</a:t>
            </a:r>
            <a:endParaRPr lang="en-US" sz="1800" dirty="0"/>
          </a:p>
        </p:txBody>
      </p:sp>
      <p:sp>
        <p:nvSpPr>
          <p:cNvPr id="7" name="Text 5"/>
          <p:cNvSpPr/>
          <p:nvPr/>
        </p:nvSpPr>
        <p:spPr>
          <a:xfrm>
            <a:off x="10477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환경 설치 · 원천 탐색</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표준 사전 · 매핑표</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프로파일링 · 변환 규칙</a:t>
            </a:r>
            <a:endParaRPr lang="en-US" sz="1300" dirty="0"/>
          </a:p>
        </p:txBody>
      </p:sp>
      <p:sp>
        <p:nvSpPr>
          <p:cNvPr id="8" name="Shape 6"/>
          <p:cNvSpPr/>
          <p:nvPr/>
        </p:nvSpPr>
        <p:spPr>
          <a:xfrm>
            <a:off x="3495675" y="1816695"/>
            <a:ext cx="2520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37274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4~6일차</a:t>
            </a:r>
            <a:endParaRPr lang="en-US" sz="1200" dirty="0"/>
          </a:p>
        </p:txBody>
      </p:sp>
      <p:sp>
        <p:nvSpPr>
          <p:cNvPr id="10" name="Text 8"/>
          <p:cNvSpPr/>
          <p:nvPr/>
        </p:nvSpPr>
        <p:spPr>
          <a:xfrm>
            <a:off x="37274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 모델링 기초</a:t>
            </a:r>
            <a:endParaRPr lang="en-US" sz="1800" dirty="0"/>
          </a:p>
        </p:txBody>
      </p:sp>
      <p:sp>
        <p:nvSpPr>
          <p:cNvPr id="11" name="Text 9"/>
          <p:cNvSpPr/>
          <p:nvPr/>
        </p:nvSpPr>
        <p:spPr>
          <a:xfrm>
            <a:off x="37274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한 행의 의미 · 모델 그리기</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MySQL 테이블 만들기</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문서와 DB 대조</a:t>
            </a:r>
            <a:endParaRPr lang="en-US" sz="1300" dirty="0"/>
          </a:p>
        </p:txBody>
      </p:sp>
      <p:sp>
        <p:nvSpPr>
          <p:cNvPr id="12" name="Shape 10"/>
          <p:cNvSpPr/>
          <p:nvPr/>
        </p:nvSpPr>
        <p:spPr>
          <a:xfrm>
            <a:off x="6175375" y="1816695"/>
            <a:ext cx="2520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64071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7~8일차</a:t>
            </a:r>
            <a:endParaRPr lang="en-US" sz="1200" dirty="0"/>
          </a:p>
        </p:txBody>
      </p:sp>
      <p:sp>
        <p:nvSpPr>
          <p:cNvPr id="14" name="Text 12"/>
          <p:cNvSpPr/>
          <p:nvPr/>
        </p:nvSpPr>
        <p:spPr>
          <a:xfrm>
            <a:off x="64071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AI Ready Data 구축</a:t>
            </a:r>
            <a:endParaRPr lang="en-US" sz="1800" dirty="0"/>
          </a:p>
        </p:txBody>
      </p:sp>
      <p:sp>
        <p:nvSpPr>
          <p:cNvPr id="15" name="Text 13"/>
          <p:cNvSpPr/>
          <p:nvPr/>
        </p:nvSpPr>
        <p:spPr>
          <a:xfrm>
            <a:off x="64071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누수 막기 · ETL 구현</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구매 특성 만들기</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자동 검증 · 완주</a:t>
            </a:r>
            <a:endParaRPr lang="en-US" sz="1300" dirty="0"/>
          </a:p>
        </p:txBody>
      </p:sp>
      <p:sp>
        <p:nvSpPr>
          <p:cNvPr id="16" name="Shape 14"/>
          <p:cNvSpPr/>
          <p:nvPr/>
        </p:nvSpPr>
        <p:spPr>
          <a:xfrm>
            <a:off x="8855075" y="1816695"/>
            <a:ext cx="2520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17" name="Text 15"/>
          <p:cNvSpPr/>
          <p:nvPr/>
        </p:nvSpPr>
        <p:spPr>
          <a:xfrm>
            <a:off x="9086850" y="204847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9~10일차</a:t>
            </a:r>
            <a:endParaRPr lang="en-US" sz="1200" dirty="0"/>
          </a:p>
        </p:txBody>
      </p:sp>
      <p:sp>
        <p:nvSpPr>
          <p:cNvPr id="18" name="Text 16"/>
          <p:cNvSpPr/>
          <p:nvPr/>
        </p:nvSpPr>
        <p:spPr>
          <a:xfrm>
            <a:off x="9086850" y="2350691"/>
            <a:ext cx="211912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단위 프로젝트</a:t>
            </a:r>
            <a:endParaRPr lang="en-US" sz="1800" dirty="0"/>
          </a:p>
        </p:txBody>
      </p:sp>
      <p:sp>
        <p:nvSpPr>
          <p:cNvPr id="19" name="Text 17"/>
          <p:cNvSpPr/>
          <p:nvPr/>
        </p:nvSpPr>
        <p:spPr>
          <a:xfrm>
            <a:off x="9086850" y="2736751"/>
            <a:ext cx="211912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팀별 변형 데이터</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진단 · 통합 · 검증</a:t>
            </a:r>
            <a:endParaRPr lang="en-US" sz="1300" dirty="0"/>
          </a:p>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발표 · 시연</a:t>
            </a:r>
            <a:endParaRPr lang="en-US" sz="1300" dirty="0"/>
          </a:p>
        </p:txBody>
      </p:sp>
      <p:sp>
        <p:nvSpPr>
          <p:cNvPr id="20" name="Shape 18"/>
          <p:cNvSpPr/>
          <p:nvPr/>
        </p:nvSpPr>
        <p:spPr>
          <a:xfrm>
            <a:off x="812800" y="4018062"/>
            <a:ext cx="10566400" cy="1219101"/>
          </a:xfrm>
          <a:prstGeom prst="roundRect">
            <a:avLst>
              <a:gd name="adj" fmla="val 6251"/>
            </a:avLst>
          </a:prstGeom>
          <a:solidFill>
            <a:srgbClr val="E4ECF7"/>
          </a:solidFill>
          <a:ln/>
        </p:spPr>
        <p:txBody>
          <a:bodyPr/>
          <a:lstStyle/>
          <a:p>
            <a:endParaRPr lang="ko-KR" altLang="en-US"/>
          </a:p>
        </p:txBody>
      </p:sp>
      <p:sp>
        <p:nvSpPr>
          <p:cNvPr id="21" name="Shape 19"/>
          <p:cNvSpPr/>
          <p:nvPr/>
        </p:nvSpPr>
        <p:spPr>
          <a:xfrm>
            <a:off x="812800" y="401806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22" name="Text 20"/>
          <p:cNvSpPr/>
          <p:nvPr/>
        </p:nvSpPr>
        <p:spPr>
          <a:xfrm>
            <a:off x="1092200" y="419586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프로젝트 주제</a:t>
            </a:r>
            <a:endParaRPr lang="en-US" sz="1300" dirty="0"/>
          </a:p>
        </p:txBody>
      </p:sp>
      <p:sp>
        <p:nvSpPr>
          <p:cNvPr id="23" name="Text 21"/>
          <p:cNvSpPr/>
          <p:nvPr/>
        </p:nvSpPr>
        <p:spPr>
          <a:xfrm>
            <a:off x="1092200" y="449044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3D4757"/>
                </a:solidFill>
                <a:latin typeface="Noto Sans KR" pitchFamily="34" charset="0"/>
                <a:ea typeface="Noto Sans KR" pitchFamily="34" charset="-122"/>
                <a:cs typeface="Noto Sans KR" pitchFamily="34" charset="-120"/>
              </a:rPr>
              <a:t>레거시 데이터의 AI Ready Data 변환 및 표준 사전 구축</a:t>
            </a:r>
            <a:r>
              <a:rPr lang="en-US" sz="1400" dirty="0">
                <a:solidFill>
                  <a:srgbClr val="3D4757"/>
                </a:solidFill>
                <a:latin typeface="Noto Sans KR" pitchFamily="34" charset="0"/>
                <a:ea typeface="Noto Sans KR" pitchFamily="34" charset="-122"/>
                <a:cs typeface="Noto Sans KR" pitchFamily="34" charset="-120"/>
              </a:rPr>
              <a:t> — 1~8일차에 혼자 익힌 과정을, 9~10일차에 팀이 새 데이터로 처음부터 끝까지 다시 해 봅니다.</a:t>
            </a:r>
            <a:endParaRPr lang="en-US" sz="14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42 / 60</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일차별 로드맵</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하루에 하나씩, 여러분의 파일이 쌓입니다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3658391"/>
        </p:xfrm>
        <a:graphic>
          <a:graphicData uri="http://schemas.openxmlformats.org/drawingml/2006/table">
            <a:tbl>
              <a:tblPr/>
              <a:tblGrid>
                <a:gridCol w="844296">
                  <a:extLst>
                    <a:ext uri="{9D8B030D-6E8A-4147-A177-3AD203B41FA5}">
                      <a16:colId xmlns:a16="http://schemas.microsoft.com/office/drawing/2014/main" val="20000"/>
                    </a:ext>
                  </a:extLst>
                </a:gridCol>
                <a:gridCol w="5698998">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4EF"/>
                          </a:solidFill>
                          <a:latin typeface="Noto Sans KR" pitchFamily="34" charset="0"/>
                          <a:ea typeface="Noto Sans KR" pitchFamily="34" charset="-122"/>
                          <a:cs typeface="Noto Sans KR" pitchFamily="34" charset="-120"/>
                        </a:rPr>
                        <a:t>일차</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680"/>
                        </a:lnSpc>
                        <a:buNone/>
                      </a:pPr>
                      <a:r>
                        <a:rPr lang="en-US" sz="1200" b="1" dirty="0">
                          <a:solidFill>
                            <a:srgbClr val="F6F4EF"/>
                          </a:solidFill>
                          <a:latin typeface="Noto Sans KR" pitchFamily="34" charset="0"/>
                          <a:ea typeface="Noto Sans KR" pitchFamily="34" charset="-122"/>
                          <a:cs typeface="Noto Sans KR" pitchFamily="34" charset="-120"/>
                        </a:rPr>
                        <a:t>주제</a:t>
                      </a:r>
                      <a:endParaRPr lang="en-US" sz="1200" dirty="0">
                        <a:latin typeface="Noto Sans KR" charset="0"/>
                        <a:ea typeface="Noto Sans KR" charset="0"/>
                        <a:cs typeface="Noto Sans KR" charset="0"/>
                      </a:endParaRPr>
                    </a:p>
                  </a:txBody>
                  <a:tcPr marL="53340" marR="53340" marT="53340" marB="5334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680"/>
                        </a:lnSpc>
                        <a:buNone/>
                      </a:pPr>
                      <a:r>
                        <a:rPr lang="en-US" sz="1200" b="1" dirty="0">
                          <a:solidFill>
                            <a:srgbClr val="F6F4EF"/>
                          </a:solidFill>
                          <a:latin typeface="Noto Sans KR" pitchFamily="34" charset="0"/>
                          <a:ea typeface="Noto Sans KR" pitchFamily="34" charset="-122"/>
                          <a:cs typeface="Noto Sans KR" pitchFamily="34" charset="-120"/>
                        </a:rPr>
                        <a:t>그날 만드는 것</a:t>
                      </a:r>
                      <a:endParaRPr lang="en-US" sz="1200" dirty="0">
                        <a:latin typeface="Noto Sans KR" charset="0"/>
                        <a:ea typeface="Noto Sans KR" charset="0"/>
                        <a:cs typeface="Noto Sans KR" charset="0"/>
                      </a:endParaRPr>
                    </a:p>
                  </a:txBody>
                  <a:tcPr marL="53340" marR="53340" marT="53340" marB="5334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환경 설치 · 데이터 직접 생성 · 잘못 읽기</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탐색 노트 · 원천 데이터 폴더</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2</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품질 6기준 · 표준 단어·도메인·용어·코드</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표준사전.xlsx · 매핑표.xlsx</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프로파일링 · 결측·중복·형식 · 변환 규칙</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AS-IS 품질보고서 · 변환규칙정의서</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4</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한 행의 의미 · 엔터티·식별자 · MySQL 재확인</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AS-IS 모델 · TO-BE 개념모델</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5</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SQL 보충 · PK·FK·정규화 · DDL · JOIN 판정</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ddl.sql · 실습 DB</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6</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제약·인덱스 · 문서와 DB 대조 · 모델 확정</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catalog_check.py · 데이터카탈로그.md</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7</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저장용 vs 활용용 · 누수 · ETL · 격리</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etl.py · customer_features.csv</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8</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자동 검증 · 건수·합계 대조 · 멱등성 · 기간 분리</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전체 산출물 완주본</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9</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팀 데이터 진단 · 팀 사전 보완 · ETL 통합</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팀 산출물 중간본</a:t>
                      </a:r>
                      <a:endParaRPr lang="en-US" sz="1200" dirty="0">
                        <a:latin typeface="Noto Sans KR" charset="0"/>
                        <a:ea typeface="Noto Sans KR" charset="0"/>
                        <a:cs typeface="Noto Sans KR" charset="0"/>
                      </a:endParaRPr>
                    </a:p>
                  </a:txBody>
                  <a:tcPr marL="53340" marR="53340" marT="53340" marB="5334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9"/>
                  </a:ext>
                </a:extLst>
              </a:tr>
              <a:tr h="332581">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10</a:t>
                      </a:r>
                      <a:endParaRPr lang="en-US" sz="1200" dirty="0">
                        <a:latin typeface="Noto Sans KR" charset="0"/>
                        <a:ea typeface="Noto Sans KR" charset="0"/>
                        <a:cs typeface="Noto Sans KR"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최종 검증 · README · 발표 · 개인 확인</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680"/>
                        </a:lnSpc>
                        <a:buNone/>
                      </a:pPr>
                      <a:r>
                        <a:rPr lang="en-US" sz="1200" dirty="0">
                          <a:solidFill>
                            <a:srgbClr val="3D4757"/>
                          </a:solidFill>
                          <a:latin typeface="Noto Sans KR" pitchFamily="34" charset="0"/>
                          <a:ea typeface="Noto Sans KR" pitchFamily="34" charset="-122"/>
                          <a:cs typeface="Noto Sans KR" pitchFamily="34" charset="-120"/>
                        </a:rPr>
                        <a:t>팀 최종 제출물 · 발표</a:t>
                      </a:r>
                      <a:endParaRPr lang="en-US" sz="1200" dirty="0">
                        <a:latin typeface="Noto Sans KR" charset="0"/>
                        <a:ea typeface="Noto Sans KR" charset="0"/>
                        <a:cs typeface="Noto Sans KR"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10"/>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43 / 60</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개인 실습과 팀 프로젝트</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먼저 혼자 끝까지 해 보고, 그다음 팀으로 합니다</a:t>
            </a:r>
            <a:endParaRPr lang="en-US" sz="3000" dirty="0"/>
          </a:p>
        </p:txBody>
      </p:sp>
      <p:sp>
        <p:nvSpPr>
          <p:cNvPr id="4" name="Shape 2"/>
          <p:cNvSpPr/>
          <p:nvPr/>
        </p:nvSpPr>
        <p:spPr>
          <a:xfrm>
            <a:off x="815975" y="1816695"/>
            <a:ext cx="5187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1~8일차 · 개인</a:t>
            </a:r>
            <a:endParaRPr lang="en-US" sz="1200" dirty="0"/>
          </a:p>
        </p:txBody>
      </p:sp>
      <p:sp>
        <p:nvSpPr>
          <p:cNvPr id="6" name="Text 4"/>
          <p:cNvSpPr/>
          <p:nvPr/>
        </p:nvSpPr>
        <p:spPr>
          <a:xfrm>
            <a:off x="1047750" y="2350691"/>
            <a:ext cx="486613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모든 실습은 혼자</a:t>
            </a:r>
            <a:endParaRPr lang="en-US" sz="1800" dirty="0"/>
          </a:p>
        </p:txBody>
      </p:sp>
      <p:sp>
        <p:nvSpPr>
          <p:cNvPr id="7" name="Text 5"/>
          <p:cNvSpPr/>
          <p:nvPr/>
        </p:nvSpPr>
        <p:spPr>
          <a:xfrm>
            <a:off x="1047750" y="2736751"/>
            <a:ext cx="4866132"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Google Sheets도 각자 자기 계정으로 만듭니다. 모두 같은 공통 데이터를 쓰기 때문에 옆 사람과 결과를 비교해 볼 수 있습니다.</a:t>
            </a:r>
            <a:endParaRPr lang="en-US" sz="1300" dirty="0"/>
          </a:p>
        </p:txBody>
      </p:sp>
      <p:sp>
        <p:nvSpPr>
          <p:cNvPr id="8" name="Shape 6"/>
          <p:cNvSpPr/>
          <p:nvPr/>
        </p:nvSpPr>
        <p:spPr>
          <a:xfrm>
            <a:off x="6188075" y="1816695"/>
            <a:ext cx="5187950" cy="1944191"/>
          </a:xfrm>
          <a:prstGeom prst="roundRect">
            <a:avLst>
              <a:gd name="adj" fmla="val 5063"/>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6419850" y="2048470"/>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9~10일차 · 팀</a:t>
            </a:r>
            <a:endParaRPr lang="en-US" sz="1200" dirty="0"/>
          </a:p>
        </p:txBody>
      </p:sp>
      <p:sp>
        <p:nvSpPr>
          <p:cNvPr id="10" name="Text 8"/>
          <p:cNvSpPr/>
          <p:nvPr/>
        </p:nvSpPr>
        <p:spPr>
          <a:xfrm>
            <a:off x="6419850" y="2350691"/>
            <a:ext cx="486613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3팀 · 팀마다 다른 데이터</a:t>
            </a:r>
            <a:endParaRPr lang="en-US" sz="1800" dirty="0"/>
          </a:p>
        </p:txBody>
      </p:sp>
      <p:sp>
        <p:nvSpPr>
          <p:cNvPr id="11" name="Text 9"/>
          <p:cNvSpPr/>
          <p:nvPr/>
        </p:nvSpPr>
        <p:spPr>
          <a:xfrm>
            <a:off x="6419850" y="2736751"/>
            <a:ext cx="4866132"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팀 A · B · C는 컬럼 이름, 상태 코드 체계, 금액 단위 등이 조금씩 다른 변형 데이터를 받습니다. 공통 데이터에서 만든 규칙이 그대로는 안 맞습니다.</a:t>
            </a:r>
            <a:endParaRPr lang="en-US" sz="1300" dirty="0"/>
          </a:p>
        </p:txBody>
      </p:sp>
      <p:sp>
        <p:nvSpPr>
          <p:cNvPr id="12" name="Shape 10"/>
          <p:cNvSpPr/>
          <p:nvPr/>
        </p:nvSpPr>
        <p:spPr>
          <a:xfrm>
            <a:off x="812800" y="4018062"/>
            <a:ext cx="10566400" cy="1282601"/>
          </a:xfrm>
          <a:prstGeom prst="roundRect">
            <a:avLst>
              <a:gd name="adj" fmla="val 5941"/>
            </a:avLst>
          </a:prstGeom>
          <a:solidFill>
            <a:srgbClr val="E3EFE7"/>
          </a:solidFill>
          <a:ln/>
        </p:spPr>
        <p:txBody>
          <a:bodyPr/>
          <a:lstStyle/>
          <a:p>
            <a:endParaRPr lang="ko-KR" altLang="en-US"/>
          </a:p>
        </p:txBody>
      </p:sp>
      <p:sp>
        <p:nvSpPr>
          <p:cNvPr id="13" name="Shape 11"/>
          <p:cNvSpPr/>
          <p:nvPr/>
        </p:nvSpPr>
        <p:spPr>
          <a:xfrm>
            <a:off x="812800" y="4018062"/>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14" name="Text 12"/>
          <p:cNvSpPr/>
          <p:nvPr/>
        </p:nvSpPr>
        <p:spPr>
          <a:xfrm>
            <a:off x="1117600" y="4221262"/>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운전 연수</a:t>
            </a:r>
            <a:endParaRPr lang="en-US" sz="1300" dirty="0"/>
          </a:p>
        </p:txBody>
      </p:sp>
      <p:sp>
        <p:nvSpPr>
          <p:cNvPr id="15" name="Text 13"/>
          <p:cNvSpPr/>
          <p:nvPr/>
        </p:nvSpPr>
        <p:spPr>
          <a:xfrm>
            <a:off x="1117600" y="452854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처음에는 연수용 차로 같은 코스를 돌며 혼자 익히고, 그다음 처음 가는 길을 여럿이 지도를 보며 함께 갑니다. 코스가 달라도 운전하는 법은 같습니다.</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44 / 60</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평가 방식</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팀 점수 100점 × 개인 계수</a:t>
            </a:r>
            <a:endParaRPr lang="en-US" sz="3000" dirty="0"/>
          </a:p>
        </p:txBody>
      </p:sp>
      <p:sp>
        <p:nvSpPr>
          <p:cNvPr id="4" name="Text 2"/>
          <p:cNvSpPr/>
          <p:nvPr/>
        </p:nvSpPr>
        <p:spPr>
          <a:xfrm>
            <a:off x="8128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458A6"/>
                </a:solidFill>
                <a:latin typeface="Noto Sans KR" pitchFamily="34" charset="0"/>
                <a:ea typeface="Noto Sans KR" pitchFamily="34" charset="-122"/>
                <a:cs typeface="Noto Sans KR" pitchFamily="34" charset="-120"/>
              </a:rPr>
              <a:t>30</a:t>
            </a:r>
            <a:endParaRPr lang="en-US" sz="4400" dirty="0"/>
          </a:p>
        </p:txBody>
      </p:sp>
      <p:sp>
        <p:nvSpPr>
          <p:cNvPr id="5" name="Text 3"/>
          <p:cNvSpPr/>
          <p:nvPr/>
        </p:nvSpPr>
        <p:spPr>
          <a:xfrm>
            <a:off x="8128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설계와 표준</a:t>
            </a:r>
            <a:endParaRPr lang="en-US" sz="1500" dirty="0"/>
          </a:p>
        </p:txBody>
      </p:sp>
      <p:sp>
        <p:nvSpPr>
          <p:cNvPr id="6" name="Text 4"/>
          <p:cNvSpPr/>
          <p:nvPr/>
        </p:nvSpPr>
        <p:spPr>
          <a:xfrm>
            <a:off x="8128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표준 사전 · 모델</a:t>
            </a:r>
            <a:endParaRPr lang="en-US" sz="1200" dirty="0"/>
          </a:p>
        </p:txBody>
      </p:sp>
      <p:sp>
        <p:nvSpPr>
          <p:cNvPr id="7" name="Text 5"/>
          <p:cNvSpPr/>
          <p:nvPr/>
        </p:nvSpPr>
        <p:spPr>
          <a:xfrm>
            <a:off x="34925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458A6"/>
                </a:solidFill>
                <a:latin typeface="Noto Sans KR" pitchFamily="34" charset="0"/>
                <a:ea typeface="Noto Sans KR" pitchFamily="34" charset="-122"/>
                <a:cs typeface="Noto Sans KR" pitchFamily="34" charset="-120"/>
              </a:rPr>
              <a:t>30</a:t>
            </a:r>
            <a:endParaRPr lang="en-US" sz="4400" dirty="0"/>
          </a:p>
        </p:txBody>
      </p:sp>
      <p:sp>
        <p:nvSpPr>
          <p:cNvPr id="8" name="Text 6"/>
          <p:cNvSpPr/>
          <p:nvPr/>
        </p:nvSpPr>
        <p:spPr>
          <a:xfrm>
            <a:off x="34925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변환 구현</a:t>
            </a:r>
            <a:endParaRPr lang="en-US" sz="1500" dirty="0"/>
          </a:p>
        </p:txBody>
      </p:sp>
      <p:sp>
        <p:nvSpPr>
          <p:cNvPr id="9" name="Text 7"/>
          <p:cNvSpPr/>
          <p:nvPr/>
        </p:nvSpPr>
        <p:spPr>
          <a:xfrm>
            <a:off x="34925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ETL · 규칙 적용</a:t>
            </a:r>
            <a:endParaRPr lang="en-US" sz="1200" dirty="0"/>
          </a:p>
        </p:txBody>
      </p:sp>
      <p:sp>
        <p:nvSpPr>
          <p:cNvPr id="10" name="Text 8"/>
          <p:cNvSpPr/>
          <p:nvPr/>
        </p:nvSpPr>
        <p:spPr>
          <a:xfrm>
            <a:off x="61722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94E12"/>
                </a:solidFill>
                <a:latin typeface="Noto Sans KR" pitchFamily="34" charset="0"/>
                <a:ea typeface="Noto Sans KR" pitchFamily="34" charset="-122"/>
                <a:cs typeface="Noto Sans KR" pitchFamily="34" charset="-120"/>
              </a:rPr>
              <a:t>25</a:t>
            </a:r>
            <a:endParaRPr lang="en-US" sz="4400" dirty="0"/>
          </a:p>
        </p:txBody>
      </p:sp>
      <p:sp>
        <p:nvSpPr>
          <p:cNvPr id="11" name="Text 9"/>
          <p:cNvSpPr/>
          <p:nvPr/>
        </p:nvSpPr>
        <p:spPr>
          <a:xfrm>
            <a:off x="61722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품질 검증</a:t>
            </a:r>
            <a:endParaRPr lang="en-US" sz="1500" dirty="0"/>
          </a:p>
        </p:txBody>
      </p:sp>
      <p:sp>
        <p:nvSpPr>
          <p:cNvPr id="12" name="Text 10"/>
          <p:cNvSpPr/>
          <p:nvPr/>
        </p:nvSpPr>
        <p:spPr>
          <a:xfrm>
            <a:off x="61722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검사 · 대조 · 격리</a:t>
            </a:r>
            <a:endParaRPr lang="en-US" sz="1200" dirty="0"/>
          </a:p>
        </p:txBody>
      </p:sp>
      <p:sp>
        <p:nvSpPr>
          <p:cNvPr id="13" name="Text 11"/>
          <p:cNvSpPr/>
          <p:nvPr/>
        </p:nvSpPr>
        <p:spPr>
          <a:xfrm>
            <a:off x="8851900" y="1813520"/>
            <a:ext cx="260311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94E12"/>
                </a:solidFill>
                <a:latin typeface="Noto Sans KR" pitchFamily="34" charset="0"/>
                <a:ea typeface="Noto Sans KR" pitchFamily="34" charset="-122"/>
                <a:cs typeface="Noto Sans KR" pitchFamily="34" charset="-120"/>
              </a:rPr>
              <a:t>15</a:t>
            </a:r>
            <a:endParaRPr lang="en-US" sz="4400" dirty="0"/>
          </a:p>
        </p:txBody>
      </p:sp>
      <p:sp>
        <p:nvSpPr>
          <p:cNvPr id="14" name="Text 12"/>
          <p:cNvSpPr/>
          <p:nvPr/>
        </p:nvSpPr>
        <p:spPr>
          <a:xfrm>
            <a:off x="8851900" y="2478980"/>
            <a:ext cx="2603119"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재현성과 설명</a:t>
            </a:r>
            <a:endParaRPr lang="en-US" sz="1500" dirty="0"/>
          </a:p>
        </p:txBody>
      </p:sp>
      <p:sp>
        <p:nvSpPr>
          <p:cNvPr id="15" name="Text 13"/>
          <p:cNvSpPr/>
          <p:nvPr/>
        </p:nvSpPr>
        <p:spPr>
          <a:xfrm>
            <a:off x="8851900" y="2834580"/>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README · 다시 실행</a:t>
            </a:r>
            <a:endParaRPr lang="en-US" sz="1200" dirty="0"/>
          </a:p>
        </p:txBody>
      </p:sp>
      <p:sp>
        <p:nvSpPr>
          <p:cNvPr id="16" name="Shape 14"/>
          <p:cNvSpPr/>
          <p:nvPr/>
        </p:nvSpPr>
        <p:spPr>
          <a:xfrm>
            <a:off x="812800" y="3301901"/>
            <a:ext cx="4855666" cy="1219101"/>
          </a:xfrm>
          <a:prstGeom prst="roundRect">
            <a:avLst>
              <a:gd name="adj" fmla="val 6251"/>
            </a:avLst>
          </a:prstGeom>
          <a:solidFill>
            <a:srgbClr val="E4ECF7"/>
          </a:solidFill>
          <a:ln/>
        </p:spPr>
        <p:txBody>
          <a:bodyPr/>
          <a:lstStyle/>
          <a:p>
            <a:endParaRPr lang="ko-KR" altLang="en-US"/>
          </a:p>
        </p:txBody>
      </p:sp>
      <p:sp>
        <p:nvSpPr>
          <p:cNvPr id="17" name="Shape 15"/>
          <p:cNvSpPr/>
          <p:nvPr/>
        </p:nvSpPr>
        <p:spPr>
          <a:xfrm>
            <a:off x="812800" y="3301901"/>
            <a:ext cx="4855666" cy="1219101"/>
          </a:xfrm>
          <a:custGeom>
            <a:avLst/>
            <a:gdLst/>
            <a:ahLst/>
            <a:cxnLst/>
            <a:rect l="l" t="t" r="r" b="b"/>
            <a:pathLst>
              <a:path w="4855666"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18" name="Text 16"/>
          <p:cNvSpPr/>
          <p:nvPr/>
        </p:nvSpPr>
        <p:spPr>
          <a:xfrm>
            <a:off x="1092200" y="3479701"/>
            <a:ext cx="447809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개인 계수 0.8 ~ 1.0</a:t>
            </a:r>
            <a:endParaRPr lang="en-US" sz="1300" dirty="0"/>
          </a:p>
        </p:txBody>
      </p:sp>
      <p:sp>
        <p:nvSpPr>
          <p:cNvPr id="19" name="Text 17"/>
          <p:cNvSpPr/>
          <p:nvPr/>
        </p:nvSpPr>
        <p:spPr>
          <a:xfrm>
            <a:off x="1092200" y="3774281"/>
            <a:ext cx="4478096"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10일차 개인 확인에서 딱 하나를 봅니다. </a:t>
            </a:r>
            <a:r>
              <a:rPr lang="en-US" sz="1400" b="1" dirty="0">
                <a:solidFill>
                  <a:srgbClr val="3D4757"/>
                </a:solidFill>
                <a:latin typeface="Noto Sans KR" pitchFamily="34" charset="0"/>
                <a:ea typeface="Noto Sans KR" pitchFamily="34" charset="-122"/>
                <a:cs typeface="Noto Sans KR" pitchFamily="34" charset="-120"/>
              </a:rPr>
              <a:t>본인 코드의 처리 기준을 근거와 함께 설명할 수 있는가.</a:t>
            </a:r>
            <a:endParaRPr lang="en-US" sz="1400" dirty="0"/>
          </a:p>
        </p:txBody>
      </p:sp>
      <p:sp>
        <p:nvSpPr>
          <p:cNvPr id="20" name="Shape 18"/>
          <p:cNvSpPr/>
          <p:nvPr/>
        </p:nvSpPr>
        <p:spPr>
          <a:xfrm>
            <a:off x="5820866" y="3301901"/>
            <a:ext cx="5558334" cy="1219101"/>
          </a:xfrm>
          <a:prstGeom prst="roundRect">
            <a:avLst>
              <a:gd name="adj" fmla="val 6251"/>
            </a:avLst>
          </a:prstGeom>
          <a:solidFill>
            <a:srgbClr val="F8EBDD"/>
          </a:solidFill>
          <a:ln/>
        </p:spPr>
        <p:txBody>
          <a:bodyPr/>
          <a:lstStyle/>
          <a:p>
            <a:endParaRPr lang="ko-KR" altLang="en-US"/>
          </a:p>
        </p:txBody>
      </p:sp>
      <p:sp>
        <p:nvSpPr>
          <p:cNvPr id="21" name="Shape 19"/>
          <p:cNvSpPr/>
          <p:nvPr/>
        </p:nvSpPr>
        <p:spPr>
          <a:xfrm>
            <a:off x="5820866" y="3301901"/>
            <a:ext cx="5558334" cy="1219101"/>
          </a:xfrm>
          <a:custGeom>
            <a:avLst/>
            <a:gdLst/>
            <a:ahLst/>
            <a:cxnLst/>
            <a:rect l="l" t="t" r="r" b="b"/>
            <a:pathLst>
              <a:path w="5558334"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A94E12"/>
          </a:solidFill>
          <a:ln/>
        </p:spPr>
        <p:txBody>
          <a:bodyPr/>
          <a:lstStyle/>
          <a:p>
            <a:endParaRPr lang="ko-KR" altLang="en-US"/>
          </a:p>
        </p:txBody>
      </p:sp>
      <p:sp>
        <p:nvSpPr>
          <p:cNvPr id="22" name="Text 20"/>
          <p:cNvSpPr/>
          <p:nvPr/>
        </p:nvSpPr>
        <p:spPr>
          <a:xfrm>
            <a:off x="6100266" y="3479701"/>
            <a:ext cx="520184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4E12"/>
                </a:solidFill>
                <a:latin typeface="Noto Sans KR" pitchFamily="34" charset="0"/>
                <a:ea typeface="Noto Sans KR" pitchFamily="34" charset="-122"/>
                <a:cs typeface="Noto Sans KR" pitchFamily="34" charset="-120"/>
              </a:rPr>
              <a:t>품질 검증의 최고 기준</a:t>
            </a:r>
            <a:endParaRPr lang="en-US" sz="1300" dirty="0"/>
          </a:p>
        </p:txBody>
      </p:sp>
      <p:sp>
        <p:nvSpPr>
          <p:cNvPr id="23" name="Text 21"/>
          <p:cNvSpPr/>
          <p:nvPr/>
        </p:nvSpPr>
        <p:spPr>
          <a:xfrm>
            <a:off x="6100266" y="3774281"/>
            <a:ext cx="5201844"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오류를 0건으로 만든 것보다, </a:t>
            </a:r>
            <a:r>
              <a:rPr lang="en-US" sz="1400" b="1" dirty="0">
                <a:solidFill>
                  <a:srgbClr val="3D4757"/>
                </a:solidFill>
                <a:latin typeface="Noto Sans KR" pitchFamily="34" charset="0"/>
                <a:ea typeface="Noto Sans KR" pitchFamily="34" charset="-122"/>
                <a:cs typeface="Noto Sans KR" pitchFamily="34" charset="-120"/>
              </a:rPr>
              <a:t>판단할 수 없는 데이터를 지우지 않고 격리하고 근거를 기록한 것</a:t>
            </a:r>
            <a:r>
              <a:rPr lang="en-US" sz="1400" dirty="0">
                <a:solidFill>
                  <a:srgbClr val="3D4757"/>
                </a:solidFill>
                <a:latin typeface="Noto Sans KR" pitchFamily="34" charset="0"/>
                <a:ea typeface="Noto Sans KR" pitchFamily="34" charset="-122"/>
                <a:cs typeface="Noto Sans KR" pitchFamily="34" charset="-120"/>
              </a:rPr>
              <a:t>을 더 높이 봅니다.</a:t>
            </a:r>
            <a:endParaRPr lang="en-US" sz="14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45 / 60</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매일의 약속</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이것만 지키면 막히는 일이 절반으로 줄어듭니다</a:t>
            </a:r>
            <a:endParaRPr lang="en-US" sz="3000" dirty="0"/>
          </a:p>
        </p:txBody>
      </p:sp>
      <p:sp>
        <p:nvSpPr>
          <p:cNvPr id="4" name="Shape 2"/>
          <p:cNvSpPr/>
          <p:nvPr/>
        </p:nvSpPr>
        <p:spPr>
          <a:xfrm>
            <a:off x="815975" y="1816695"/>
            <a:ext cx="52006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487921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1</a:t>
            </a:r>
            <a:endParaRPr lang="en-US" sz="1200" dirty="0"/>
          </a:p>
        </p:txBody>
      </p:sp>
      <p:sp>
        <p:nvSpPr>
          <p:cNvPr id="6" name="Text 4"/>
          <p:cNvSpPr/>
          <p:nvPr/>
        </p:nvSpPr>
        <p:spPr>
          <a:xfrm>
            <a:off x="1047750" y="2350691"/>
            <a:ext cx="4879213"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아침 첫 명령은 check_env.py</a:t>
            </a:r>
            <a:endParaRPr lang="en-US" sz="1800" dirty="0"/>
          </a:p>
        </p:txBody>
      </p:sp>
      <p:sp>
        <p:nvSpPr>
          <p:cNvPr id="7" name="Text 5"/>
          <p:cNvSpPr/>
          <p:nvPr/>
        </p:nvSpPr>
        <p:spPr>
          <a:xfrm>
            <a:off x="1047750" y="2736751"/>
            <a:ext cx="4879213"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내 PC가 어제와 같은 상태인지 매일 확인합니다. 문제는 수업 시작 전에 찾는 게 가장 쌉니다.</a:t>
            </a:r>
            <a:endParaRPr lang="en-US" sz="1300" dirty="0"/>
          </a:p>
        </p:txBody>
      </p:sp>
      <p:sp>
        <p:nvSpPr>
          <p:cNvPr id="8" name="Shape 6"/>
          <p:cNvSpPr/>
          <p:nvPr/>
        </p:nvSpPr>
        <p:spPr>
          <a:xfrm>
            <a:off x="6175375" y="1816695"/>
            <a:ext cx="52006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6407150" y="2048470"/>
            <a:ext cx="487921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2</a:t>
            </a:r>
            <a:endParaRPr lang="en-US" sz="1200" dirty="0"/>
          </a:p>
        </p:txBody>
      </p:sp>
      <p:sp>
        <p:nvSpPr>
          <p:cNvPr id="10" name="Text 8"/>
          <p:cNvSpPr/>
          <p:nvPr/>
        </p:nvSpPr>
        <p:spPr>
          <a:xfrm>
            <a:off x="6407150" y="2350691"/>
            <a:ext cx="4879213"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작업 폴더는 C:\dstd</a:t>
            </a:r>
            <a:endParaRPr lang="en-US" sz="1800" dirty="0"/>
          </a:p>
        </p:txBody>
      </p:sp>
      <p:sp>
        <p:nvSpPr>
          <p:cNvPr id="11" name="Text 9"/>
          <p:cNvSpPr/>
          <p:nvPr/>
        </p:nvSpPr>
        <p:spPr>
          <a:xfrm>
            <a:off x="6407150" y="2736751"/>
            <a:ext cx="4879213"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한글·공백·OneDrive가 없는 짧은 경로입니다. 다른 곳에 두면 경로 문제로 막힙니다.</a:t>
            </a:r>
            <a:endParaRPr lang="en-US" sz="1300" dirty="0"/>
          </a:p>
        </p:txBody>
      </p:sp>
      <p:sp>
        <p:nvSpPr>
          <p:cNvPr id="12" name="Shape 10"/>
          <p:cNvSpPr/>
          <p:nvPr/>
        </p:nvSpPr>
        <p:spPr>
          <a:xfrm>
            <a:off x="815975" y="3757116"/>
            <a:ext cx="52006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1047750" y="3988891"/>
            <a:ext cx="487921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3</a:t>
            </a:r>
            <a:endParaRPr lang="en-US" sz="1200" dirty="0"/>
          </a:p>
        </p:txBody>
      </p:sp>
      <p:sp>
        <p:nvSpPr>
          <p:cNvPr id="14" name="Text 12"/>
          <p:cNvSpPr/>
          <p:nvPr/>
        </p:nvSpPr>
        <p:spPr>
          <a:xfrm>
            <a:off x="1047750" y="4291112"/>
            <a:ext cx="4879213"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코드는 셀 단위로 Shift+Enter</a:t>
            </a:r>
            <a:endParaRPr lang="en-US" sz="1800" dirty="0"/>
          </a:p>
        </p:txBody>
      </p:sp>
      <p:sp>
        <p:nvSpPr>
          <p:cNvPr id="15" name="Text 13"/>
          <p:cNvSpPr/>
          <p:nvPr/>
        </p:nvSpPr>
        <p:spPr>
          <a:xfrm>
            <a:off x="1047750" y="4677172"/>
            <a:ext cx="4879213"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실행 방법을 하나로 고정합니다. 방법이 여러 개면 결과도 여러 개가 됩니다.</a:t>
            </a:r>
            <a:endParaRPr lang="en-US" sz="1300" dirty="0"/>
          </a:p>
        </p:txBody>
      </p:sp>
      <p:sp>
        <p:nvSpPr>
          <p:cNvPr id="16" name="Shape 14"/>
          <p:cNvSpPr/>
          <p:nvPr/>
        </p:nvSpPr>
        <p:spPr>
          <a:xfrm>
            <a:off x="6175375" y="3757116"/>
            <a:ext cx="52006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17" name="Text 15"/>
          <p:cNvSpPr/>
          <p:nvPr/>
        </p:nvSpPr>
        <p:spPr>
          <a:xfrm>
            <a:off x="6407150" y="3988891"/>
            <a:ext cx="487921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4</a:t>
            </a:r>
            <a:endParaRPr lang="en-US" sz="1200" dirty="0"/>
          </a:p>
        </p:txBody>
      </p:sp>
      <p:sp>
        <p:nvSpPr>
          <p:cNvPr id="18" name="Text 16"/>
          <p:cNvSpPr/>
          <p:nvPr/>
        </p:nvSpPr>
        <p:spPr>
          <a:xfrm>
            <a:off x="6407150" y="4291112"/>
            <a:ext cx="4879213"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에러는 맨 윗줄과 맨 아랫줄부터</a:t>
            </a:r>
            <a:endParaRPr lang="en-US" sz="1800" dirty="0"/>
          </a:p>
        </p:txBody>
      </p:sp>
      <p:sp>
        <p:nvSpPr>
          <p:cNvPr id="19" name="Text 17"/>
          <p:cNvSpPr/>
          <p:nvPr/>
        </p:nvSpPr>
        <p:spPr>
          <a:xfrm>
            <a:off x="6407150" y="4677172"/>
            <a:ext cx="4879213"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긴 에러 메시지에 겁먹지 말고, 무슨 종류의 에러인지 적힌 줄을 먼저 읽습니다.</a:t>
            </a:r>
            <a:endParaRPr lang="en-US" sz="13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46 / 60</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23216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Noto Sans KR" pitchFamily="34" charset="0"/>
                <a:ea typeface="Noto Sans KR" pitchFamily="34" charset="-122"/>
                <a:cs typeface="Noto Sans KR" pitchFamily="34" charset="-120"/>
              </a:rPr>
              <a:t>PART 5</a:t>
            </a:r>
            <a:endParaRPr lang="en-US" sz="1200" dirty="0"/>
          </a:p>
        </p:txBody>
      </p:sp>
      <p:sp>
        <p:nvSpPr>
          <p:cNvPr id="3" name="Text 1"/>
          <p:cNvSpPr/>
          <p:nvPr/>
        </p:nvSpPr>
        <p:spPr>
          <a:xfrm>
            <a:off x="812800" y="2738140"/>
            <a:ext cx="10883392" cy="726380"/>
          </a:xfrm>
          <a:prstGeom prst="rect">
            <a:avLst/>
          </a:prstGeom>
          <a:noFill/>
          <a:ln/>
        </p:spPr>
        <p:txBody>
          <a:bodyPr wrap="square" lIns="0" tIns="0" rIns="0" bIns="0" rtlCol="0" anchor="t">
            <a:normAutofit/>
          </a:bodyPr>
          <a:lstStyle/>
          <a:p>
            <a:pPr marL="0" indent="0" algn="l">
              <a:lnSpc>
                <a:spcPts val="5520"/>
              </a:lnSpc>
              <a:buNone/>
            </a:pPr>
            <a:r>
              <a:rPr lang="en-US" sz="4800" b="1" dirty="0">
                <a:solidFill>
                  <a:srgbClr val="F6F4EF"/>
                </a:solidFill>
                <a:latin typeface="Noto Sans KR" pitchFamily="34" charset="0"/>
                <a:ea typeface="Noto Sans KR" pitchFamily="34" charset="-122"/>
                <a:cs typeface="Noto Sans KR" pitchFamily="34" charset="-120"/>
              </a:rPr>
              <a:t>이 공부는 어떤 일로 이어질까?</a:t>
            </a:r>
            <a:endParaRPr lang="en-US" sz="4800" dirty="0"/>
          </a:p>
        </p:txBody>
      </p:sp>
      <p:sp>
        <p:nvSpPr>
          <p:cNvPr id="4" name="Text 2"/>
          <p:cNvSpPr/>
          <p:nvPr/>
        </p:nvSpPr>
        <p:spPr>
          <a:xfrm>
            <a:off x="812800" y="3642320"/>
            <a:ext cx="10883392" cy="716161"/>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데이터를 믿을 수 있게 만드는 사람은 어느 회사에나 필요합니다.</a:t>
            </a:r>
            <a:endParaRPr lang="en-US" sz="1700" dirty="0"/>
          </a:p>
          <a:p>
            <a:pPr marL="0" indent="0" algn="l">
              <a:lnSpc>
                <a:spcPts val="2720"/>
              </a:lnSpc>
              <a:buNone/>
            </a:pPr>
            <a:r>
              <a:rPr lang="en-US" sz="1700" dirty="0">
                <a:solidFill>
                  <a:srgbClr val="C9D3E0"/>
                </a:solidFill>
                <a:latin typeface="Noto Sans KR" pitchFamily="34" charset="0"/>
                <a:ea typeface="Noto Sans KR" pitchFamily="34" charset="-122"/>
                <a:cs typeface="Noto Sans KR" pitchFamily="34" charset="-120"/>
              </a:rPr>
              <a:t>직무 · 공공 분야 · 자격증 · 포트폴리오 · 면접 순서로 봅니다.</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Noto Sans KR" pitchFamily="34" charset="0"/>
                <a:ea typeface="Noto Sans KR" pitchFamily="34" charset="-122"/>
                <a:cs typeface="Noto Sans KR" pitchFamily="34" charset="-120"/>
              </a:rPr>
              <a:t>47 / 60</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현장의 현실</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AI 모델보다 데이터 준비에서 먼저 막힙니다</a:t>
            </a:r>
            <a:endParaRPr lang="en-US" sz="3000" dirty="0"/>
          </a:p>
        </p:txBody>
      </p:sp>
      <p:sp>
        <p:nvSpPr>
          <p:cNvPr id="4" name="Text 2"/>
          <p:cNvSpPr/>
          <p:nvPr/>
        </p:nvSpPr>
        <p:spPr>
          <a:xfrm>
            <a:off x="812800" y="1813520"/>
            <a:ext cx="5258562"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AI 프로젝트가 멈추는 곳</a:t>
            </a:r>
            <a:endParaRPr lang="en-US" sz="1500" dirty="0"/>
          </a:p>
        </p:txBody>
      </p:sp>
      <p:sp>
        <p:nvSpPr>
          <p:cNvPr id="5" name="Text 3"/>
          <p:cNvSpPr/>
          <p:nvPr/>
        </p:nvSpPr>
        <p:spPr>
          <a:xfrm>
            <a:off x="812800" y="2232620"/>
            <a:ext cx="5258562" cy="87878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회사에 데이터가 없는 경우는 드뭅니다. 대부분은 데이터가 </a:t>
            </a:r>
            <a:r>
              <a:rPr lang="en-US" sz="1400" b="1" dirty="0">
                <a:solidFill>
                  <a:srgbClr val="3D4757"/>
                </a:solidFill>
                <a:latin typeface="Noto Sans KR" pitchFamily="34" charset="0"/>
                <a:ea typeface="Noto Sans KR" pitchFamily="34" charset="-122"/>
                <a:cs typeface="Noto Sans KR" pitchFamily="34" charset="-120"/>
              </a:rPr>
              <a:t>여러 시스템에 흩어져 있고, 이름과 코드가 제각각이고, 믿을 수 있는지 아무도 모르는</a:t>
            </a:r>
            <a:r>
              <a:rPr lang="en-US" sz="1400" dirty="0">
                <a:solidFill>
                  <a:srgbClr val="3D4757"/>
                </a:solidFill>
                <a:latin typeface="Noto Sans KR" pitchFamily="34" charset="0"/>
                <a:ea typeface="Noto Sans KR" pitchFamily="34" charset="-122"/>
                <a:cs typeface="Noto Sans KR" pitchFamily="34" charset="-120"/>
              </a:rPr>
              <a:t> 상태에서 멈춥니다.</a:t>
            </a:r>
            <a:endParaRPr lang="en-US" sz="1400" dirty="0"/>
          </a:p>
        </p:txBody>
      </p:sp>
      <p:sp>
        <p:nvSpPr>
          <p:cNvPr id="6" name="Text 4"/>
          <p:cNvSpPr/>
          <p:nvPr/>
        </p:nvSpPr>
        <p:spPr>
          <a:xfrm>
            <a:off x="812800" y="3200301"/>
            <a:ext cx="5258562" cy="3098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오늘 본 한빛유통의 네 장면은 현장에서 매일 만나는 장면입니다.</a:t>
            </a:r>
            <a:endParaRPr lang="en-US" sz="1400" dirty="0"/>
          </a:p>
        </p:txBody>
      </p:sp>
      <p:sp>
        <p:nvSpPr>
          <p:cNvPr id="7" name="Text 5"/>
          <p:cNvSpPr/>
          <p:nvPr/>
        </p:nvSpPr>
        <p:spPr>
          <a:xfrm>
            <a:off x="6273800" y="1813520"/>
            <a:ext cx="5258562" cy="330200"/>
          </a:xfrm>
          <a:prstGeom prst="rect">
            <a:avLst/>
          </a:prstGeom>
          <a:noFill/>
          <a:ln/>
        </p:spPr>
        <p:txBody>
          <a:bodyPr wrap="square" lIns="0" tIns="0" rIns="0" bIns="0" rtlCol="0" anchor="t">
            <a:normAutofit/>
          </a:bodyPr>
          <a:lstStyle/>
          <a:p>
            <a:pPr marL="0" indent="0" algn="l">
              <a:lnSpc>
                <a:spcPts val="2400"/>
              </a:lnSpc>
              <a:buNone/>
            </a:pPr>
            <a:r>
              <a:rPr lang="en-US" sz="1500" b="1" dirty="0">
                <a:solidFill>
                  <a:srgbClr val="1B2A44"/>
                </a:solidFill>
                <a:latin typeface="Noto Sans KR" pitchFamily="34" charset="0"/>
                <a:ea typeface="Noto Sans KR" pitchFamily="34" charset="-122"/>
                <a:cs typeface="Noto Sans KR" pitchFamily="34" charset="-120"/>
              </a:rPr>
              <a:t>그래서 필요한 사람</a:t>
            </a:r>
            <a:endParaRPr lang="en-US" sz="1500" dirty="0"/>
          </a:p>
        </p:txBody>
      </p:sp>
      <p:sp>
        <p:nvSpPr>
          <p:cNvPr id="8" name="Text 6"/>
          <p:cNvSpPr/>
          <p:nvPr/>
        </p:nvSpPr>
        <p:spPr>
          <a:xfrm>
            <a:off x="6273800" y="2232620"/>
            <a:ext cx="5258562" cy="1397000"/>
          </a:xfrm>
          <a:prstGeom prst="rect">
            <a:avLst/>
          </a:prstGeom>
          <a:noFill/>
          <a:ln/>
        </p:spPr>
        <p:txBody>
          <a:bodyPr wrap="square" lIns="0" tIns="0" rIns="0" bIns="0" rtlCol="0" anchor="t">
            <a:normAutofit/>
          </a:bodyPr>
          <a:lstStyle/>
          <a:p>
            <a:pPr marL="0" indent="0" algn="l">
              <a:lnSpc>
                <a:spcPts val="2700"/>
              </a:lnSpc>
              <a:buNone/>
            </a:pPr>
            <a:r>
              <a:rPr lang="en-US" sz="1500" dirty="0">
                <a:solidFill>
                  <a:srgbClr val="3D4757"/>
                </a:solidFill>
                <a:latin typeface="Noto Sans KR" pitchFamily="34" charset="0"/>
                <a:ea typeface="Noto Sans KR" pitchFamily="34" charset="-122"/>
                <a:cs typeface="Noto Sans KR" pitchFamily="34" charset="-120"/>
              </a:rPr>
              <a:t>• 흩어진 데이터를 하나의 약속으로 묶는 사람</a:t>
            </a:r>
            <a:endParaRPr lang="en-US" sz="1500" dirty="0"/>
          </a:p>
          <a:p>
            <a:pPr marL="0" indent="0" algn="l">
              <a:lnSpc>
                <a:spcPts val="2700"/>
              </a:lnSpc>
              <a:buNone/>
            </a:pPr>
            <a:r>
              <a:rPr lang="en-US" sz="1500" dirty="0">
                <a:solidFill>
                  <a:srgbClr val="3D4757"/>
                </a:solidFill>
                <a:latin typeface="Noto Sans KR" pitchFamily="34" charset="0"/>
                <a:ea typeface="Noto Sans KR" pitchFamily="34" charset="-122"/>
                <a:cs typeface="Noto Sans KR" pitchFamily="34" charset="-120"/>
              </a:rPr>
              <a:t>• 무엇이 틀렸는지 숫자로 보여 주는 사람</a:t>
            </a:r>
            <a:endParaRPr lang="en-US" sz="1500" dirty="0"/>
          </a:p>
          <a:p>
            <a:pPr marL="0" indent="0" algn="l">
              <a:lnSpc>
                <a:spcPts val="2700"/>
              </a:lnSpc>
              <a:buNone/>
            </a:pPr>
            <a:r>
              <a:rPr lang="en-US" sz="1500" dirty="0">
                <a:solidFill>
                  <a:srgbClr val="3D4757"/>
                </a:solidFill>
                <a:latin typeface="Noto Sans KR" pitchFamily="34" charset="0"/>
                <a:ea typeface="Noto Sans KR" pitchFamily="34" charset="-122"/>
                <a:cs typeface="Noto Sans KR" pitchFamily="34" charset="-120"/>
              </a:rPr>
              <a:t>• 판단 근거를 문서로 남기는 사람</a:t>
            </a:r>
            <a:endParaRPr lang="en-US" sz="1500" dirty="0"/>
          </a:p>
          <a:p>
            <a:pPr marL="0" indent="0" algn="l">
              <a:lnSpc>
                <a:spcPts val="2700"/>
              </a:lnSpc>
              <a:buNone/>
            </a:pPr>
            <a:r>
              <a:rPr lang="en-US" sz="1500" dirty="0">
                <a:solidFill>
                  <a:srgbClr val="3D4757"/>
                </a:solidFill>
                <a:latin typeface="Noto Sans KR" pitchFamily="34" charset="0"/>
                <a:ea typeface="Noto Sans KR" pitchFamily="34" charset="-122"/>
                <a:cs typeface="Noto Sans KR" pitchFamily="34" charset="-120"/>
              </a:rPr>
              <a:t>• 누가 돌려도 같은 결과가 나오게 만드는 사람</a:t>
            </a:r>
            <a:endParaRPr lang="en-US" sz="1500" dirty="0"/>
          </a:p>
        </p:txBody>
      </p:sp>
      <p:sp>
        <p:nvSpPr>
          <p:cNvPr id="9" name="Shape 7"/>
          <p:cNvSpPr/>
          <p:nvPr/>
        </p:nvSpPr>
        <p:spPr>
          <a:xfrm>
            <a:off x="812800" y="3858220"/>
            <a:ext cx="10566400" cy="1219101"/>
          </a:xfrm>
          <a:prstGeom prst="roundRect">
            <a:avLst>
              <a:gd name="adj" fmla="val 6251"/>
            </a:avLst>
          </a:prstGeom>
          <a:solidFill>
            <a:srgbClr val="E4ECF7"/>
          </a:solidFill>
          <a:ln/>
        </p:spPr>
        <p:txBody>
          <a:bodyPr/>
          <a:lstStyle/>
          <a:p>
            <a:endParaRPr lang="ko-KR" altLang="en-US"/>
          </a:p>
        </p:txBody>
      </p:sp>
      <p:sp>
        <p:nvSpPr>
          <p:cNvPr id="10" name="Shape 8"/>
          <p:cNvSpPr/>
          <p:nvPr/>
        </p:nvSpPr>
        <p:spPr>
          <a:xfrm>
            <a:off x="812800" y="3858220"/>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11" name="Text 9"/>
          <p:cNvSpPr/>
          <p:nvPr/>
        </p:nvSpPr>
        <p:spPr>
          <a:xfrm>
            <a:off x="1092200" y="4036020"/>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기억할 점</a:t>
            </a:r>
            <a:endParaRPr lang="en-US" sz="1300" dirty="0"/>
          </a:p>
        </p:txBody>
      </p:sp>
      <p:sp>
        <p:nvSpPr>
          <p:cNvPr id="12" name="Text 10"/>
          <p:cNvSpPr/>
          <p:nvPr/>
        </p:nvSpPr>
        <p:spPr>
          <a:xfrm>
            <a:off x="1092200" y="4330601"/>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모델을 만드는 기술은 도구가 빠르게 대신해 주고 있습니다. 하지만 </a:t>
            </a:r>
            <a:r>
              <a:rPr lang="en-US" sz="1400" b="1" dirty="0">
                <a:solidFill>
                  <a:srgbClr val="3D4757"/>
                </a:solidFill>
                <a:latin typeface="Noto Sans KR" pitchFamily="34" charset="0"/>
                <a:ea typeface="Noto Sans KR" pitchFamily="34" charset="-122"/>
                <a:cs typeface="Noto Sans KR" pitchFamily="34" charset="-120"/>
              </a:rPr>
              <a:t>'이 데이터를 믿어도 되는가'를 판단하고 설명하는 일</a:t>
            </a:r>
            <a:r>
              <a:rPr lang="en-US" sz="1400" dirty="0">
                <a:solidFill>
                  <a:srgbClr val="3D4757"/>
                </a:solidFill>
                <a:latin typeface="Noto Sans KR" pitchFamily="34" charset="0"/>
                <a:ea typeface="Noto Sans KR" pitchFamily="34" charset="-122"/>
                <a:cs typeface="Noto Sans KR" pitchFamily="34" charset="-120"/>
              </a:rPr>
              <a:t>은 사람의 몫으로 남습니다.</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48 / 60</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연결되는 직무 ①</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데이터를 설계하고 흐르게 하는 사람들</a:t>
            </a:r>
            <a:endParaRPr lang="en-US" sz="3000" dirty="0"/>
          </a:p>
        </p:txBody>
      </p:sp>
      <p:sp>
        <p:nvSpPr>
          <p:cNvPr id="4" name="Shape 2"/>
          <p:cNvSpPr/>
          <p:nvPr/>
        </p:nvSpPr>
        <p:spPr>
          <a:xfrm>
            <a:off x="815975" y="1816695"/>
            <a:ext cx="3397250" cy="2472432"/>
          </a:xfrm>
          <a:prstGeom prst="roundRect">
            <a:avLst>
              <a:gd name="adj" fmla="val 3981"/>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데이터 엔지니어</a:t>
            </a:r>
            <a:endParaRPr lang="en-US" sz="1200" dirty="0"/>
          </a:p>
        </p:txBody>
      </p:sp>
      <p:sp>
        <p:nvSpPr>
          <p:cNvPr id="6" name="Text 4"/>
          <p:cNvSpPr/>
          <p:nvPr/>
        </p:nvSpPr>
        <p:spPr>
          <a:xfrm>
            <a:off x="10477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데이터가 흐르는 길을 만든다</a:t>
            </a:r>
            <a:endParaRPr lang="en-US" sz="1800" dirty="0"/>
          </a:p>
        </p:txBody>
      </p:sp>
      <p:sp>
        <p:nvSpPr>
          <p:cNvPr id="7" name="Text 5"/>
          <p:cNvSpPr/>
          <p:nvPr/>
        </p:nvSpPr>
        <p:spPr>
          <a:xfrm>
            <a:off x="1047750" y="2736751"/>
            <a:ext cx="3021711" cy="134600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여러 원천에서 데이터를 모아 정제하고 저장하는 파이프라인을 만듭니다.</a:t>
            </a:r>
            <a:endParaRPr lang="en-US" sz="1300" dirty="0"/>
          </a:p>
          <a:p>
            <a:pPr marL="0" indent="0" algn="l">
              <a:lnSpc>
                <a:spcPts val="2080"/>
              </a:lnSpc>
              <a:buNone/>
            </a:pPr>
            <a:endParaRPr lang="en-US" sz="1300" dirty="0"/>
          </a:p>
          <a:p>
            <a:pPr marL="0" indent="0" algn="l">
              <a:lnSpc>
                <a:spcPts val="2080"/>
              </a:lnSpc>
              <a:buNone/>
            </a:pPr>
            <a:r>
              <a:rPr lang="en-US" sz="1300" b="1" dirty="0">
                <a:solidFill>
                  <a:srgbClr val="3D4757"/>
                </a:solidFill>
                <a:latin typeface="Noto Sans KR" pitchFamily="34" charset="0"/>
                <a:ea typeface="Noto Sans KR" pitchFamily="34" charset="-122"/>
                <a:cs typeface="Noto Sans KR" pitchFamily="34" charset="-120"/>
              </a:rPr>
              <a:t>이 과목에서</a:t>
            </a:r>
            <a:r>
              <a:rPr lang="en-US" sz="1300" dirty="0">
                <a:solidFill>
                  <a:srgbClr val="3D4757"/>
                </a:solidFill>
                <a:latin typeface="Noto Sans KR" pitchFamily="34" charset="0"/>
                <a:ea typeface="Noto Sans KR" pitchFamily="34" charset="-122"/>
                <a:cs typeface="Noto Sans KR" pitchFamily="34" charset="-120"/>
              </a:rPr>
              <a:t> → etl.py · 적재 · 멱등성 · 자동 검증</a:t>
            </a:r>
            <a:endParaRPr lang="en-US" sz="1300" dirty="0"/>
          </a:p>
        </p:txBody>
      </p:sp>
      <p:sp>
        <p:nvSpPr>
          <p:cNvPr id="8" name="Shape 6"/>
          <p:cNvSpPr/>
          <p:nvPr/>
        </p:nvSpPr>
        <p:spPr>
          <a:xfrm>
            <a:off x="4397375" y="1816695"/>
            <a:ext cx="3397250" cy="2472432"/>
          </a:xfrm>
          <a:prstGeom prst="roundRect">
            <a:avLst>
              <a:gd name="adj" fmla="val 3981"/>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데이터 아키텍트 · 모델러</a:t>
            </a:r>
            <a:endParaRPr lang="en-US" sz="1200" dirty="0"/>
          </a:p>
        </p:txBody>
      </p:sp>
      <p:sp>
        <p:nvSpPr>
          <p:cNvPr id="10" name="Text 8"/>
          <p:cNvSpPr/>
          <p:nvPr/>
        </p:nvSpPr>
        <p:spPr>
          <a:xfrm>
            <a:off x="46291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데이터의 설계도를 그린다</a:t>
            </a:r>
            <a:endParaRPr lang="en-US" sz="1800" dirty="0"/>
          </a:p>
        </p:txBody>
      </p:sp>
      <p:sp>
        <p:nvSpPr>
          <p:cNvPr id="11" name="Text 9"/>
          <p:cNvSpPr/>
          <p:nvPr/>
        </p:nvSpPr>
        <p:spPr>
          <a:xfrm>
            <a:off x="4629150" y="2736751"/>
            <a:ext cx="3021711" cy="134600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표준을 정하고 엔터티와 관계를 설계합니다. 표준 사전과 ERD가 주 산출물입니다.</a:t>
            </a:r>
            <a:endParaRPr lang="en-US" sz="1300" dirty="0"/>
          </a:p>
          <a:p>
            <a:pPr marL="0" indent="0" algn="l">
              <a:lnSpc>
                <a:spcPts val="2080"/>
              </a:lnSpc>
              <a:buNone/>
            </a:pPr>
            <a:endParaRPr lang="en-US" sz="1300" dirty="0"/>
          </a:p>
          <a:p>
            <a:pPr marL="0" indent="0" algn="l">
              <a:lnSpc>
                <a:spcPts val="2080"/>
              </a:lnSpc>
              <a:buNone/>
            </a:pPr>
            <a:r>
              <a:rPr lang="en-US" sz="1300" b="1" dirty="0">
                <a:solidFill>
                  <a:srgbClr val="3D4757"/>
                </a:solidFill>
                <a:latin typeface="Noto Sans KR" pitchFamily="34" charset="0"/>
                <a:ea typeface="Noto Sans KR" pitchFamily="34" charset="-122"/>
                <a:cs typeface="Noto Sans KR" pitchFamily="34" charset="-120"/>
              </a:rPr>
              <a:t>이 과목에서</a:t>
            </a:r>
            <a:r>
              <a:rPr lang="en-US" sz="1300" dirty="0">
                <a:solidFill>
                  <a:srgbClr val="3D4757"/>
                </a:solidFill>
                <a:latin typeface="Noto Sans KR" pitchFamily="34" charset="0"/>
                <a:ea typeface="Noto Sans KR" pitchFamily="34" charset="-122"/>
                <a:cs typeface="Noto Sans KR" pitchFamily="34" charset="-120"/>
              </a:rPr>
              <a:t> → 표준 사전 · AS-IS/TO-BE 모델</a:t>
            </a:r>
            <a:endParaRPr lang="en-US" sz="1300" dirty="0"/>
          </a:p>
        </p:txBody>
      </p:sp>
      <p:sp>
        <p:nvSpPr>
          <p:cNvPr id="12" name="Shape 10"/>
          <p:cNvSpPr/>
          <p:nvPr/>
        </p:nvSpPr>
        <p:spPr>
          <a:xfrm>
            <a:off x="7978775" y="1816695"/>
            <a:ext cx="3397250" cy="2472432"/>
          </a:xfrm>
          <a:prstGeom prst="roundRect">
            <a:avLst>
              <a:gd name="adj" fmla="val 3981"/>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DBA · DB 엔지니어</a:t>
            </a:r>
            <a:endParaRPr lang="en-US" sz="1200" dirty="0"/>
          </a:p>
        </p:txBody>
      </p:sp>
      <p:sp>
        <p:nvSpPr>
          <p:cNvPr id="14" name="Text 12"/>
          <p:cNvSpPr/>
          <p:nvPr/>
        </p:nvSpPr>
        <p:spPr>
          <a:xfrm>
            <a:off x="82105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데이터베이스를 지킨다</a:t>
            </a:r>
            <a:endParaRPr lang="en-US" sz="1800" dirty="0"/>
          </a:p>
        </p:txBody>
      </p:sp>
      <p:sp>
        <p:nvSpPr>
          <p:cNvPr id="15" name="Text 13"/>
          <p:cNvSpPr/>
          <p:nvPr/>
        </p:nvSpPr>
        <p:spPr>
          <a:xfrm>
            <a:off x="8210550" y="2736751"/>
            <a:ext cx="3021711" cy="134600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테이블·제약·인덱스를 만들고 성능과 무결성을 관리합니다.</a:t>
            </a:r>
            <a:endParaRPr lang="en-US" sz="1300" dirty="0"/>
          </a:p>
          <a:p>
            <a:pPr marL="0" indent="0" algn="l">
              <a:lnSpc>
                <a:spcPts val="2080"/>
              </a:lnSpc>
              <a:buNone/>
            </a:pPr>
            <a:endParaRPr lang="en-US" sz="1300" dirty="0"/>
          </a:p>
          <a:p>
            <a:pPr marL="0" indent="0" algn="l">
              <a:lnSpc>
                <a:spcPts val="2080"/>
              </a:lnSpc>
              <a:buNone/>
            </a:pPr>
            <a:r>
              <a:rPr lang="en-US" sz="1300" b="1" dirty="0">
                <a:solidFill>
                  <a:srgbClr val="3D4757"/>
                </a:solidFill>
                <a:latin typeface="Noto Sans KR" pitchFamily="34" charset="0"/>
                <a:ea typeface="Noto Sans KR" pitchFamily="34" charset="-122"/>
                <a:cs typeface="Noto Sans KR" pitchFamily="34" charset="-120"/>
              </a:rPr>
              <a:t>이 과목에서</a:t>
            </a:r>
            <a:r>
              <a:rPr lang="en-US" sz="1300" dirty="0">
                <a:solidFill>
                  <a:srgbClr val="3D4757"/>
                </a:solidFill>
                <a:latin typeface="Noto Sans KR" pitchFamily="34" charset="0"/>
                <a:ea typeface="Noto Sans KR" pitchFamily="34" charset="-122"/>
                <a:cs typeface="Noto Sans KR" pitchFamily="34" charset="-120"/>
              </a:rPr>
              <a:t> → ddl.sql · PK/FK · 제약 · 카탈로그 대조</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49 / 60</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연결되는 직무 ②</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데이터를 관리하고 활용하는 사람들</a:t>
            </a:r>
            <a:endParaRPr lang="en-US" sz="3000" dirty="0"/>
          </a:p>
        </p:txBody>
      </p:sp>
      <p:sp>
        <p:nvSpPr>
          <p:cNvPr id="4" name="Shape 2"/>
          <p:cNvSpPr/>
          <p:nvPr/>
        </p:nvSpPr>
        <p:spPr>
          <a:xfrm>
            <a:off x="815975" y="1816695"/>
            <a:ext cx="3397250" cy="2769592"/>
          </a:xfrm>
          <a:prstGeom prst="roundRect">
            <a:avLst>
              <a:gd name="adj" fmla="val 3554"/>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데이터 품질 · 거버넌스</a:t>
            </a:r>
            <a:endParaRPr lang="en-US" sz="1200" dirty="0"/>
          </a:p>
        </p:txBody>
      </p:sp>
      <p:sp>
        <p:nvSpPr>
          <p:cNvPr id="6" name="Text 4"/>
          <p:cNvSpPr/>
          <p:nvPr/>
        </p:nvSpPr>
        <p:spPr>
          <a:xfrm>
            <a:off x="10477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데이터의 약속을 관리한다</a:t>
            </a:r>
            <a:endParaRPr lang="en-US" sz="1800" dirty="0"/>
          </a:p>
        </p:txBody>
      </p:sp>
      <p:sp>
        <p:nvSpPr>
          <p:cNvPr id="7" name="Text 5"/>
          <p:cNvSpPr/>
          <p:nvPr/>
        </p:nvSpPr>
        <p:spPr>
          <a:xfrm>
            <a:off x="1047750" y="2736751"/>
            <a:ext cx="3021711" cy="134600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표준과 품질 기준을 정하고, 지켜지는지 점검하고, 메타데이터를 관리합니다.</a:t>
            </a:r>
            <a:endParaRPr lang="en-US" sz="1300" dirty="0"/>
          </a:p>
          <a:p>
            <a:pPr marL="0" indent="0" algn="l">
              <a:lnSpc>
                <a:spcPts val="2080"/>
              </a:lnSpc>
              <a:buNone/>
            </a:pPr>
            <a:endParaRPr lang="en-US" sz="1300" dirty="0"/>
          </a:p>
          <a:p>
            <a:pPr marL="0" indent="0" algn="l">
              <a:lnSpc>
                <a:spcPts val="2080"/>
              </a:lnSpc>
              <a:buNone/>
            </a:pPr>
            <a:r>
              <a:rPr lang="en-US" sz="1300" b="1" dirty="0">
                <a:solidFill>
                  <a:srgbClr val="3D4757"/>
                </a:solidFill>
                <a:latin typeface="Noto Sans KR" pitchFamily="34" charset="0"/>
                <a:ea typeface="Noto Sans KR" pitchFamily="34" charset="-122"/>
                <a:cs typeface="Noto Sans KR" pitchFamily="34" charset="-120"/>
              </a:rPr>
              <a:t>이 과목에서</a:t>
            </a:r>
            <a:r>
              <a:rPr lang="en-US" sz="1300" dirty="0">
                <a:solidFill>
                  <a:srgbClr val="3D4757"/>
                </a:solidFill>
                <a:latin typeface="Noto Sans KR" pitchFamily="34" charset="0"/>
                <a:ea typeface="Noto Sans KR" pitchFamily="34" charset="-122"/>
                <a:cs typeface="Noto Sans KR" pitchFamily="34" charset="-120"/>
              </a:rPr>
              <a:t> → 품질 6기준 · 품질보고서 · 검사 프로그램</a:t>
            </a:r>
            <a:endParaRPr lang="en-US" sz="1300" dirty="0"/>
          </a:p>
        </p:txBody>
      </p:sp>
      <p:sp>
        <p:nvSpPr>
          <p:cNvPr id="8" name="Shape 6"/>
          <p:cNvSpPr/>
          <p:nvPr/>
        </p:nvSpPr>
        <p:spPr>
          <a:xfrm>
            <a:off x="4397375" y="1816695"/>
            <a:ext cx="3397250" cy="2769592"/>
          </a:xfrm>
          <a:prstGeom prst="roundRect">
            <a:avLst>
              <a:gd name="adj" fmla="val 3554"/>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데이터 분석가 · AI 엔지니어</a:t>
            </a:r>
            <a:endParaRPr lang="en-US" sz="1200" dirty="0"/>
          </a:p>
        </p:txBody>
      </p:sp>
      <p:sp>
        <p:nvSpPr>
          <p:cNvPr id="10" name="Text 8"/>
          <p:cNvSpPr/>
          <p:nvPr/>
        </p:nvSpPr>
        <p:spPr>
          <a:xfrm>
            <a:off x="4629150" y="2350691"/>
            <a:ext cx="3021711"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믿을 수 있는 데이터로 답을 찾는다</a:t>
            </a:r>
            <a:endParaRPr lang="en-US" sz="1800" dirty="0"/>
          </a:p>
        </p:txBody>
      </p:sp>
      <p:sp>
        <p:nvSpPr>
          <p:cNvPr id="11" name="Text 9"/>
          <p:cNvSpPr/>
          <p:nvPr/>
        </p:nvSpPr>
        <p:spPr>
          <a:xfrm>
            <a:off x="4629150" y="3033911"/>
            <a:ext cx="3021711" cy="134600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분석과 모델링에 앞서 데이터를 점검하고, 누수 없는 학습 데이터를 만듭니다.</a:t>
            </a:r>
            <a:endParaRPr lang="en-US" sz="1300" dirty="0"/>
          </a:p>
          <a:p>
            <a:pPr marL="0" indent="0" algn="l">
              <a:lnSpc>
                <a:spcPts val="2080"/>
              </a:lnSpc>
              <a:buNone/>
            </a:pPr>
            <a:endParaRPr lang="en-US" sz="1300" dirty="0"/>
          </a:p>
          <a:p>
            <a:pPr marL="0" indent="0" algn="l">
              <a:lnSpc>
                <a:spcPts val="2080"/>
              </a:lnSpc>
              <a:buNone/>
            </a:pPr>
            <a:r>
              <a:rPr lang="en-US" sz="1300" b="1" dirty="0">
                <a:solidFill>
                  <a:srgbClr val="3D4757"/>
                </a:solidFill>
                <a:latin typeface="Noto Sans KR" pitchFamily="34" charset="0"/>
                <a:ea typeface="Noto Sans KR" pitchFamily="34" charset="-122"/>
                <a:cs typeface="Noto Sans KR" pitchFamily="34" charset="-120"/>
              </a:rPr>
              <a:t>이 과목에서</a:t>
            </a:r>
            <a:r>
              <a:rPr lang="en-US" sz="1300" dirty="0">
                <a:solidFill>
                  <a:srgbClr val="3D4757"/>
                </a:solidFill>
                <a:latin typeface="Noto Sans KR" pitchFamily="34" charset="0"/>
                <a:ea typeface="Noto Sans KR" pitchFamily="34" charset="-122"/>
                <a:cs typeface="Noto Sans KR" pitchFamily="34" charset="-120"/>
              </a:rPr>
              <a:t> → grain · 누수 · customer_features</a:t>
            </a:r>
            <a:endParaRPr lang="en-US" sz="1300" dirty="0"/>
          </a:p>
        </p:txBody>
      </p:sp>
      <p:sp>
        <p:nvSpPr>
          <p:cNvPr id="12" name="Shape 10"/>
          <p:cNvSpPr/>
          <p:nvPr/>
        </p:nvSpPr>
        <p:spPr>
          <a:xfrm>
            <a:off x="7978775" y="1816695"/>
            <a:ext cx="3397250" cy="2769592"/>
          </a:xfrm>
          <a:prstGeom prst="roundRect">
            <a:avLst>
              <a:gd name="adj" fmla="val 3554"/>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공공 · SI 데이터 구축</a:t>
            </a:r>
            <a:endParaRPr lang="en-US" sz="1200" dirty="0"/>
          </a:p>
        </p:txBody>
      </p:sp>
      <p:sp>
        <p:nvSpPr>
          <p:cNvPr id="14" name="Text 12"/>
          <p:cNvSpPr/>
          <p:nvPr/>
        </p:nvSpPr>
        <p:spPr>
          <a:xfrm>
            <a:off x="82105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기관의 데이터를 표준에 맞춘다</a:t>
            </a:r>
            <a:endParaRPr lang="en-US" sz="1800" dirty="0"/>
          </a:p>
        </p:txBody>
      </p:sp>
      <p:sp>
        <p:nvSpPr>
          <p:cNvPr id="15" name="Text 13"/>
          <p:cNvSpPr/>
          <p:nvPr/>
        </p:nvSpPr>
        <p:spPr>
          <a:xfrm>
            <a:off x="8210550" y="2736751"/>
            <a:ext cx="3021711" cy="1610122"/>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공공기관·기업 시스템 구축 사업에서 표준 정의서, 코드 정의서, 데이터 이관을 맡습니다.</a:t>
            </a:r>
            <a:endParaRPr lang="en-US" sz="1300" dirty="0"/>
          </a:p>
          <a:p>
            <a:pPr marL="0" indent="0" algn="l">
              <a:lnSpc>
                <a:spcPts val="2080"/>
              </a:lnSpc>
              <a:buNone/>
            </a:pPr>
            <a:endParaRPr lang="en-US" sz="1300" dirty="0"/>
          </a:p>
          <a:p>
            <a:pPr marL="0" indent="0" algn="l">
              <a:lnSpc>
                <a:spcPts val="2080"/>
              </a:lnSpc>
              <a:buNone/>
            </a:pPr>
            <a:r>
              <a:rPr lang="en-US" sz="1300" b="1" dirty="0">
                <a:solidFill>
                  <a:srgbClr val="3D4757"/>
                </a:solidFill>
                <a:latin typeface="Noto Sans KR" pitchFamily="34" charset="0"/>
                <a:ea typeface="Noto Sans KR" pitchFamily="34" charset="-122"/>
                <a:cs typeface="Noto Sans KR" pitchFamily="34" charset="-120"/>
              </a:rPr>
              <a:t>이 과목에서</a:t>
            </a:r>
            <a:r>
              <a:rPr lang="en-US" sz="1300" dirty="0">
                <a:solidFill>
                  <a:srgbClr val="3D4757"/>
                </a:solidFill>
                <a:latin typeface="Noto Sans KR" pitchFamily="34" charset="0"/>
                <a:ea typeface="Noto Sans KR" pitchFamily="34" charset="-122"/>
                <a:cs typeface="Noto Sans KR" pitchFamily="34" charset="-120"/>
              </a:rPr>
              <a:t> → 표준 사전 · 매핑표 · 변환 규칙</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50 / 60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공공 분야 이야기</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공공기관은 표준화와 품질을 지키도록 정해져 있습니다</a:t>
            </a:r>
            <a:endParaRPr lang="en-US" sz="3000" dirty="0"/>
          </a:p>
        </p:txBody>
      </p:sp>
      <p:sp>
        <p:nvSpPr>
          <p:cNvPr id="4" name="Shape 2"/>
          <p:cNvSpPr/>
          <p:nvPr/>
        </p:nvSpPr>
        <p:spPr>
          <a:xfrm>
            <a:off x="815975" y="1816695"/>
            <a:ext cx="3397250" cy="1558131"/>
          </a:xfrm>
          <a:prstGeom prst="roundRect">
            <a:avLst>
              <a:gd name="adj" fmla="val 6317"/>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표준을 지켜야 한다</a:t>
            </a:r>
            <a:endParaRPr lang="en-US" sz="1200" dirty="0"/>
          </a:p>
        </p:txBody>
      </p:sp>
      <p:sp>
        <p:nvSpPr>
          <p:cNvPr id="6" name="Text 4"/>
          <p:cNvSpPr/>
          <p:nvPr/>
        </p:nvSpPr>
        <p:spPr>
          <a:xfrm>
            <a:off x="1047750" y="2350691"/>
            <a:ext cx="3021711"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공공기관은 데이터베이스를 만들 때 공통표준용어를 따라야 하고, 표준화 지침에 따라 정의서를 작성합니다.</a:t>
            </a:r>
            <a:endParaRPr lang="en-US" sz="1300" dirty="0"/>
          </a:p>
        </p:txBody>
      </p:sp>
      <p:sp>
        <p:nvSpPr>
          <p:cNvPr id="7" name="Shape 5"/>
          <p:cNvSpPr/>
          <p:nvPr/>
        </p:nvSpPr>
        <p:spPr>
          <a:xfrm>
            <a:off x="4397375" y="1816695"/>
            <a:ext cx="3397250" cy="1558131"/>
          </a:xfrm>
          <a:prstGeom prst="roundRect">
            <a:avLst>
              <a:gd name="adj" fmla="val 6317"/>
            </a:avLst>
          </a:prstGeom>
          <a:solidFill>
            <a:srgbClr val="FFFDF8"/>
          </a:solidFill>
          <a:ln w="6350">
            <a:solidFill>
              <a:srgbClr val="D9D4C7"/>
            </a:solidFill>
            <a:prstDash val="solid"/>
          </a:ln>
        </p:spPr>
        <p:txBody>
          <a:bodyPr/>
          <a:lstStyle/>
          <a:p>
            <a:endParaRPr lang="ko-KR" altLang="en-US"/>
          </a:p>
        </p:txBody>
      </p:sp>
      <p:sp>
        <p:nvSpPr>
          <p:cNvPr id="8" name="Text 6"/>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품질을 평가받는다</a:t>
            </a:r>
            <a:endParaRPr lang="en-US" sz="1200" dirty="0"/>
          </a:p>
        </p:txBody>
      </p:sp>
      <p:sp>
        <p:nvSpPr>
          <p:cNvPr id="9" name="Text 7"/>
          <p:cNvSpPr/>
          <p:nvPr/>
        </p:nvSpPr>
        <p:spPr>
          <a:xfrm>
            <a:off x="4629150" y="235069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공공데이터 품질인증 제도로 기관의 데이터 품질 수준과 관리 체계를 평가받습니다.</a:t>
            </a:r>
            <a:endParaRPr lang="en-US" sz="1300" dirty="0"/>
          </a:p>
        </p:txBody>
      </p:sp>
      <p:sp>
        <p:nvSpPr>
          <p:cNvPr id="10" name="Shape 8"/>
          <p:cNvSpPr/>
          <p:nvPr/>
        </p:nvSpPr>
        <p:spPr>
          <a:xfrm>
            <a:off x="7978775" y="1816695"/>
            <a:ext cx="3397250" cy="1558131"/>
          </a:xfrm>
          <a:prstGeom prst="roundRect">
            <a:avLst>
              <a:gd name="adj" fmla="val 6317"/>
            </a:avLst>
          </a:prstGeom>
          <a:solidFill>
            <a:srgbClr val="FFFDF8"/>
          </a:solidFill>
          <a:ln w="6350">
            <a:solidFill>
              <a:srgbClr val="D9D4C7"/>
            </a:solidFill>
            <a:prstDash val="solid"/>
          </a:ln>
        </p:spPr>
        <p:txBody>
          <a:bodyPr/>
          <a:lstStyle/>
          <a:p>
            <a:endParaRPr lang="ko-KR" altLang="en-US"/>
          </a:p>
        </p:txBody>
      </p:sp>
      <p:sp>
        <p:nvSpPr>
          <p:cNvPr id="11" name="Text 9"/>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AI-레디를 준비한다</a:t>
            </a:r>
            <a:endParaRPr lang="en-US" sz="1200" dirty="0"/>
          </a:p>
        </p:txBody>
      </p:sp>
      <p:sp>
        <p:nvSpPr>
          <p:cNvPr id="12" name="Text 10"/>
          <p:cNvSpPr/>
          <p:nvPr/>
        </p:nvSpPr>
        <p:spPr>
          <a:xfrm>
            <a:off x="8210550" y="235069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공공데이터를 AI가 바로 쓸 수 있게 만드는 기준이 새로 생겨 적용되고 있습니다.</a:t>
            </a:r>
            <a:endParaRPr lang="en-US" sz="1300" dirty="0"/>
          </a:p>
        </p:txBody>
      </p:sp>
      <p:sp>
        <p:nvSpPr>
          <p:cNvPr id="13" name="Shape 11"/>
          <p:cNvSpPr/>
          <p:nvPr/>
        </p:nvSpPr>
        <p:spPr>
          <a:xfrm>
            <a:off x="812800" y="3632002"/>
            <a:ext cx="10566400" cy="1219101"/>
          </a:xfrm>
          <a:prstGeom prst="roundRect">
            <a:avLst>
              <a:gd name="adj" fmla="val 6251"/>
            </a:avLst>
          </a:prstGeom>
          <a:solidFill>
            <a:srgbClr val="F8EBDD"/>
          </a:solidFill>
          <a:ln/>
        </p:spPr>
        <p:txBody>
          <a:bodyPr/>
          <a:lstStyle/>
          <a:p>
            <a:endParaRPr lang="ko-KR" altLang="en-US"/>
          </a:p>
        </p:txBody>
      </p:sp>
      <p:sp>
        <p:nvSpPr>
          <p:cNvPr id="14" name="Shape 12"/>
          <p:cNvSpPr/>
          <p:nvPr/>
        </p:nvSpPr>
        <p:spPr>
          <a:xfrm>
            <a:off x="812800" y="3632002"/>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A94E12"/>
          </a:solidFill>
          <a:ln/>
        </p:spPr>
        <p:txBody>
          <a:bodyPr/>
          <a:lstStyle/>
          <a:p>
            <a:endParaRPr lang="ko-KR" altLang="en-US"/>
          </a:p>
        </p:txBody>
      </p:sp>
      <p:sp>
        <p:nvSpPr>
          <p:cNvPr id="15" name="Text 13"/>
          <p:cNvSpPr/>
          <p:nvPr/>
        </p:nvSpPr>
        <p:spPr>
          <a:xfrm>
            <a:off x="1092200" y="3809802"/>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94E12"/>
                </a:solidFill>
                <a:latin typeface="Noto Sans KR" pitchFamily="34" charset="0"/>
                <a:ea typeface="Noto Sans KR" pitchFamily="34" charset="-122"/>
                <a:cs typeface="Noto Sans KR" pitchFamily="34" charset="-120"/>
              </a:rPr>
              <a:t>그래서 생기는 일자리</a:t>
            </a:r>
            <a:endParaRPr lang="en-US" sz="1300" dirty="0"/>
          </a:p>
        </p:txBody>
      </p:sp>
      <p:sp>
        <p:nvSpPr>
          <p:cNvPr id="16" name="Text 14"/>
          <p:cNvSpPr/>
          <p:nvPr/>
        </p:nvSpPr>
        <p:spPr>
          <a:xfrm>
            <a:off x="1092200" y="410438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공공기관 데이터 구축·개방 사업, 시스템 고도화 사업에는 표준 정의서를 쓰고, 품질을 점검하고, 데이터를 이관할 사람이 필요합니다. </a:t>
            </a:r>
            <a:r>
              <a:rPr lang="en-US" sz="1400" b="1" dirty="0">
                <a:solidFill>
                  <a:srgbClr val="3D4757"/>
                </a:solidFill>
                <a:latin typeface="Noto Sans KR" pitchFamily="34" charset="0"/>
                <a:ea typeface="Noto Sans KR" pitchFamily="34" charset="-122"/>
                <a:cs typeface="Noto Sans KR" pitchFamily="34" charset="-120"/>
              </a:rPr>
              <a:t>여러분이 이 과목에서 만드는 파일이 그 사업의 산출물과 같은 종류</a:t>
            </a:r>
            <a:r>
              <a:rPr lang="en-US" sz="1400" dirty="0">
                <a:solidFill>
                  <a:srgbClr val="3D4757"/>
                </a:solidFill>
                <a:latin typeface="Noto Sans KR" pitchFamily="34" charset="0"/>
                <a:ea typeface="Noto Sans KR" pitchFamily="34" charset="-122"/>
                <a:cs typeface="Noto Sans KR" pitchFamily="34" charset="-120"/>
              </a:rPr>
              <a:t>입니다.</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51 / 60</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채용공고 읽는 법</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공고의 단어를 여러분의 파일로 번역해 봅니다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3087688"/>
        </p:xfrm>
        <a:graphic>
          <a:graphicData uri="http://schemas.openxmlformats.org/drawingml/2006/table">
            <a:tbl>
              <a:tblPr/>
              <a:tblGrid>
                <a:gridCol w="4854702">
                  <a:extLst>
                    <a:ext uri="{9D8B030D-6E8A-4147-A177-3AD203B41FA5}">
                      <a16:colId xmlns:a16="http://schemas.microsoft.com/office/drawing/2014/main" val="20000"/>
                    </a:ext>
                  </a:extLst>
                </a:gridCol>
                <a:gridCol w="5698998">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채용공고에 나오는 말</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여러분이 보여 줄 수 있는 것</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 표준화 · 표준 사전 관리</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표준사전.xlsx (단어·도메인·용어·코드 4시트)</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 품질 관리 · 데이터 정합성</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AS-IS 품질보고서 · 검사 프로그램 결과 · 건수 대조</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 모델링 · ERD</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AS-IS 모델 · TO-BE 모델 그림</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SQL · DDL · 데이터베이스 설계</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ddl.sql · PK/FK · JOIN 건수 판정</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ETL · 데이터 파이프라인</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etl.py · 격리 처리 · 멱등성 확인</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메타데이터 · 데이터 카탈로그</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데이터카탈로그.md · 문서와 DB 대조</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피처 엔지니어링 · 학습 데이터</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customer_features.csv · 기간 분리</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5167908"/>
            <a:ext cx="10883392"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1B2A44"/>
                </a:solidFill>
                <a:latin typeface="Noto Sans KR" pitchFamily="34" charset="0"/>
                <a:ea typeface="Noto Sans KR" pitchFamily="34" charset="-122"/>
                <a:cs typeface="Noto Sans KR" pitchFamily="34" charset="-120"/>
              </a:rPr>
              <a:t>공고의 단어 옆에 '제가 만든 이 파일입니다'라고 말할 수 있으면, 경험이 없는 신입과 다른 신입이 됩니다.</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52 / 60</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자격증 로드맵</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이 과목과 겹치는 자격증들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2315766"/>
        </p:xfrm>
        <a:graphic>
          <a:graphicData uri="http://schemas.openxmlformats.org/drawingml/2006/table">
            <a:tbl>
              <a:tblPr/>
              <a:tblGrid>
                <a:gridCol w="2321814">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자격증</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무엇을 보나</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tc>
                  <a:txBody>
                    <a:bodyPr/>
                    <a:lstStyle/>
                    <a:p>
                      <a:pPr marL="0" indent="0">
                        <a:lnSpc>
                          <a:spcPts val="1960"/>
                        </a:lnSpc>
                        <a:buNone/>
                      </a:pPr>
                      <a:r>
                        <a:rPr lang="en-US" sz="1400" b="1" dirty="0">
                          <a:solidFill>
                            <a:srgbClr val="F6F4EF"/>
                          </a:solidFill>
                          <a:latin typeface="Noto Sans KR" pitchFamily="34" charset="0"/>
                          <a:ea typeface="Noto Sans KR" pitchFamily="34" charset="-122"/>
                          <a:cs typeface="Noto Sans KR" pitchFamily="34" charset="-120"/>
                        </a:rPr>
                        <a:t>이 과목과의 연결</a:t>
                      </a:r>
                      <a:endParaRPr lang="en-US" sz="1400" dirty="0">
                        <a:latin typeface="Noto Sans KR" charset="0"/>
                        <a:ea typeface="Noto Sans KR" charset="0"/>
                        <a:cs typeface="Noto Sans KR" charset="0"/>
                      </a:endParaRPr>
                    </a:p>
                  </a:txBody>
                  <a:tcPr marL="62230" marR="62230" marT="62230" marB="62230">
                    <a:lnL w="12700" cap="flat" cmpd="sng" algn="ctr">
                      <a:solidFill>
                        <a:srgbClr val="192539"/>
                      </a:solidFill>
                      <a:prstDash val="solid"/>
                      <a:round/>
                      <a:headEnd type="none" w="med" len="med"/>
                      <a:tailEnd type="none" w="med" len="med"/>
                    </a:lnL>
                    <a:lnR w="12700" cap="flat" cmpd="sng" algn="ctr">
                      <a:solidFill>
                        <a:srgbClr val="19253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539"/>
                      </a:solidFill>
                      <a:prstDash val="solid"/>
                      <a:round/>
                      <a:headEnd type="none" w="med" len="med"/>
                      <a:tailEnd type="none" w="med" len="med"/>
                    </a:lnB>
                    <a:solidFill>
                      <a:srgbClr val="1B2A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SQLD · SQLP</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SQL 활용과 데이터 모델링 이해</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5~6일차 SQL · DDL · 모델링</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253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DAsP · DAP</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 요건 분석 · 표준화 · 모델링</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과목 전체 — 시험 과목 이름이 거의 같음</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ADsP</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 이해와 분석 기획 · 분석 기초</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7~8일차 활용 데이터 · 누수</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빅데이터분석기사</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빅데이터 분석 기획 · 탐색 · 모델링 · 해석</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3일차 프로파일링 · 7~8일차</a:t>
                      </a:r>
                      <a:endParaRPr lang="en-US" sz="1400" dirty="0">
                        <a:latin typeface="Noto Sans KR" charset="0"/>
                        <a:ea typeface="Noto Sans KR" charset="0"/>
                        <a:cs typeface="Noto Sans KR"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정보처리기사</a:t>
                      </a:r>
                      <a:endParaRPr lang="en-US" sz="1400" dirty="0">
                        <a:latin typeface="Noto Sans KR" charset="0"/>
                        <a:ea typeface="Noto Sans KR" charset="0"/>
                        <a:cs typeface="Noto Sans K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소프트웨어 개발 전반 · 데이터베이스</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960"/>
                        </a:lnSpc>
                        <a:buNone/>
                      </a:pPr>
                      <a:r>
                        <a:rPr lang="en-US" sz="1400" dirty="0">
                          <a:solidFill>
                            <a:srgbClr val="3D4757"/>
                          </a:solidFill>
                          <a:latin typeface="Noto Sans KR" pitchFamily="34" charset="0"/>
                          <a:ea typeface="Noto Sans KR" pitchFamily="34" charset="-122"/>
                          <a:cs typeface="Noto Sans KR" pitchFamily="34" charset="-120"/>
                        </a:rPr>
                        <a:t>데이터베이스 설계 · SQL 부분</a:t>
                      </a:r>
                      <a:endParaRPr lang="en-US" sz="1400" dirty="0">
                        <a:latin typeface="Noto Sans KR" charset="0"/>
                        <a:ea typeface="Noto Sans KR" charset="0"/>
                        <a:cs typeface="Noto Sans KR"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395986"/>
            <a:ext cx="10883392"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5E6673"/>
                </a:solidFill>
                <a:latin typeface="Noto Sans KR" pitchFamily="34" charset="0"/>
                <a:ea typeface="Noto Sans KR" pitchFamily="34" charset="-122"/>
                <a:cs typeface="Noto Sans KR" pitchFamily="34" charset="-120"/>
              </a:rPr>
              <a:t>SQLD · DAsP · ADsP 등 데이터 자격검정은 한국데이터산업진흥원이 시행합니다. 시험 일정과 응시 방법은 공식 사이트 dataq.or.kr 에서 확인하세요.</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53 / 60</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자격증 자세히 · DAsP</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데이터아키텍처 준전문가 — 시험 과목과 우리 과목이 겹칩니다</a:t>
            </a:r>
            <a:endParaRPr lang="en-US" sz="3000" dirty="0"/>
          </a:p>
        </p:txBody>
      </p:sp>
      <p:sp>
        <p:nvSpPr>
          <p:cNvPr id="4" name="Shape 2"/>
          <p:cNvSpPr/>
          <p:nvPr/>
        </p:nvSpPr>
        <p:spPr>
          <a:xfrm>
            <a:off x="819150" y="1819870"/>
            <a:ext cx="2514600" cy="925711"/>
          </a:xfrm>
          <a:prstGeom prst="roundRect">
            <a:avLst>
              <a:gd name="adj" fmla="val 8917"/>
            </a:avLst>
          </a:prstGeom>
          <a:solidFill>
            <a:srgbClr val="EFEBE2"/>
          </a:solidFill>
          <a:ln w="12700">
            <a:solidFill>
              <a:srgbClr val="D9D4C7"/>
            </a:solidFill>
            <a:prstDash val="solid"/>
          </a:ln>
        </p:spPr>
        <p:txBody>
          <a:bodyPr/>
          <a:lstStyle/>
          <a:p>
            <a:endParaRPr lang="ko-KR" altLang="en-US"/>
          </a:p>
        </p:txBody>
      </p:sp>
      <p:sp>
        <p:nvSpPr>
          <p:cNvPr id="5" name="Text 3"/>
          <p:cNvSpPr/>
          <p:nvPr/>
        </p:nvSpPr>
        <p:spPr>
          <a:xfrm>
            <a:off x="1003300" y="2004020"/>
            <a:ext cx="221068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673"/>
                </a:solidFill>
                <a:latin typeface="Noto Sans KR" pitchFamily="34" charset="0"/>
                <a:ea typeface="Noto Sans KR" pitchFamily="34" charset="-122"/>
                <a:cs typeface="Noto Sans KR" pitchFamily="34" charset="-120"/>
              </a:rPr>
              <a:t>시험 과목 1</a:t>
            </a:r>
            <a:endParaRPr lang="en-US" sz="1200" dirty="0"/>
          </a:p>
        </p:txBody>
      </p:sp>
      <p:sp>
        <p:nvSpPr>
          <p:cNvPr id="6" name="Text 4"/>
          <p:cNvSpPr/>
          <p:nvPr/>
        </p:nvSpPr>
        <p:spPr>
          <a:xfrm>
            <a:off x="1003300" y="2280841"/>
            <a:ext cx="2210689" cy="30599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B2A44"/>
                </a:solidFill>
                <a:latin typeface="Noto Sans KR" pitchFamily="34" charset="0"/>
                <a:ea typeface="Noto Sans KR" pitchFamily="34" charset="-122"/>
                <a:cs typeface="Noto Sans KR" pitchFamily="34" charset="-120"/>
              </a:rPr>
              <a:t>전사아키텍처 이해</a:t>
            </a:r>
            <a:endParaRPr lang="en-US" sz="1700" dirty="0"/>
          </a:p>
        </p:txBody>
      </p:sp>
      <p:sp>
        <p:nvSpPr>
          <p:cNvPr id="7" name="Text 5"/>
          <p:cNvSpPr/>
          <p:nvPr/>
        </p:nvSpPr>
        <p:spPr>
          <a:xfrm>
            <a:off x="774891" y="2828131"/>
            <a:ext cx="2603119"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5E6673"/>
                </a:solidFill>
                <a:latin typeface="Noto Sans KR" pitchFamily="34" charset="0"/>
                <a:ea typeface="Noto Sans KR" pitchFamily="34" charset="-122"/>
                <a:cs typeface="Noto Sans KR" pitchFamily="34" charset="-120"/>
              </a:rPr>
              <a:t>↓</a:t>
            </a:r>
            <a:endParaRPr lang="en-US" sz="1800" dirty="0"/>
          </a:p>
        </p:txBody>
      </p:sp>
      <p:sp>
        <p:nvSpPr>
          <p:cNvPr id="8" name="Shape 6"/>
          <p:cNvSpPr/>
          <p:nvPr/>
        </p:nvSpPr>
        <p:spPr>
          <a:xfrm>
            <a:off x="815975" y="3227487"/>
            <a:ext cx="2520950" cy="1172170"/>
          </a:xfrm>
          <a:prstGeom prst="roundRect">
            <a:avLst>
              <a:gd name="adj" fmla="val 7313"/>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996950" y="3408462"/>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673"/>
                </a:solidFill>
                <a:latin typeface="Noto Sans KR" pitchFamily="34" charset="0"/>
                <a:ea typeface="Noto Sans KR" pitchFamily="34" charset="-122"/>
                <a:cs typeface="Noto Sans KR" pitchFamily="34" charset="-120"/>
              </a:rPr>
              <a:t>우리 과목</a:t>
            </a:r>
            <a:endParaRPr lang="en-US" sz="1200" dirty="0"/>
          </a:p>
        </p:txBody>
      </p:sp>
      <p:sp>
        <p:nvSpPr>
          <p:cNvPr id="10" name="Text 8"/>
          <p:cNvSpPr/>
          <p:nvPr/>
        </p:nvSpPr>
        <p:spPr>
          <a:xfrm>
            <a:off x="996950" y="3685282"/>
            <a:ext cx="222377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7"/>
                </a:solidFill>
                <a:latin typeface="Noto Sans KR" pitchFamily="34" charset="0"/>
                <a:ea typeface="Noto Sans KR" pitchFamily="34" charset="-122"/>
                <a:cs typeface="Noto Sans KR" pitchFamily="34" charset="-120"/>
              </a:rPr>
              <a:t>과목 전체의 큰 그림 (오늘 이 발표)</a:t>
            </a:r>
            <a:endParaRPr lang="en-US" sz="1400" dirty="0"/>
          </a:p>
        </p:txBody>
      </p:sp>
      <p:sp>
        <p:nvSpPr>
          <p:cNvPr id="11" name="Shape 9"/>
          <p:cNvSpPr/>
          <p:nvPr/>
        </p:nvSpPr>
        <p:spPr>
          <a:xfrm>
            <a:off x="3498850" y="1819870"/>
            <a:ext cx="2514600" cy="925711"/>
          </a:xfrm>
          <a:prstGeom prst="roundRect">
            <a:avLst>
              <a:gd name="adj" fmla="val 8917"/>
            </a:avLst>
          </a:prstGeom>
          <a:solidFill>
            <a:srgbClr val="E4ECF7"/>
          </a:solidFill>
          <a:ln w="12700">
            <a:solidFill>
              <a:srgbClr val="9DB6DC"/>
            </a:solidFill>
            <a:prstDash val="solid"/>
          </a:ln>
        </p:spPr>
        <p:txBody>
          <a:bodyPr/>
          <a:lstStyle/>
          <a:p>
            <a:endParaRPr lang="ko-KR" altLang="en-US"/>
          </a:p>
        </p:txBody>
      </p:sp>
      <p:sp>
        <p:nvSpPr>
          <p:cNvPr id="12" name="Text 10"/>
          <p:cNvSpPr/>
          <p:nvPr/>
        </p:nvSpPr>
        <p:spPr>
          <a:xfrm>
            <a:off x="3683000" y="2004020"/>
            <a:ext cx="221068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시험 과목 2</a:t>
            </a:r>
            <a:endParaRPr lang="en-US" sz="1200" dirty="0"/>
          </a:p>
        </p:txBody>
      </p:sp>
      <p:sp>
        <p:nvSpPr>
          <p:cNvPr id="13" name="Text 11"/>
          <p:cNvSpPr/>
          <p:nvPr/>
        </p:nvSpPr>
        <p:spPr>
          <a:xfrm>
            <a:off x="3683000" y="2280841"/>
            <a:ext cx="2210689" cy="30599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B2A44"/>
                </a:solidFill>
                <a:latin typeface="Noto Sans KR" pitchFamily="34" charset="0"/>
                <a:ea typeface="Noto Sans KR" pitchFamily="34" charset="-122"/>
                <a:cs typeface="Noto Sans KR" pitchFamily="34" charset="-120"/>
              </a:rPr>
              <a:t>데이터 요건 분석</a:t>
            </a:r>
            <a:endParaRPr lang="en-US" sz="1700" dirty="0"/>
          </a:p>
        </p:txBody>
      </p:sp>
      <p:sp>
        <p:nvSpPr>
          <p:cNvPr id="14" name="Text 12"/>
          <p:cNvSpPr/>
          <p:nvPr/>
        </p:nvSpPr>
        <p:spPr>
          <a:xfrm>
            <a:off x="3454590" y="2828131"/>
            <a:ext cx="2603119"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5E6673"/>
                </a:solidFill>
                <a:latin typeface="Noto Sans KR" pitchFamily="34" charset="0"/>
                <a:ea typeface="Noto Sans KR" pitchFamily="34" charset="-122"/>
                <a:cs typeface="Noto Sans KR" pitchFamily="34" charset="-120"/>
              </a:rPr>
              <a:t>↓</a:t>
            </a:r>
            <a:endParaRPr lang="en-US" sz="1800" dirty="0"/>
          </a:p>
        </p:txBody>
      </p:sp>
      <p:sp>
        <p:nvSpPr>
          <p:cNvPr id="15" name="Shape 13"/>
          <p:cNvSpPr/>
          <p:nvPr/>
        </p:nvSpPr>
        <p:spPr>
          <a:xfrm>
            <a:off x="3495675" y="3227487"/>
            <a:ext cx="2520950" cy="1172170"/>
          </a:xfrm>
          <a:prstGeom prst="roundRect">
            <a:avLst>
              <a:gd name="adj" fmla="val 7313"/>
            </a:avLst>
          </a:prstGeom>
          <a:solidFill>
            <a:srgbClr val="FFFDF8"/>
          </a:solidFill>
          <a:ln w="6350">
            <a:solidFill>
              <a:srgbClr val="D9D4C7"/>
            </a:solidFill>
            <a:prstDash val="solid"/>
          </a:ln>
        </p:spPr>
        <p:txBody>
          <a:bodyPr/>
          <a:lstStyle/>
          <a:p>
            <a:endParaRPr lang="ko-KR" altLang="en-US"/>
          </a:p>
        </p:txBody>
      </p:sp>
      <p:sp>
        <p:nvSpPr>
          <p:cNvPr id="16" name="Text 14"/>
          <p:cNvSpPr/>
          <p:nvPr/>
        </p:nvSpPr>
        <p:spPr>
          <a:xfrm>
            <a:off x="3676650" y="3408462"/>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673"/>
                </a:solidFill>
                <a:latin typeface="Noto Sans KR" pitchFamily="34" charset="0"/>
                <a:ea typeface="Noto Sans KR" pitchFamily="34" charset="-122"/>
                <a:cs typeface="Noto Sans KR" pitchFamily="34" charset="-120"/>
              </a:rPr>
              <a:t>우리 과목</a:t>
            </a:r>
            <a:endParaRPr lang="en-US" sz="1200" dirty="0"/>
          </a:p>
        </p:txBody>
      </p:sp>
      <p:sp>
        <p:nvSpPr>
          <p:cNvPr id="17" name="Text 15"/>
          <p:cNvSpPr/>
          <p:nvPr/>
        </p:nvSpPr>
        <p:spPr>
          <a:xfrm>
            <a:off x="3676650" y="3685282"/>
            <a:ext cx="222377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7"/>
                </a:solidFill>
                <a:latin typeface="Noto Sans KR" pitchFamily="34" charset="0"/>
                <a:ea typeface="Noto Sans KR" pitchFamily="34" charset="-122"/>
                <a:cs typeface="Noto Sans KR" pitchFamily="34" charset="-120"/>
              </a:rPr>
              <a:t>4일차 요구사항 · 한 행의 의미</a:t>
            </a:r>
            <a:endParaRPr lang="en-US" sz="1400" dirty="0"/>
          </a:p>
        </p:txBody>
      </p:sp>
      <p:sp>
        <p:nvSpPr>
          <p:cNvPr id="18" name="Shape 16"/>
          <p:cNvSpPr/>
          <p:nvPr/>
        </p:nvSpPr>
        <p:spPr>
          <a:xfrm>
            <a:off x="6178550" y="1819870"/>
            <a:ext cx="2514600" cy="925711"/>
          </a:xfrm>
          <a:prstGeom prst="roundRect">
            <a:avLst>
              <a:gd name="adj" fmla="val 8917"/>
            </a:avLst>
          </a:prstGeom>
          <a:solidFill>
            <a:srgbClr val="F8EBDD"/>
          </a:solidFill>
          <a:ln w="12700">
            <a:solidFill>
              <a:srgbClr val="E0B48C"/>
            </a:solidFill>
            <a:prstDash val="solid"/>
          </a:ln>
        </p:spPr>
        <p:txBody>
          <a:bodyPr/>
          <a:lstStyle/>
          <a:p>
            <a:endParaRPr lang="ko-KR" altLang="en-US"/>
          </a:p>
        </p:txBody>
      </p:sp>
      <p:sp>
        <p:nvSpPr>
          <p:cNvPr id="19" name="Text 17"/>
          <p:cNvSpPr/>
          <p:nvPr/>
        </p:nvSpPr>
        <p:spPr>
          <a:xfrm>
            <a:off x="6362700" y="2004020"/>
            <a:ext cx="221068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시험 과목 3</a:t>
            </a:r>
            <a:endParaRPr lang="en-US" sz="1200" dirty="0"/>
          </a:p>
        </p:txBody>
      </p:sp>
      <p:sp>
        <p:nvSpPr>
          <p:cNvPr id="20" name="Text 18"/>
          <p:cNvSpPr/>
          <p:nvPr/>
        </p:nvSpPr>
        <p:spPr>
          <a:xfrm>
            <a:off x="6362700" y="2280841"/>
            <a:ext cx="2210689" cy="30599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B2A44"/>
                </a:solidFill>
                <a:latin typeface="Noto Sans KR" pitchFamily="34" charset="0"/>
                <a:ea typeface="Noto Sans KR" pitchFamily="34" charset="-122"/>
                <a:cs typeface="Noto Sans KR" pitchFamily="34" charset="-120"/>
              </a:rPr>
              <a:t>데이터 표준화</a:t>
            </a:r>
            <a:endParaRPr lang="en-US" sz="1700" dirty="0"/>
          </a:p>
        </p:txBody>
      </p:sp>
      <p:sp>
        <p:nvSpPr>
          <p:cNvPr id="21" name="Text 19"/>
          <p:cNvSpPr/>
          <p:nvPr/>
        </p:nvSpPr>
        <p:spPr>
          <a:xfrm>
            <a:off x="6134291" y="2828131"/>
            <a:ext cx="2603119"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5E6673"/>
                </a:solidFill>
                <a:latin typeface="Noto Sans KR" pitchFamily="34" charset="0"/>
                <a:ea typeface="Noto Sans KR" pitchFamily="34" charset="-122"/>
                <a:cs typeface="Noto Sans KR" pitchFamily="34" charset="-120"/>
              </a:rPr>
              <a:t>↓</a:t>
            </a:r>
            <a:endParaRPr lang="en-US" sz="1800" dirty="0"/>
          </a:p>
        </p:txBody>
      </p:sp>
      <p:sp>
        <p:nvSpPr>
          <p:cNvPr id="22" name="Shape 20"/>
          <p:cNvSpPr/>
          <p:nvPr/>
        </p:nvSpPr>
        <p:spPr>
          <a:xfrm>
            <a:off x="6175375" y="3227487"/>
            <a:ext cx="2520950" cy="1172170"/>
          </a:xfrm>
          <a:prstGeom prst="roundRect">
            <a:avLst>
              <a:gd name="adj" fmla="val 7313"/>
            </a:avLst>
          </a:prstGeom>
          <a:solidFill>
            <a:srgbClr val="FFFDF8"/>
          </a:solidFill>
          <a:ln w="6350">
            <a:solidFill>
              <a:srgbClr val="D9D4C7"/>
            </a:solidFill>
            <a:prstDash val="solid"/>
          </a:ln>
        </p:spPr>
        <p:txBody>
          <a:bodyPr/>
          <a:lstStyle/>
          <a:p>
            <a:endParaRPr lang="ko-KR" altLang="en-US"/>
          </a:p>
        </p:txBody>
      </p:sp>
      <p:sp>
        <p:nvSpPr>
          <p:cNvPr id="23" name="Text 21"/>
          <p:cNvSpPr/>
          <p:nvPr/>
        </p:nvSpPr>
        <p:spPr>
          <a:xfrm>
            <a:off x="6356350" y="3408462"/>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673"/>
                </a:solidFill>
                <a:latin typeface="Noto Sans KR" pitchFamily="34" charset="0"/>
                <a:ea typeface="Noto Sans KR" pitchFamily="34" charset="-122"/>
                <a:cs typeface="Noto Sans KR" pitchFamily="34" charset="-120"/>
              </a:rPr>
              <a:t>우리 과목</a:t>
            </a:r>
            <a:endParaRPr lang="en-US" sz="1200" dirty="0"/>
          </a:p>
        </p:txBody>
      </p:sp>
      <p:sp>
        <p:nvSpPr>
          <p:cNvPr id="24" name="Text 22"/>
          <p:cNvSpPr/>
          <p:nvPr/>
        </p:nvSpPr>
        <p:spPr>
          <a:xfrm>
            <a:off x="6356350" y="3685282"/>
            <a:ext cx="222377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7"/>
                </a:solidFill>
                <a:latin typeface="Noto Sans KR" pitchFamily="34" charset="0"/>
                <a:ea typeface="Noto Sans KR" pitchFamily="34" charset="-122"/>
                <a:cs typeface="Noto Sans KR" pitchFamily="34" charset="-120"/>
              </a:rPr>
              <a:t>1~3일차 표준 사전 · 매핑 · 규칙</a:t>
            </a:r>
            <a:endParaRPr lang="en-US" sz="1400" dirty="0"/>
          </a:p>
        </p:txBody>
      </p:sp>
      <p:sp>
        <p:nvSpPr>
          <p:cNvPr id="25" name="Shape 23"/>
          <p:cNvSpPr/>
          <p:nvPr/>
        </p:nvSpPr>
        <p:spPr>
          <a:xfrm>
            <a:off x="8858250" y="1819870"/>
            <a:ext cx="2514600" cy="925711"/>
          </a:xfrm>
          <a:prstGeom prst="roundRect">
            <a:avLst>
              <a:gd name="adj" fmla="val 8917"/>
            </a:avLst>
          </a:prstGeom>
          <a:solidFill>
            <a:srgbClr val="E4ECF7"/>
          </a:solidFill>
          <a:ln w="12700">
            <a:solidFill>
              <a:srgbClr val="9DB6DC"/>
            </a:solidFill>
            <a:prstDash val="solid"/>
          </a:ln>
        </p:spPr>
        <p:txBody>
          <a:bodyPr/>
          <a:lstStyle/>
          <a:p>
            <a:endParaRPr lang="ko-KR" altLang="en-US"/>
          </a:p>
        </p:txBody>
      </p:sp>
      <p:sp>
        <p:nvSpPr>
          <p:cNvPr id="26" name="Text 24"/>
          <p:cNvSpPr/>
          <p:nvPr/>
        </p:nvSpPr>
        <p:spPr>
          <a:xfrm>
            <a:off x="9042400" y="2004020"/>
            <a:ext cx="221068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시험 과목 4</a:t>
            </a:r>
            <a:endParaRPr lang="en-US" sz="1200" dirty="0"/>
          </a:p>
        </p:txBody>
      </p:sp>
      <p:sp>
        <p:nvSpPr>
          <p:cNvPr id="27" name="Text 25"/>
          <p:cNvSpPr/>
          <p:nvPr/>
        </p:nvSpPr>
        <p:spPr>
          <a:xfrm>
            <a:off x="9042400" y="2280841"/>
            <a:ext cx="2210689" cy="30599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B2A44"/>
                </a:solidFill>
                <a:latin typeface="Noto Sans KR" pitchFamily="34" charset="0"/>
                <a:ea typeface="Noto Sans KR" pitchFamily="34" charset="-122"/>
                <a:cs typeface="Noto Sans KR" pitchFamily="34" charset="-120"/>
              </a:rPr>
              <a:t>데이터 모델링</a:t>
            </a:r>
            <a:endParaRPr lang="en-US" sz="1700" dirty="0"/>
          </a:p>
        </p:txBody>
      </p:sp>
      <p:sp>
        <p:nvSpPr>
          <p:cNvPr id="28" name="Text 26"/>
          <p:cNvSpPr/>
          <p:nvPr/>
        </p:nvSpPr>
        <p:spPr>
          <a:xfrm>
            <a:off x="8813991" y="2828131"/>
            <a:ext cx="2603119"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5E6673"/>
                </a:solidFill>
                <a:latin typeface="Noto Sans KR" pitchFamily="34" charset="0"/>
                <a:ea typeface="Noto Sans KR" pitchFamily="34" charset="-122"/>
                <a:cs typeface="Noto Sans KR" pitchFamily="34" charset="-120"/>
              </a:rPr>
              <a:t>↓</a:t>
            </a:r>
            <a:endParaRPr lang="en-US" sz="1800" dirty="0"/>
          </a:p>
        </p:txBody>
      </p:sp>
      <p:sp>
        <p:nvSpPr>
          <p:cNvPr id="29" name="Shape 27"/>
          <p:cNvSpPr/>
          <p:nvPr/>
        </p:nvSpPr>
        <p:spPr>
          <a:xfrm>
            <a:off x="8855075" y="3227487"/>
            <a:ext cx="2520950" cy="1172170"/>
          </a:xfrm>
          <a:prstGeom prst="roundRect">
            <a:avLst>
              <a:gd name="adj" fmla="val 7313"/>
            </a:avLst>
          </a:prstGeom>
          <a:solidFill>
            <a:srgbClr val="FFFDF8"/>
          </a:solidFill>
          <a:ln w="6350">
            <a:solidFill>
              <a:srgbClr val="D9D4C7"/>
            </a:solidFill>
            <a:prstDash val="solid"/>
          </a:ln>
        </p:spPr>
        <p:txBody>
          <a:bodyPr/>
          <a:lstStyle/>
          <a:p>
            <a:endParaRPr lang="ko-KR" altLang="en-US"/>
          </a:p>
        </p:txBody>
      </p:sp>
      <p:sp>
        <p:nvSpPr>
          <p:cNvPr id="30" name="Text 28"/>
          <p:cNvSpPr/>
          <p:nvPr/>
        </p:nvSpPr>
        <p:spPr>
          <a:xfrm>
            <a:off x="9036050" y="3408462"/>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673"/>
                </a:solidFill>
                <a:latin typeface="Noto Sans KR" pitchFamily="34" charset="0"/>
                <a:ea typeface="Noto Sans KR" pitchFamily="34" charset="-122"/>
                <a:cs typeface="Noto Sans KR" pitchFamily="34" charset="-120"/>
              </a:rPr>
              <a:t>우리 과목</a:t>
            </a:r>
            <a:endParaRPr lang="en-US" sz="1200" dirty="0"/>
          </a:p>
        </p:txBody>
      </p:sp>
      <p:sp>
        <p:nvSpPr>
          <p:cNvPr id="31" name="Text 29"/>
          <p:cNvSpPr/>
          <p:nvPr/>
        </p:nvSpPr>
        <p:spPr>
          <a:xfrm>
            <a:off x="9036050" y="3685282"/>
            <a:ext cx="222377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7"/>
                </a:solidFill>
                <a:latin typeface="Noto Sans KR" pitchFamily="34" charset="0"/>
                <a:ea typeface="Noto Sans KR" pitchFamily="34" charset="-122"/>
                <a:cs typeface="Noto Sans KR" pitchFamily="34" charset="-120"/>
              </a:rPr>
              <a:t>4~6일차 엔터티 · 정규화 · DDL</a:t>
            </a:r>
            <a:endParaRPr lang="en-US" sz="1400" dirty="0"/>
          </a:p>
        </p:txBody>
      </p:sp>
      <p:sp>
        <p:nvSpPr>
          <p:cNvPr id="32" name="Text 30"/>
          <p:cNvSpPr/>
          <p:nvPr/>
        </p:nvSpPr>
        <p:spPr>
          <a:xfrm>
            <a:off x="812800" y="4656832"/>
            <a:ext cx="10883392"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5E6673"/>
                </a:solidFill>
                <a:latin typeface="Noto Sans KR" pitchFamily="34" charset="0"/>
                <a:ea typeface="Noto Sans KR" pitchFamily="34" charset="-122"/>
                <a:cs typeface="Noto Sans KR" pitchFamily="34" charset="-120"/>
              </a:rPr>
              <a:t>DAsP는 국가공인이 아닌 민간등록자격입니다. 그래도 시험 범위가 이 과목과 거의 같아서, 과목에서 배운 것을 이론으로 정리하는 데 좋습니다.</a:t>
            </a:r>
            <a:endParaRPr lang="en-US" sz="1300" dirty="0"/>
          </a:p>
        </p:txBody>
      </p:sp>
      <p:sp>
        <p:nvSpPr>
          <p:cNvPr id="33" name="Text 3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34" name="Text 3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54 / 60</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포트폴리오로 만들기</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열흘의 파일을 README 한 장으로 묶습니다</a:t>
            </a:r>
            <a:endParaRPr lang="en-US" sz="3000" dirty="0"/>
          </a:p>
        </p:txBody>
      </p:sp>
      <p:sp>
        <p:nvSpPr>
          <p:cNvPr id="4" name="Shape 2"/>
          <p:cNvSpPr/>
          <p:nvPr/>
        </p:nvSpPr>
        <p:spPr>
          <a:xfrm>
            <a:off x="815975" y="1816695"/>
            <a:ext cx="2015430" cy="1776611"/>
          </a:xfrm>
          <a:prstGeom prst="roundRect">
            <a:avLst>
              <a:gd name="adj" fmla="val 5540"/>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22350" y="2023070"/>
            <a:ext cx="16534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1 · 문제</a:t>
            </a:r>
            <a:endParaRPr lang="en-US" sz="1200" dirty="0"/>
          </a:p>
        </p:txBody>
      </p:sp>
      <p:sp>
        <p:nvSpPr>
          <p:cNvPr id="6" name="Text 4"/>
          <p:cNvSpPr/>
          <p:nvPr/>
        </p:nvSpPr>
        <p:spPr>
          <a:xfrm>
            <a:off x="1022350" y="2299891"/>
            <a:ext cx="1653480" cy="553641"/>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B2A44"/>
                </a:solidFill>
                <a:latin typeface="Noto Sans KR" pitchFamily="34" charset="0"/>
                <a:ea typeface="Noto Sans KR" pitchFamily="34" charset="-122"/>
                <a:cs typeface="Noto Sans KR" pitchFamily="34" charset="-120"/>
              </a:rPr>
              <a:t>원천이 어떤 상태였나</a:t>
            </a:r>
            <a:endParaRPr lang="en-US" sz="1600" dirty="0"/>
          </a:p>
        </p:txBody>
      </p:sp>
      <p:sp>
        <p:nvSpPr>
          <p:cNvPr id="7" name="Text 5"/>
          <p:cNvSpPr/>
          <p:nvPr/>
        </p:nvSpPr>
        <p:spPr>
          <a:xfrm>
            <a:off x="1022350" y="2891631"/>
            <a:ext cx="165348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3D4757"/>
                </a:solidFill>
                <a:latin typeface="Noto Sans KR" pitchFamily="34" charset="0"/>
                <a:ea typeface="Noto Sans KR" pitchFamily="34" charset="-122"/>
                <a:cs typeface="Noto Sans KR" pitchFamily="34" charset="-120"/>
              </a:rPr>
              <a:t>원천 3종 · 인코딩 · 품질 문제를 숫자로</a:t>
            </a:r>
            <a:endParaRPr lang="en-US" sz="1300" dirty="0"/>
          </a:p>
        </p:txBody>
      </p:sp>
      <p:sp>
        <p:nvSpPr>
          <p:cNvPr id="8" name="Shape 6"/>
          <p:cNvSpPr/>
          <p:nvPr/>
        </p:nvSpPr>
        <p:spPr>
          <a:xfrm>
            <a:off x="2952055" y="1816695"/>
            <a:ext cx="2015530" cy="1776611"/>
          </a:xfrm>
          <a:prstGeom prst="roundRect">
            <a:avLst>
              <a:gd name="adj" fmla="val 5540"/>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3158430" y="2023070"/>
            <a:ext cx="1653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2 · 기준</a:t>
            </a:r>
            <a:endParaRPr lang="en-US" sz="1200" dirty="0"/>
          </a:p>
        </p:txBody>
      </p:sp>
      <p:sp>
        <p:nvSpPr>
          <p:cNvPr id="10" name="Text 8"/>
          <p:cNvSpPr/>
          <p:nvPr/>
        </p:nvSpPr>
        <p:spPr>
          <a:xfrm>
            <a:off x="3158430" y="2299891"/>
            <a:ext cx="16535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B2A44"/>
                </a:solidFill>
                <a:latin typeface="Noto Sans KR" pitchFamily="34" charset="0"/>
                <a:ea typeface="Noto Sans KR" pitchFamily="34" charset="-122"/>
                <a:cs typeface="Noto Sans KR" pitchFamily="34" charset="-120"/>
              </a:rPr>
              <a:t>무엇을 약속했나</a:t>
            </a:r>
            <a:endParaRPr lang="en-US" sz="1600" dirty="0"/>
          </a:p>
        </p:txBody>
      </p:sp>
      <p:sp>
        <p:nvSpPr>
          <p:cNvPr id="11" name="Text 9"/>
          <p:cNvSpPr/>
          <p:nvPr/>
        </p:nvSpPr>
        <p:spPr>
          <a:xfrm>
            <a:off x="3158430" y="2627511"/>
            <a:ext cx="165358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3D4757"/>
                </a:solidFill>
                <a:latin typeface="Noto Sans KR" pitchFamily="34" charset="0"/>
                <a:ea typeface="Noto Sans KR" pitchFamily="34" charset="-122"/>
                <a:cs typeface="Noto Sans KR" pitchFamily="34" charset="-120"/>
              </a:rPr>
              <a:t>표준 사전 · 매핑표 · 변환 규칙</a:t>
            </a:r>
            <a:endParaRPr lang="en-US" sz="1300" dirty="0"/>
          </a:p>
        </p:txBody>
      </p:sp>
      <p:sp>
        <p:nvSpPr>
          <p:cNvPr id="12" name="Shape 10"/>
          <p:cNvSpPr/>
          <p:nvPr/>
        </p:nvSpPr>
        <p:spPr>
          <a:xfrm>
            <a:off x="5088235" y="1816695"/>
            <a:ext cx="2015430" cy="1776611"/>
          </a:xfrm>
          <a:prstGeom prst="roundRect">
            <a:avLst>
              <a:gd name="adj" fmla="val 5540"/>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5294610" y="2023070"/>
            <a:ext cx="16534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3 · 처리</a:t>
            </a:r>
            <a:endParaRPr lang="en-US" sz="1200" dirty="0"/>
          </a:p>
        </p:txBody>
      </p:sp>
      <p:sp>
        <p:nvSpPr>
          <p:cNvPr id="14" name="Text 12"/>
          <p:cNvSpPr/>
          <p:nvPr/>
        </p:nvSpPr>
        <p:spPr>
          <a:xfrm>
            <a:off x="5294610" y="2299891"/>
            <a:ext cx="16534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B2A44"/>
                </a:solidFill>
                <a:latin typeface="Noto Sans KR" pitchFamily="34" charset="0"/>
                <a:ea typeface="Noto Sans KR" pitchFamily="34" charset="-122"/>
                <a:cs typeface="Noto Sans KR" pitchFamily="34" charset="-120"/>
              </a:rPr>
              <a:t>어떻게 바꿨나</a:t>
            </a:r>
            <a:endParaRPr lang="en-US" sz="1600" dirty="0"/>
          </a:p>
        </p:txBody>
      </p:sp>
      <p:sp>
        <p:nvSpPr>
          <p:cNvPr id="15" name="Text 13"/>
          <p:cNvSpPr/>
          <p:nvPr/>
        </p:nvSpPr>
        <p:spPr>
          <a:xfrm>
            <a:off x="5294610" y="2627511"/>
            <a:ext cx="1653480"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3D4757"/>
                </a:solidFill>
                <a:latin typeface="Noto Sans KR" pitchFamily="34" charset="0"/>
                <a:ea typeface="Noto Sans KR" pitchFamily="34" charset="-122"/>
                <a:cs typeface="Noto Sans KR" pitchFamily="34" charset="-120"/>
              </a:rPr>
              <a:t>모델 · DDL · ETL</a:t>
            </a:r>
            <a:endParaRPr lang="en-US" sz="1300" dirty="0"/>
          </a:p>
        </p:txBody>
      </p:sp>
      <p:sp>
        <p:nvSpPr>
          <p:cNvPr id="16" name="Shape 14"/>
          <p:cNvSpPr/>
          <p:nvPr/>
        </p:nvSpPr>
        <p:spPr>
          <a:xfrm>
            <a:off x="7224316" y="1816695"/>
            <a:ext cx="2015530" cy="1776611"/>
          </a:xfrm>
          <a:prstGeom prst="roundRect">
            <a:avLst>
              <a:gd name="adj" fmla="val 5540"/>
            </a:avLst>
          </a:prstGeom>
          <a:solidFill>
            <a:srgbClr val="FFFDF8"/>
          </a:solidFill>
          <a:ln w="6350">
            <a:solidFill>
              <a:srgbClr val="D9D4C7"/>
            </a:solidFill>
            <a:prstDash val="solid"/>
          </a:ln>
        </p:spPr>
        <p:txBody>
          <a:bodyPr/>
          <a:lstStyle/>
          <a:p>
            <a:endParaRPr lang="ko-KR" altLang="en-US"/>
          </a:p>
        </p:txBody>
      </p:sp>
      <p:sp>
        <p:nvSpPr>
          <p:cNvPr id="17" name="Text 15"/>
          <p:cNvSpPr/>
          <p:nvPr/>
        </p:nvSpPr>
        <p:spPr>
          <a:xfrm>
            <a:off x="7430691" y="2023070"/>
            <a:ext cx="1653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4 · 검증</a:t>
            </a:r>
            <a:endParaRPr lang="en-US" sz="1200" dirty="0"/>
          </a:p>
        </p:txBody>
      </p:sp>
      <p:sp>
        <p:nvSpPr>
          <p:cNvPr id="18" name="Text 16"/>
          <p:cNvSpPr/>
          <p:nvPr/>
        </p:nvSpPr>
        <p:spPr>
          <a:xfrm>
            <a:off x="7430691" y="2299891"/>
            <a:ext cx="16535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B2A44"/>
                </a:solidFill>
                <a:latin typeface="Noto Sans KR" pitchFamily="34" charset="0"/>
                <a:ea typeface="Noto Sans KR" pitchFamily="34" charset="-122"/>
                <a:cs typeface="Noto Sans KR" pitchFamily="34" charset="-120"/>
              </a:rPr>
              <a:t>맞다는 증거는</a:t>
            </a:r>
            <a:endParaRPr lang="en-US" sz="1600" dirty="0"/>
          </a:p>
        </p:txBody>
      </p:sp>
      <p:sp>
        <p:nvSpPr>
          <p:cNvPr id="19" name="Text 17"/>
          <p:cNvSpPr/>
          <p:nvPr/>
        </p:nvSpPr>
        <p:spPr>
          <a:xfrm>
            <a:off x="7430691" y="2627511"/>
            <a:ext cx="165358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3D4757"/>
                </a:solidFill>
                <a:latin typeface="Noto Sans KR" pitchFamily="34" charset="0"/>
                <a:ea typeface="Noto Sans KR" pitchFamily="34" charset="-122"/>
                <a:cs typeface="Noto Sans KR" pitchFamily="34" charset="-120"/>
              </a:rPr>
              <a:t>건수·합계 대조 · 검사 결과 · 재실행</a:t>
            </a:r>
            <a:endParaRPr lang="en-US" sz="1300" dirty="0"/>
          </a:p>
        </p:txBody>
      </p:sp>
      <p:sp>
        <p:nvSpPr>
          <p:cNvPr id="20" name="Shape 18"/>
          <p:cNvSpPr/>
          <p:nvPr/>
        </p:nvSpPr>
        <p:spPr>
          <a:xfrm>
            <a:off x="9360495" y="1816695"/>
            <a:ext cx="2015530" cy="1776611"/>
          </a:xfrm>
          <a:prstGeom prst="roundRect">
            <a:avLst>
              <a:gd name="adj" fmla="val 5540"/>
            </a:avLst>
          </a:prstGeom>
          <a:solidFill>
            <a:srgbClr val="FFFDF8"/>
          </a:solidFill>
          <a:ln w="6350">
            <a:solidFill>
              <a:srgbClr val="D9D4C7"/>
            </a:solidFill>
            <a:prstDash val="solid"/>
          </a:ln>
        </p:spPr>
        <p:txBody>
          <a:bodyPr/>
          <a:lstStyle/>
          <a:p>
            <a:endParaRPr lang="ko-KR" altLang="en-US"/>
          </a:p>
        </p:txBody>
      </p:sp>
      <p:sp>
        <p:nvSpPr>
          <p:cNvPr id="21" name="Text 19"/>
          <p:cNvSpPr/>
          <p:nvPr/>
        </p:nvSpPr>
        <p:spPr>
          <a:xfrm>
            <a:off x="9566870" y="2023070"/>
            <a:ext cx="1653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5 · 결과</a:t>
            </a:r>
            <a:endParaRPr lang="en-US" sz="1200" dirty="0"/>
          </a:p>
        </p:txBody>
      </p:sp>
      <p:sp>
        <p:nvSpPr>
          <p:cNvPr id="22" name="Text 20"/>
          <p:cNvSpPr/>
          <p:nvPr/>
        </p:nvSpPr>
        <p:spPr>
          <a:xfrm>
            <a:off x="9566870" y="2299891"/>
            <a:ext cx="16535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B2A44"/>
                </a:solidFill>
                <a:latin typeface="Noto Sans KR" pitchFamily="34" charset="0"/>
                <a:ea typeface="Noto Sans KR" pitchFamily="34" charset="-122"/>
                <a:cs typeface="Noto Sans KR" pitchFamily="34" charset="-120"/>
              </a:rPr>
              <a:t>무엇이 남았나</a:t>
            </a:r>
            <a:endParaRPr lang="en-US" sz="1600" dirty="0"/>
          </a:p>
        </p:txBody>
      </p:sp>
      <p:sp>
        <p:nvSpPr>
          <p:cNvPr id="23" name="Text 21"/>
          <p:cNvSpPr/>
          <p:nvPr/>
        </p:nvSpPr>
        <p:spPr>
          <a:xfrm>
            <a:off x="9566870" y="2627511"/>
            <a:ext cx="165358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3D4757"/>
                </a:solidFill>
                <a:latin typeface="Noto Sans KR" pitchFamily="34" charset="0"/>
                <a:ea typeface="Noto Sans KR" pitchFamily="34" charset="-122"/>
                <a:cs typeface="Noto Sans KR" pitchFamily="34" charset="-120"/>
              </a:rPr>
              <a:t>정상·제거·제외·격리 숫자 · 활용 데이터</a:t>
            </a:r>
            <a:endParaRPr lang="en-US" sz="1300" dirty="0"/>
          </a:p>
        </p:txBody>
      </p:sp>
      <p:sp>
        <p:nvSpPr>
          <p:cNvPr id="24" name="Shape 22"/>
          <p:cNvSpPr/>
          <p:nvPr/>
        </p:nvSpPr>
        <p:spPr>
          <a:xfrm>
            <a:off x="812800" y="3850481"/>
            <a:ext cx="10566400" cy="1282601"/>
          </a:xfrm>
          <a:prstGeom prst="roundRect">
            <a:avLst>
              <a:gd name="adj" fmla="val 5941"/>
            </a:avLst>
          </a:prstGeom>
          <a:solidFill>
            <a:srgbClr val="E3EFE7"/>
          </a:solidFill>
          <a:ln/>
        </p:spPr>
        <p:txBody>
          <a:bodyPr/>
          <a:lstStyle/>
          <a:p>
            <a:endParaRPr lang="ko-KR" altLang="en-US"/>
          </a:p>
        </p:txBody>
      </p:sp>
      <p:sp>
        <p:nvSpPr>
          <p:cNvPr id="25" name="Shape 23"/>
          <p:cNvSpPr/>
          <p:nvPr/>
        </p:nvSpPr>
        <p:spPr>
          <a:xfrm>
            <a:off x="812800" y="3850481"/>
            <a:ext cx="10566400" cy="1282601"/>
          </a:xfrm>
          <a:custGeom>
            <a:avLst/>
            <a:gdLst/>
            <a:ahLst/>
            <a:cxnLst/>
            <a:rect l="l" t="t" r="r" b="b"/>
            <a:pathLst>
              <a:path w="10566400" h="1282601">
                <a:moveTo>
                  <a:pt x="76200" y="1282601"/>
                </a:moveTo>
                <a:lnTo>
                  <a:pt x="76200" y="1282601"/>
                </a:lnTo>
                <a:arcTo wR="76200" hR="76200" stAng="5400000" swAng="5400000"/>
                <a:lnTo>
                  <a:pt x="0" y="76200"/>
                </a:lnTo>
                <a:arcTo wR="76200" hR="76200" stAng="10800000" swAng="5400000"/>
                <a:lnTo>
                  <a:pt x="76200" y="0"/>
                </a:lnTo>
                <a:arcTo wR="25400" hR="76200" stAng="16200000" swAng="-5400000"/>
                <a:lnTo>
                  <a:pt x="50800" y="1206401"/>
                </a:lnTo>
                <a:arcTo wR="25400" hR="76200" stAng="10800000" swAng="-5400000"/>
                <a:close/>
              </a:path>
            </a:pathLst>
          </a:custGeom>
          <a:solidFill>
            <a:srgbClr val="2E6B4F"/>
          </a:solidFill>
          <a:ln/>
        </p:spPr>
        <p:txBody>
          <a:bodyPr/>
          <a:lstStyle/>
          <a:p>
            <a:endParaRPr lang="ko-KR" altLang="en-US"/>
          </a:p>
        </p:txBody>
      </p:sp>
      <p:sp>
        <p:nvSpPr>
          <p:cNvPr id="26" name="Text 24"/>
          <p:cNvSpPr/>
          <p:nvPr/>
        </p:nvSpPr>
        <p:spPr>
          <a:xfrm>
            <a:off x="1117600" y="4053681"/>
            <a:ext cx="103078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3573F"/>
                </a:solidFill>
                <a:latin typeface="Noto Sans KR" pitchFamily="34" charset="0"/>
                <a:ea typeface="Noto Sans KR" pitchFamily="34" charset="-122"/>
                <a:cs typeface="Noto Sans KR" pitchFamily="34" charset="-120"/>
              </a:rPr>
              <a:t>예 — 이 과목의 공통 데이터로 쓴다면</a:t>
            </a:r>
            <a:endParaRPr lang="en-US" sz="1300" dirty="0"/>
          </a:p>
        </p:txBody>
      </p:sp>
      <p:sp>
        <p:nvSpPr>
          <p:cNvPr id="27" name="Text 25"/>
          <p:cNvSpPr/>
          <p:nvPr/>
        </p:nvSpPr>
        <p:spPr>
          <a:xfrm>
            <a:off x="1117600" y="4360962"/>
            <a:ext cx="10307828"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2B3A33"/>
                </a:solidFill>
                <a:latin typeface="Noto Sans KR" pitchFamily="34" charset="0"/>
                <a:ea typeface="Noto Sans KR" pitchFamily="34" charset="-122"/>
                <a:cs typeface="Noto Sans KR" pitchFamily="34" charset="-120"/>
              </a:rPr>
              <a:t>주문 3,952행 → 정상 2,915 · 제거 20 · 제외 899 · 격리 118. 네 숫자의 합이 원래 행 수와 같다는 한 줄이, '데이터를 한 줄도 잃지 않았다'는 가장 강한 증거가 됩니다.</a:t>
            </a:r>
            <a:endParaRPr lang="en-US" sz="14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55 / 60</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이력서 한 줄 쓰기</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무엇을 썼는지보다, 무엇을 어떻게 판단했는지를 씁니다</a:t>
            </a:r>
            <a:endParaRPr lang="en-US" sz="3000" dirty="0"/>
          </a:p>
        </p:txBody>
      </p:sp>
      <p:sp>
        <p:nvSpPr>
          <p:cNvPr id="4" name="Text 2"/>
          <p:cNvSpPr/>
          <p:nvPr/>
        </p:nvSpPr>
        <p:spPr>
          <a:xfrm>
            <a:off x="812800" y="1813520"/>
            <a:ext cx="10883392" cy="289520"/>
          </a:xfrm>
          <a:prstGeom prst="rect">
            <a:avLst/>
          </a:prstGeom>
          <a:noFill/>
          <a:ln/>
        </p:spPr>
        <p:txBody>
          <a:bodyPr wrap="square" lIns="0" tIns="0" rIns="0" bIns="0" rtlCol="0" anchor="t">
            <a:normAutofit/>
          </a:bodyPr>
          <a:lstStyle/>
          <a:p>
            <a:pPr marL="0" indent="0" algn="l">
              <a:lnSpc>
                <a:spcPts val="2080"/>
              </a:lnSpc>
              <a:buNone/>
            </a:pPr>
            <a:r>
              <a:rPr lang="en-US" sz="1300" b="1" dirty="0">
                <a:solidFill>
                  <a:srgbClr val="A3231B"/>
                </a:solidFill>
                <a:latin typeface="Noto Sans KR" pitchFamily="34" charset="0"/>
                <a:ea typeface="Noto Sans KR" pitchFamily="34" charset="-122"/>
                <a:cs typeface="Noto Sans KR" pitchFamily="34" charset="-120"/>
              </a:rPr>
              <a:t>흔히 쓰는 문장</a:t>
            </a:r>
            <a:endParaRPr lang="en-US" sz="1300" dirty="0"/>
          </a:p>
        </p:txBody>
      </p:sp>
      <p:sp>
        <p:nvSpPr>
          <p:cNvPr id="5" name="Shape 3"/>
          <p:cNvSpPr/>
          <p:nvPr/>
        </p:nvSpPr>
        <p:spPr>
          <a:xfrm>
            <a:off x="815975" y="2144316"/>
            <a:ext cx="10560050" cy="647700"/>
          </a:xfrm>
          <a:prstGeom prst="roundRect">
            <a:avLst>
              <a:gd name="adj" fmla="val 11275"/>
            </a:avLst>
          </a:prstGeom>
          <a:solidFill>
            <a:srgbClr val="FBE9E6"/>
          </a:solidFill>
          <a:ln w="6350">
            <a:solidFill>
              <a:srgbClr val="E3A69F"/>
            </a:solidFill>
            <a:prstDash val="solid"/>
          </a:ln>
        </p:spPr>
        <p:txBody>
          <a:bodyPr/>
          <a:lstStyle/>
          <a:p>
            <a:endParaRPr lang="ko-KR" altLang="en-US"/>
          </a:p>
        </p:txBody>
      </p:sp>
      <p:sp>
        <p:nvSpPr>
          <p:cNvPr id="6" name="Text 4"/>
          <p:cNvSpPr/>
          <p:nvPr/>
        </p:nvSpPr>
        <p:spPr>
          <a:xfrm>
            <a:off x="1047750" y="2325291"/>
            <a:ext cx="10399395"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3D4757"/>
                </a:solidFill>
                <a:latin typeface="Noto Sans KR" pitchFamily="34" charset="0"/>
                <a:ea typeface="Noto Sans KR" pitchFamily="34" charset="-122"/>
                <a:cs typeface="Noto Sans KR" pitchFamily="34" charset="-120"/>
              </a:rPr>
              <a:t>Pandas를 이용해 데이터 전처리를 수행했습니다.</a:t>
            </a:r>
            <a:endParaRPr lang="en-US" sz="1500" dirty="0"/>
          </a:p>
        </p:txBody>
      </p:sp>
      <p:sp>
        <p:nvSpPr>
          <p:cNvPr id="7" name="Text 5"/>
          <p:cNvSpPr/>
          <p:nvPr/>
        </p:nvSpPr>
        <p:spPr>
          <a:xfrm>
            <a:off x="812800" y="2972991"/>
            <a:ext cx="10883392" cy="289520"/>
          </a:xfrm>
          <a:prstGeom prst="rect">
            <a:avLst/>
          </a:prstGeom>
          <a:noFill/>
          <a:ln/>
        </p:spPr>
        <p:txBody>
          <a:bodyPr wrap="square" lIns="0" tIns="0" rIns="0" bIns="0" rtlCol="0" anchor="t">
            <a:normAutofit/>
          </a:bodyPr>
          <a:lstStyle/>
          <a:p>
            <a:pPr marL="0" indent="0" algn="l">
              <a:lnSpc>
                <a:spcPts val="2080"/>
              </a:lnSpc>
              <a:buNone/>
            </a:pPr>
            <a:r>
              <a:rPr lang="en-US" sz="1300" b="1" dirty="0">
                <a:solidFill>
                  <a:srgbClr val="2458A6"/>
                </a:solidFill>
                <a:latin typeface="Noto Sans KR" pitchFamily="34" charset="0"/>
                <a:ea typeface="Noto Sans KR" pitchFamily="34" charset="-122"/>
                <a:cs typeface="Noto Sans KR" pitchFamily="34" charset="-120"/>
              </a:rPr>
              <a:t>이 과목을 마친 뒤 쓸 수 있는 문장</a:t>
            </a:r>
            <a:endParaRPr lang="en-US" sz="1300" dirty="0"/>
          </a:p>
        </p:txBody>
      </p:sp>
      <p:sp>
        <p:nvSpPr>
          <p:cNvPr id="8" name="Shape 6"/>
          <p:cNvSpPr/>
          <p:nvPr/>
        </p:nvSpPr>
        <p:spPr>
          <a:xfrm>
            <a:off x="815975" y="3303786"/>
            <a:ext cx="10560050" cy="971550"/>
          </a:xfrm>
          <a:prstGeom prst="roundRect">
            <a:avLst>
              <a:gd name="adj" fmla="val 7516"/>
            </a:avLst>
          </a:prstGeom>
          <a:solidFill>
            <a:srgbClr val="E4ECF7"/>
          </a:solidFill>
          <a:ln w="6350">
            <a:solidFill>
              <a:srgbClr val="9DB6DC"/>
            </a:solidFill>
            <a:prstDash val="solid"/>
          </a:ln>
        </p:spPr>
        <p:txBody>
          <a:bodyPr/>
          <a:lstStyle/>
          <a:p>
            <a:endParaRPr lang="ko-KR" altLang="en-US"/>
          </a:p>
        </p:txBody>
      </p:sp>
      <p:sp>
        <p:nvSpPr>
          <p:cNvPr id="9" name="Text 7"/>
          <p:cNvSpPr/>
          <p:nvPr/>
        </p:nvSpPr>
        <p:spPr>
          <a:xfrm>
            <a:off x="1047750" y="3484761"/>
            <a:ext cx="10399395" cy="635000"/>
          </a:xfrm>
          <a:prstGeom prst="rect">
            <a:avLst/>
          </a:prstGeom>
          <a:noFill/>
          <a:ln/>
        </p:spPr>
        <p:txBody>
          <a:bodyPr wrap="square" lIns="0" tIns="0" rIns="0" bIns="0" rtlCol="0" anchor="t">
            <a:normAutofit/>
          </a:bodyPr>
          <a:lstStyle/>
          <a:p>
            <a:pPr marL="0" indent="0" algn="l">
              <a:lnSpc>
                <a:spcPts val="2400"/>
              </a:lnSpc>
              <a:buNone/>
            </a:pPr>
            <a:r>
              <a:rPr lang="en-US" sz="1500" dirty="0">
                <a:solidFill>
                  <a:srgbClr val="1B2A44"/>
                </a:solidFill>
                <a:latin typeface="Noto Sans KR" pitchFamily="34" charset="0"/>
                <a:ea typeface="Noto Sans KR" pitchFamily="34" charset="-122"/>
                <a:cs typeface="Noto Sans KR" pitchFamily="34" charset="-120"/>
              </a:rPr>
              <a:t>인코딩과 형식이 다른 원천 3종의 컬럼명·코드를 표준 사전(단어 33 · 도메인 13 · 용어 27 · 코드 19)으로 통일하고, 판단할 수 없는 118행은 삭제하지 않고 근거와 함께 격리해 원본 3,952행과 처리 결과의 건수를 일치시켰습니다.</a:t>
            </a:r>
            <a:endParaRPr lang="en-US" sz="1500" dirty="0"/>
          </a:p>
        </p:txBody>
      </p:sp>
      <p:sp>
        <p:nvSpPr>
          <p:cNvPr id="10" name="Text 8"/>
          <p:cNvSpPr/>
          <p:nvPr/>
        </p:nvSpPr>
        <p:spPr>
          <a:xfrm>
            <a:off x="812800" y="4532511"/>
            <a:ext cx="10883392" cy="2895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5E6673"/>
                </a:solidFill>
                <a:latin typeface="Noto Sans KR" pitchFamily="34" charset="0"/>
                <a:ea typeface="Noto Sans KR" pitchFamily="34" charset="-122"/>
                <a:cs typeface="Noto Sans KR" pitchFamily="34" charset="-120"/>
              </a:rPr>
              <a:t>괄호 안 숫자는 공통 데이터 기준 예시입니다. 여러분이 직접 만든 숫자로 바꿔 쓰세요.</a:t>
            </a:r>
            <a:endParaRPr lang="en-US" sz="13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56 / 60</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면접에서 나오는 질문</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상황 → 기준 → 근거 → 숫자, 네 박자로 답합니다</a:t>
            </a:r>
            <a:endParaRPr lang="en-US" sz="3000" dirty="0"/>
          </a:p>
        </p:txBody>
      </p:sp>
      <p:sp>
        <p:nvSpPr>
          <p:cNvPr id="4" name="Shape 2"/>
          <p:cNvSpPr/>
          <p:nvPr/>
        </p:nvSpPr>
        <p:spPr>
          <a:xfrm>
            <a:off x="815975" y="1816695"/>
            <a:ext cx="4612878" cy="559991"/>
          </a:xfrm>
          <a:prstGeom prst="roundRect">
            <a:avLst>
              <a:gd name="adj" fmla="val 13040"/>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22350" y="1972270"/>
            <a:ext cx="432613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44"/>
                </a:solidFill>
                <a:latin typeface="Noto Sans KR" pitchFamily="34" charset="0"/>
                <a:ea typeface="Noto Sans KR" pitchFamily="34" charset="-122"/>
                <a:cs typeface="Noto Sans KR" pitchFamily="34" charset="-120"/>
              </a:rPr>
              <a:t>Q. 결측치나 이상한 값은 어떻게 처리했나요?</a:t>
            </a:r>
            <a:endParaRPr lang="en-US" sz="1400" dirty="0"/>
          </a:p>
        </p:txBody>
      </p:sp>
      <p:sp>
        <p:nvSpPr>
          <p:cNvPr id="6" name="Shape 4"/>
          <p:cNvSpPr/>
          <p:nvPr/>
        </p:nvSpPr>
        <p:spPr>
          <a:xfrm>
            <a:off x="815975" y="2484636"/>
            <a:ext cx="4612878" cy="559991"/>
          </a:xfrm>
          <a:prstGeom prst="roundRect">
            <a:avLst>
              <a:gd name="adj" fmla="val 13040"/>
            </a:avLst>
          </a:prstGeom>
          <a:solidFill>
            <a:srgbClr val="FFFDF8"/>
          </a:solidFill>
          <a:ln w="6350">
            <a:solidFill>
              <a:srgbClr val="D9D4C7"/>
            </a:solidFill>
            <a:prstDash val="solid"/>
          </a:ln>
        </p:spPr>
        <p:txBody>
          <a:bodyPr/>
          <a:lstStyle/>
          <a:p>
            <a:endParaRPr lang="ko-KR" altLang="en-US"/>
          </a:p>
        </p:txBody>
      </p:sp>
      <p:sp>
        <p:nvSpPr>
          <p:cNvPr id="7" name="Text 5"/>
          <p:cNvSpPr/>
          <p:nvPr/>
        </p:nvSpPr>
        <p:spPr>
          <a:xfrm>
            <a:off x="1022350" y="2640211"/>
            <a:ext cx="432613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44"/>
                </a:solidFill>
                <a:latin typeface="Noto Sans KR" pitchFamily="34" charset="0"/>
                <a:ea typeface="Noto Sans KR" pitchFamily="34" charset="-122"/>
                <a:cs typeface="Noto Sans KR" pitchFamily="34" charset="-120"/>
              </a:rPr>
              <a:t>Q. 그냥 삭제하면 안 되는 이유가 있나요?</a:t>
            </a:r>
            <a:endParaRPr lang="en-US" sz="1400" dirty="0"/>
          </a:p>
        </p:txBody>
      </p:sp>
      <p:sp>
        <p:nvSpPr>
          <p:cNvPr id="8" name="Shape 6"/>
          <p:cNvSpPr/>
          <p:nvPr/>
        </p:nvSpPr>
        <p:spPr>
          <a:xfrm>
            <a:off x="815975" y="3152577"/>
            <a:ext cx="4612878" cy="559991"/>
          </a:xfrm>
          <a:prstGeom prst="roundRect">
            <a:avLst>
              <a:gd name="adj" fmla="val 13040"/>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1022350" y="3308152"/>
            <a:ext cx="432613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44"/>
                </a:solidFill>
                <a:latin typeface="Noto Sans KR" pitchFamily="34" charset="0"/>
                <a:ea typeface="Noto Sans KR" pitchFamily="34" charset="-122"/>
                <a:cs typeface="Noto Sans KR" pitchFamily="34" charset="-120"/>
              </a:rPr>
              <a:t>Q. 같은 코드를 다시 돌리면 결과가 같나요?</a:t>
            </a:r>
            <a:endParaRPr lang="en-US" sz="1400" dirty="0"/>
          </a:p>
        </p:txBody>
      </p:sp>
      <p:sp>
        <p:nvSpPr>
          <p:cNvPr id="10" name="Shape 8"/>
          <p:cNvSpPr/>
          <p:nvPr/>
        </p:nvSpPr>
        <p:spPr>
          <a:xfrm>
            <a:off x="815975" y="3820517"/>
            <a:ext cx="4612878" cy="559991"/>
          </a:xfrm>
          <a:prstGeom prst="roundRect">
            <a:avLst>
              <a:gd name="adj" fmla="val 13040"/>
            </a:avLst>
          </a:prstGeom>
          <a:solidFill>
            <a:srgbClr val="FFFDF8"/>
          </a:solidFill>
          <a:ln w="6350">
            <a:solidFill>
              <a:srgbClr val="D9D4C7"/>
            </a:solidFill>
            <a:prstDash val="solid"/>
          </a:ln>
        </p:spPr>
        <p:txBody>
          <a:bodyPr/>
          <a:lstStyle/>
          <a:p>
            <a:endParaRPr lang="ko-KR" altLang="en-US"/>
          </a:p>
        </p:txBody>
      </p:sp>
      <p:sp>
        <p:nvSpPr>
          <p:cNvPr id="11" name="Text 9"/>
          <p:cNvSpPr/>
          <p:nvPr/>
        </p:nvSpPr>
        <p:spPr>
          <a:xfrm>
            <a:off x="1022350" y="3976092"/>
            <a:ext cx="432613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A44"/>
                </a:solidFill>
                <a:latin typeface="Noto Sans KR" pitchFamily="34" charset="0"/>
                <a:ea typeface="Noto Sans KR" pitchFamily="34" charset="-122"/>
                <a:cs typeface="Noto Sans KR" pitchFamily="34" charset="-120"/>
              </a:rPr>
              <a:t>Q. 처리 결과가 맞다는 걸 어떻게 확인했나요?</a:t>
            </a:r>
            <a:endParaRPr lang="en-US" sz="1400" dirty="0"/>
          </a:p>
        </p:txBody>
      </p:sp>
      <p:sp>
        <p:nvSpPr>
          <p:cNvPr id="12" name="Shape 10"/>
          <p:cNvSpPr/>
          <p:nvPr/>
        </p:nvSpPr>
        <p:spPr>
          <a:xfrm>
            <a:off x="5660628" y="1813520"/>
            <a:ext cx="5718572" cy="2570163"/>
          </a:xfrm>
          <a:prstGeom prst="roundRect">
            <a:avLst>
              <a:gd name="adj" fmla="val 3953"/>
            </a:avLst>
          </a:prstGeom>
          <a:solidFill>
            <a:srgbClr val="E4ECF7"/>
          </a:solidFill>
          <a:ln/>
        </p:spPr>
        <p:txBody>
          <a:bodyPr/>
          <a:lstStyle/>
          <a:p>
            <a:endParaRPr lang="ko-KR" altLang="en-US"/>
          </a:p>
        </p:txBody>
      </p:sp>
      <p:sp>
        <p:nvSpPr>
          <p:cNvPr id="13" name="Text 11"/>
          <p:cNvSpPr/>
          <p:nvPr/>
        </p:nvSpPr>
        <p:spPr>
          <a:xfrm>
            <a:off x="5863828" y="2016720"/>
            <a:ext cx="5471537" cy="289520"/>
          </a:xfrm>
          <a:prstGeom prst="rect">
            <a:avLst/>
          </a:prstGeom>
          <a:noFill/>
          <a:ln/>
        </p:spPr>
        <p:txBody>
          <a:bodyPr wrap="square" lIns="0" tIns="0" rIns="0" bIns="0" rtlCol="0" anchor="t">
            <a:normAutofit/>
          </a:bodyPr>
          <a:lstStyle/>
          <a:p>
            <a:pPr marL="0" indent="0" algn="l">
              <a:lnSpc>
                <a:spcPts val="2080"/>
              </a:lnSpc>
              <a:buNone/>
            </a:pPr>
            <a:r>
              <a:rPr lang="en-US" sz="1300" b="1" dirty="0">
                <a:solidFill>
                  <a:srgbClr val="2458A6"/>
                </a:solidFill>
                <a:latin typeface="Noto Sans KR" pitchFamily="34" charset="0"/>
                <a:ea typeface="Noto Sans KR" pitchFamily="34" charset="-122"/>
                <a:cs typeface="Noto Sans KR" pitchFamily="34" charset="-120"/>
              </a:rPr>
              <a:t>답하는 틀 — 첫 번째 질문의 예</a:t>
            </a:r>
            <a:endParaRPr lang="en-US" sz="1300" dirty="0"/>
          </a:p>
        </p:txBody>
      </p:sp>
      <p:sp>
        <p:nvSpPr>
          <p:cNvPr id="14" name="Text 12"/>
          <p:cNvSpPr/>
          <p:nvPr/>
        </p:nvSpPr>
        <p:spPr>
          <a:xfrm>
            <a:off x="5863828" y="2369741"/>
            <a:ext cx="5471537" cy="1147763"/>
          </a:xfrm>
          <a:prstGeom prst="rect">
            <a:avLst/>
          </a:prstGeom>
          <a:noFill/>
          <a:ln/>
        </p:spPr>
        <p:txBody>
          <a:bodyPr wrap="square" lIns="0" tIns="0" rIns="0" bIns="0" rtlCol="0" anchor="t">
            <a:normAutofit/>
          </a:bodyPr>
          <a:lstStyle/>
          <a:p>
            <a:pPr marL="0" indent="0" algn="l">
              <a:lnSpc>
                <a:spcPts val="2210"/>
              </a:lnSpc>
              <a:buNone/>
            </a:pPr>
            <a:r>
              <a:rPr lang="en-US" sz="1300" b="1" dirty="0">
                <a:solidFill>
                  <a:srgbClr val="3D4757"/>
                </a:solidFill>
                <a:latin typeface="Noto Sans KR" pitchFamily="34" charset="0"/>
                <a:ea typeface="Noto Sans KR" pitchFamily="34" charset="-122"/>
                <a:cs typeface="Noto Sans KR" pitchFamily="34" charset="-120"/>
              </a:rPr>
              <a:t>상황</a:t>
            </a:r>
            <a:r>
              <a:rPr lang="en-US" sz="1300" dirty="0">
                <a:solidFill>
                  <a:srgbClr val="3D4757"/>
                </a:solidFill>
                <a:latin typeface="Noto Sans KR" pitchFamily="34" charset="0"/>
                <a:ea typeface="Noto Sans KR" pitchFamily="34" charset="-122"/>
                <a:cs typeface="Noto Sans KR" pitchFamily="34" charset="-120"/>
              </a:rPr>
              <a:t> 주문 파일에 고객번호가 고객 목록에 없는 줄이 있었습니다.</a:t>
            </a:r>
            <a:endParaRPr lang="en-US" sz="1300" dirty="0"/>
          </a:p>
          <a:p>
            <a:pPr marL="0" indent="0" algn="l">
              <a:lnSpc>
                <a:spcPts val="2210"/>
              </a:lnSpc>
              <a:buNone/>
            </a:pPr>
            <a:r>
              <a:rPr lang="en-US" sz="1300" b="1" dirty="0">
                <a:solidFill>
                  <a:srgbClr val="3D4757"/>
                </a:solidFill>
                <a:latin typeface="Noto Sans KR" pitchFamily="34" charset="0"/>
                <a:ea typeface="Noto Sans KR" pitchFamily="34" charset="-122"/>
                <a:cs typeface="Noto Sans KR" pitchFamily="34" charset="-120"/>
              </a:rPr>
              <a:t>기준</a:t>
            </a:r>
            <a:r>
              <a:rPr lang="en-US" sz="1300" dirty="0">
                <a:solidFill>
                  <a:srgbClr val="3D4757"/>
                </a:solidFill>
                <a:latin typeface="Noto Sans KR" pitchFamily="34" charset="0"/>
                <a:ea typeface="Noto Sans KR" pitchFamily="34" charset="-122"/>
                <a:cs typeface="Noto Sans KR" pitchFamily="34" charset="-120"/>
              </a:rPr>
              <a:t> 비회원 주문은 제외, 판단할 수 없는 줄은 격리로 규칙을 정했습니다.</a:t>
            </a:r>
            <a:endParaRPr lang="en-US" sz="1300" dirty="0"/>
          </a:p>
          <a:p>
            <a:pPr marL="0" indent="0" algn="l">
              <a:lnSpc>
                <a:spcPts val="2210"/>
              </a:lnSpc>
              <a:buNone/>
            </a:pPr>
            <a:r>
              <a:rPr lang="en-US" sz="1300" b="1" dirty="0">
                <a:solidFill>
                  <a:srgbClr val="3D4757"/>
                </a:solidFill>
                <a:latin typeface="Noto Sans KR" pitchFamily="34" charset="0"/>
                <a:ea typeface="Noto Sans KR" pitchFamily="34" charset="-122"/>
                <a:cs typeface="Noto Sans KR" pitchFamily="34" charset="-120"/>
              </a:rPr>
              <a:t>근거</a:t>
            </a:r>
            <a:r>
              <a:rPr lang="en-US" sz="1300" dirty="0">
                <a:solidFill>
                  <a:srgbClr val="3D4757"/>
                </a:solidFill>
                <a:latin typeface="Noto Sans KR" pitchFamily="34" charset="0"/>
                <a:ea typeface="Noto Sans KR" pitchFamily="34" charset="-122"/>
                <a:cs typeface="Noto Sans KR" pitchFamily="34" charset="-120"/>
              </a:rPr>
              <a:t> 변환규칙정의서에 규칙 번호와 이유를 적었습니다.</a:t>
            </a:r>
            <a:endParaRPr lang="en-US" sz="1300" dirty="0"/>
          </a:p>
          <a:p>
            <a:pPr marL="0" indent="0" algn="l">
              <a:lnSpc>
                <a:spcPts val="2210"/>
              </a:lnSpc>
              <a:buNone/>
            </a:pPr>
            <a:r>
              <a:rPr lang="en-US" sz="1300" b="1" dirty="0">
                <a:solidFill>
                  <a:srgbClr val="3D4757"/>
                </a:solidFill>
                <a:latin typeface="Noto Sans KR" pitchFamily="34" charset="0"/>
                <a:ea typeface="Noto Sans KR" pitchFamily="34" charset="-122"/>
                <a:cs typeface="Noto Sans KR" pitchFamily="34" charset="-120"/>
              </a:rPr>
              <a:t>숫자</a:t>
            </a:r>
            <a:r>
              <a:rPr lang="en-US" sz="1300" dirty="0">
                <a:solidFill>
                  <a:srgbClr val="3D4757"/>
                </a:solidFill>
                <a:latin typeface="Noto Sans KR" pitchFamily="34" charset="0"/>
                <a:ea typeface="Noto Sans KR" pitchFamily="34" charset="-122"/>
                <a:cs typeface="Noto Sans KR" pitchFamily="34" charset="-120"/>
              </a:rPr>
              <a:t> 제외 몇 행, 격리 몇 행이고 합계가 원본과 일치합니다.</a:t>
            </a:r>
            <a:endParaRPr lang="en-US" sz="1300" dirty="0"/>
          </a:p>
        </p:txBody>
      </p:sp>
      <p:sp>
        <p:nvSpPr>
          <p:cNvPr id="15" name="Text 13"/>
          <p:cNvSpPr/>
          <p:nvPr/>
        </p:nvSpPr>
        <p:spPr>
          <a:xfrm>
            <a:off x="812800" y="4637683"/>
            <a:ext cx="10883392" cy="309860"/>
          </a:xfrm>
          <a:prstGeom prst="rect">
            <a:avLst/>
          </a:prstGeom>
          <a:noFill/>
          <a:ln/>
        </p:spPr>
        <p:txBody>
          <a:bodyPr wrap="square" lIns="0" tIns="0" rIns="0" bIns="0" rtlCol="0" anchor="t">
            <a:normAutofit/>
          </a:bodyPr>
          <a:lstStyle/>
          <a:p>
            <a:pPr marL="0" indent="0" algn="l">
              <a:lnSpc>
                <a:spcPts val="2240"/>
              </a:lnSpc>
              <a:buNone/>
            </a:pPr>
            <a:r>
              <a:rPr lang="en-US" sz="1400" b="1" dirty="0">
                <a:solidFill>
                  <a:srgbClr val="A94E12"/>
                </a:solidFill>
                <a:latin typeface="Noto Sans KR" pitchFamily="34" charset="0"/>
                <a:ea typeface="Noto Sans KR" pitchFamily="34" charset="-122"/>
                <a:cs typeface="Noto Sans KR" pitchFamily="34" charset="-120"/>
              </a:rPr>
              <a:t>10일차 개인 확인 질문이 바로 이 형식입니다. 개인 확인이 곧 면접 연습입니다.</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57 / 60</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E12"/>
                </a:solidFill>
                <a:latin typeface="Noto Sans KR" pitchFamily="34" charset="0"/>
                <a:ea typeface="Noto Sans KR" pitchFamily="34" charset="-122"/>
                <a:cs typeface="Noto Sans KR" pitchFamily="34" charset="-120"/>
              </a:rPr>
              <a:t>앞으로의 길</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B2A44"/>
                </a:solidFill>
                <a:latin typeface="Noto Sans KR" pitchFamily="34" charset="0"/>
                <a:ea typeface="Noto Sans KR" pitchFamily="34" charset="-122"/>
                <a:cs typeface="Noto Sans KR" pitchFamily="34" charset="-120"/>
              </a:rPr>
              <a:t>이 과목 다음에 무엇을 더하면 좋을까</a:t>
            </a:r>
            <a:endParaRPr lang="en-US" sz="3000" dirty="0"/>
          </a:p>
        </p:txBody>
      </p:sp>
      <p:sp>
        <p:nvSpPr>
          <p:cNvPr id="4" name="Shape 2"/>
          <p:cNvSpPr/>
          <p:nvPr/>
        </p:nvSpPr>
        <p:spPr>
          <a:xfrm>
            <a:off x="8159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5" name="Text 3"/>
          <p:cNvSpPr/>
          <p:nvPr/>
        </p:nvSpPr>
        <p:spPr>
          <a:xfrm>
            <a:off x="10477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지금 바로</a:t>
            </a:r>
            <a:endParaRPr lang="en-US" sz="1200" dirty="0"/>
          </a:p>
        </p:txBody>
      </p:sp>
      <p:sp>
        <p:nvSpPr>
          <p:cNvPr id="6" name="Text 4"/>
          <p:cNvSpPr/>
          <p:nvPr/>
        </p:nvSpPr>
        <p:spPr>
          <a:xfrm>
            <a:off x="10477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SQL을 손에 붙이기</a:t>
            </a:r>
            <a:endParaRPr lang="en-US" sz="1800" dirty="0"/>
          </a:p>
        </p:txBody>
      </p:sp>
      <p:sp>
        <p:nvSpPr>
          <p:cNvPr id="7" name="Text 5"/>
          <p:cNvSpPr/>
          <p:nvPr/>
        </p:nvSpPr>
        <p:spPr>
          <a:xfrm>
            <a:off x="10477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5~6일차 SQL을 매일 조금씩 다시 쳐 봅니다. SQLD 준비와 함께 하면 좋습니다.</a:t>
            </a:r>
            <a:endParaRPr lang="en-US" sz="1300" dirty="0"/>
          </a:p>
        </p:txBody>
      </p:sp>
      <p:sp>
        <p:nvSpPr>
          <p:cNvPr id="8" name="Shape 6"/>
          <p:cNvSpPr/>
          <p:nvPr/>
        </p:nvSpPr>
        <p:spPr>
          <a:xfrm>
            <a:off x="43973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9" name="Text 7"/>
          <p:cNvSpPr/>
          <p:nvPr/>
        </p:nvSpPr>
        <p:spPr>
          <a:xfrm>
            <a:off x="46291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8A6"/>
                </a:solidFill>
                <a:latin typeface="Noto Sans KR" pitchFamily="34" charset="0"/>
                <a:ea typeface="Noto Sans KR" pitchFamily="34" charset="-122"/>
                <a:cs typeface="Noto Sans KR" pitchFamily="34" charset="-120"/>
              </a:rPr>
              <a:t>과정 중에</a:t>
            </a:r>
            <a:endParaRPr lang="en-US" sz="1200" dirty="0"/>
          </a:p>
        </p:txBody>
      </p:sp>
      <p:sp>
        <p:nvSpPr>
          <p:cNvPr id="10" name="Text 8"/>
          <p:cNvSpPr/>
          <p:nvPr/>
        </p:nvSpPr>
        <p:spPr>
          <a:xfrm>
            <a:off x="46291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포트폴리오 저장소 만들기</a:t>
            </a:r>
            <a:endParaRPr lang="en-US" sz="1800" dirty="0"/>
          </a:p>
        </p:txBody>
      </p:sp>
      <p:sp>
        <p:nvSpPr>
          <p:cNvPr id="11" name="Text 9"/>
          <p:cNvSpPr/>
          <p:nvPr/>
        </p:nvSpPr>
        <p:spPr>
          <a:xfrm>
            <a:off x="46291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매일 만든 파일을 자기 저장소에 올리고, 하루에 한 줄씩 README를 채웁니다.</a:t>
            </a:r>
            <a:endParaRPr lang="en-US" sz="1300" dirty="0"/>
          </a:p>
        </p:txBody>
      </p:sp>
      <p:sp>
        <p:nvSpPr>
          <p:cNvPr id="12" name="Shape 10"/>
          <p:cNvSpPr/>
          <p:nvPr/>
        </p:nvSpPr>
        <p:spPr>
          <a:xfrm>
            <a:off x="7978775" y="1816695"/>
            <a:ext cx="3397250" cy="1680071"/>
          </a:xfrm>
          <a:prstGeom prst="roundRect">
            <a:avLst>
              <a:gd name="adj" fmla="val 5858"/>
            </a:avLst>
          </a:prstGeom>
          <a:solidFill>
            <a:srgbClr val="FFFDF8"/>
          </a:solidFill>
          <a:ln w="6350">
            <a:solidFill>
              <a:srgbClr val="D9D4C7"/>
            </a:solidFill>
            <a:prstDash val="solid"/>
          </a:ln>
        </p:spPr>
        <p:txBody>
          <a:bodyPr/>
          <a:lstStyle/>
          <a:p>
            <a:endParaRPr lang="ko-KR" altLang="en-US"/>
          </a:p>
        </p:txBody>
      </p:sp>
      <p:sp>
        <p:nvSpPr>
          <p:cNvPr id="13" name="Text 11"/>
          <p:cNvSpPr/>
          <p:nvPr/>
        </p:nvSpPr>
        <p:spPr>
          <a:xfrm>
            <a:off x="8210550" y="20484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E12"/>
                </a:solidFill>
                <a:latin typeface="Noto Sans KR" pitchFamily="34" charset="0"/>
                <a:ea typeface="Noto Sans KR" pitchFamily="34" charset="-122"/>
                <a:cs typeface="Noto Sans KR" pitchFamily="34" charset="-120"/>
              </a:rPr>
              <a:t>그 다음</a:t>
            </a:r>
            <a:endParaRPr lang="en-US" sz="1200" dirty="0"/>
          </a:p>
        </p:txBody>
      </p:sp>
      <p:sp>
        <p:nvSpPr>
          <p:cNvPr id="14" name="Text 12"/>
          <p:cNvSpPr/>
          <p:nvPr/>
        </p:nvSpPr>
        <p:spPr>
          <a:xfrm>
            <a:off x="8210550" y="2350691"/>
            <a:ext cx="3021711"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A44"/>
                </a:solidFill>
                <a:latin typeface="Noto Sans KR" pitchFamily="34" charset="0"/>
                <a:ea typeface="Noto Sans KR" pitchFamily="34" charset="-122"/>
                <a:cs typeface="Noto Sans KR" pitchFamily="34" charset="-120"/>
              </a:rPr>
              <a:t>도구를 넓히기</a:t>
            </a:r>
            <a:endParaRPr lang="en-US" sz="1800" dirty="0"/>
          </a:p>
        </p:txBody>
      </p:sp>
      <p:sp>
        <p:nvSpPr>
          <p:cNvPr id="15" name="Text 13"/>
          <p:cNvSpPr/>
          <p:nvPr/>
        </p:nvSpPr>
        <p:spPr>
          <a:xfrm>
            <a:off x="8210550" y="2736751"/>
            <a:ext cx="3021711"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3D4757"/>
                </a:solidFill>
                <a:latin typeface="Noto Sans KR" pitchFamily="34" charset="0"/>
                <a:ea typeface="Noto Sans KR" pitchFamily="34" charset="-122"/>
                <a:cs typeface="Noto Sans KR" pitchFamily="34" charset="-120"/>
              </a:rPr>
              <a:t>오늘 배운 원칙은 그대로 두고, 더 큰 데이터를 다루는 도구와 클라우드로 넓혀 갑니다.</a:t>
            </a:r>
            <a:endParaRPr lang="en-US" sz="1300" dirty="0"/>
          </a:p>
        </p:txBody>
      </p:sp>
      <p:sp>
        <p:nvSpPr>
          <p:cNvPr id="16" name="Shape 14"/>
          <p:cNvSpPr/>
          <p:nvPr/>
        </p:nvSpPr>
        <p:spPr>
          <a:xfrm>
            <a:off x="812800" y="3753941"/>
            <a:ext cx="10566400" cy="1219101"/>
          </a:xfrm>
          <a:prstGeom prst="roundRect">
            <a:avLst>
              <a:gd name="adj" fmla="val 6251"/>
            </a:avLst>
          </a:prstGeom>
          <a:solidFill>
            <a:srgbClr val="E4ECF7"/>
          </a:solidFill>
          <a:ln/>
        </p:spPr>
        <p:txBody>
          <a:bodyPr/>
          <a:lstStyle/>
          <a:p>
            <a:endParaRPr lang="ko-KR" altLang="en-US"/>
          </a:p>
        </p:txBody>
      </p:sp>
      <p:sp>
        <p:nvSpPr>
          <p:cNvPr id="17" name="Shape 15"/>
          <p:cNvSpPr/>
          <p:nvPr/>
        </p:nvSpPr>
        <p:spPr>
          <a:xfrm>
            <a:off x="812800" y="3753941"/>
            <a:ext cx="10566400" cy="1219101"/>
          </a:xfrm>
          <a:custGeom>
            <a:avLst/>
            <a:gdLst/>
            <a:ahLst/>
            <a:cxnLst/>
            <a:rect l="l" t="t" r="r" b="b"/>
            <a:pathLst>
              <a:path w="10566400" h="1219101">
                <a:moveTo>
                  <a:pt x="76200" y="1219101"/>
                </a:moveTo>
                <a:lnTo>
                  <a:pt x="76200" y="1219101"/>
                </a:lnTo>
                <a:arcTo wR="76200" hR="76200" stAng="5400000" swAng="5400000"/>
                <a:lnTo>
                  <a:pt x="0" y="76200"/>
                </a:lnTo>
                <a:arcTo wR="76200" hR="76200" stAng="10800000" swAng="5400000"/>
                <a:lnTo>
                  <a:pt x="76200" y="0"/>
                </a:lnTo>
                <a:arcTo wR="25400" hR="76200" stAng="16200000" swAng="-5400000"/>
                <a:lnTo>
                  <a:pt x="50800" y="1142901"/>
                </a:lnTo>
                <a:arcTo wR="25400" hR="76200" stAng="10800000" swAng="-5400000"/>
                <a:close/>
              </a:path>
            </a:pathLst>
          </a:custGeom>
          <a:solidFill>
            <a:srgbClr val="2458A6"/>
          </a:solidFill>
          <a:ln/>
        </p:spPr>
        <p:txBody>
          <a:bodyPr/>
          <a:lstStyle/>
          <a:p>
            <a:endParaRPr lang="ko-KR" altLang="en-US"/>
          </a:p>
        </p:txBody>
      </p:sp>
      <p:sp>
        <p:nvSpPr>
          <p:cNvPr id="18" name="Text 16"/>
          <p:cNvSpPr/>
          <p:nvPr/>
        </p:nvSpPr>
        <p:spPr>
          <a:xfrm>
            <a:off x="1092200" y="3931741"/>
            <a:ext cx="1036015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458A6"/>
                </a:solidFill>
                <a:latin typeface="Noto Sans KR" pitchFamily="34" charset="0"/>
                <a:ea typeface="Noto Sans KR" pitchFamily="34" charset="-122"/>
                <a:cs typeface="Noto Sans KR" pitchFamily="34" charset="-120"/>
              </a:rPr>
              <a:t>도구는 바뀌어도 원칙은 남습니다</a:t>
            </a:r>
            <a:endParaRPr lang="en-US" sz="1300" dirty="0"/>
          </a:p>
        </p:txBody>
      </p:sp>
      <p:sp>
        <p:nvSpPr>
          <p:cNvPr id="19" name="Text 17"/>
          <p:cNvSpPr/>
          <p:nvPr/>
        </p:nvSpPr>
        <p:spPr>
          <a:xfrm>
            <a:off x="1092200" y="4226322"/>
            <a:ext cx="10360152"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3D4757"/>
                </a:solidFill>
                <a:latin typeface="Noto Sans KR" pitchFamily="34" charset="0"/>
                <a:ea typeface="Noto Sans KR" pitchFamily="34" charset="-122"/>
                <a:cs typeface="Noto Sans KR" pitchFamily="34" charset="-120"/>
              </a:rPr>
              <a:t>pandas가 다른 도구로 바뀌어도, MySQL이 다른 DB로 바뀌어도 '약속을 정하고, 검사하고, 근거를 남기고, 다시 만들 수 있게 한다'는 원칙은 그대로 씁니다.</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673"/>
                </a:solidFill>
                <a:latin typeface="Noto Sans KR" pitchFamily="34" charset="0"/>
                <a:ea typeface="Noto Sans KR" pitchFamily="34" charset="-122"/>
                <a:cs typeface="Noto Sans KR" pitchFamily="34" charset="-120"/>
              </a:rPr>
              <a:t>데이터 표준화와 AI Ready Data · 과목 오리엔테이션</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673"/>
                </a:solidFill>
                <a:latin typeface="Noto Sans KR" pitchFamily="34" charset="0"/>
                <a:ea typeface="Noto Sans KR" pitchFamily="34" charset="-122"/>
                <a:cs typeface="Noto Sans KR" pitchFamily="34" charset="-120"/>
              </a:rPr>
              <a:t>58 / 60</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bg>
      <p:bgPr>
        <a:solidFill>
          <a:srgbClr val="1B2A44"/>
        </a:solidFill>
        <a:effectLst/>
      </p:bgPr>
    </p:bg>
    <p:spTree>
      <p:nvGrpSpPr>
        <p:cNvPr id="1" name=""/>
        <p:cNvGrpSpPr/>
        <p:nvPr/>
      </p:nvGrpSpPr>
      <p:grpSpPr>
        <a:xfrm>
          <a:off x="0" y="0"/>
          <a:ext cx="0" cy="0"/>
          <a:chOff x="0" y="0"/>
          <a:chExt cx="0" cy="0"/>
        </a:xfrm>
      </p:grpSpPr>
      <p:sp>
        <p:nvSpPr>
          <p:cNvPr id="2" name="Text 0"/>
          <p:cNvSpPr/>
          <p:nvPr/>
        </p:nvSpPr>
        <p:spPr>
          <a:xfrm>
            <a:off x="812800" y="185807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2A65A"/>
                </a:solidFill>
                <a:latin typeface="Noto Sans KR" pitchFamily="34" charset="0"/>
                <a:ea typeface="Noto Sans KR" pitchFamily="34" charset="-122"/>
                <a:cs typeface="Noto Sans KR" pitchFamily="34" charset="-120"/>
              </a:rPr>
              <a:t>한 문장으로 정리하면</a:t>
            </a:r>
            <a:endParaRPr lang="en-US" sz="1300" dirty="0"/>
          </a:p>
        </p:txBody>
      </p:sp>
      <p:sp>
        <p:nvSpPr>
          <p:cNvPr id="3" name="Text 1"/>
          <p:cNvSpPr/>
          <p:nvPr/>
        </p:nvSpPr>
        <p:spPr>
          <a:xfrm>
            <a:off x="812800" y="2343150"/>
            <a:ext cx="10883392" cy="2082800"/>
          </a:xfrm>
          <a:prstGeom prst="rect">
            <a:avLst/>
          </a:prstGeom>
          <a:noFill/>
          <a:ln/>
        </p:spPr>
        <p:txBody>
          <a:bodyPr wrap="square" lIns="0" tIns="0" rIns="0" bIns="0" rtlCol="0" anchor="t">
            <a:normAutofit/>
          </a:bodyPr>
          <a:lstStyle/>
          <a:p>
            <a:pPr marL="0" indent="0" algn="l">
              <a:lnSpc>
                <a:spcPts val="5400"/>
              </a:lnSpc>
              <a:buNone/>
            </a:pPr>
            <a:r>
              <a:rPr lang="en-US" sz="4000" b="1" dirty="0">
                <a:solidFill>
                  <a:srgbClr val="F6F4EF"/>
                </a:solidFill>
                <a:latin typeface="Noto Sans KR" pitchFamily="34" charset="0"/>
                <a:ea typeface="Noto Sans KR" pitchFamily="34" charset="-122"/>
                <a:cs typeface="Noto Sans KR" pitchFamily="34" charset="-120"/>
              </a:rPr>
              <a:t>표준은 약속,</a:t>
            </a:r>
            <a:endParaRPr lang="en-US" sz="4000" dirty="0"/>
          </a:p>
          <a:p>
            <a:pPr marL="0" indent="0" algn="l">
              <a:lnSpc>
                <a:spcPts val="5400"/>
              </a:lnSpc>
              <a:buNone/>
            </a:pPr>
            <a:r>
              <a:rPr lang="en-US" sz="4000" b="1" dirty="0">
                <a:solidFill>
                  <a:srgbClr val="F6F4EF"/>
                </a:solidFill>
                <a:latin typeface="Noto Sans KR" pitchFamily="34" charset="0"/>
                <a:ea typeface="Noto Sans KR" pitchFamily="34" charset="-122"/>
                <a:cs typeface="Noto Sans KR" pitchFamily="34" charset="-120"/>
              </a:rPr>
              <a:t>품질은 증거,</a:t>
            </a:r>
            <a:endParaRPr lang="en-US" sz="4000" dirty="0"/>
          </a:p>
          <a:p>
            <a:pPr marL="0" indent="0" algn="l">
              <a:lnSpc>
                <a:spcPts val="5400"/>
              </a:lnSpc>
              <a:buNone/>
            </a:pPr>
            <a:r>
              <a:rPr lang="en-US" sz="4000" b="1" dirty="0">
                <a:solidFill>
                  <a:srgbClr val="F6F4EF"/>
                </a:solidFill>
                <a:latin typeface="Noto Sans KR" pitchFamily="34" charset="0"/>
                <a:ea typeface="Noto Sans KR" pitchFamily="34" charset="-122"/>
                <a:cs typeface="Noto Sans KR" pitchFamily="34" charset="-120"/>
              </a:rPr>
              <a:t>AI Ready Data는 그 둘이 붙어 있는 데이터.</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10234</Words>
  <Application>Microsoft Office PowerPoint</Application>
  <PresentationFormat>와이드스크린</PresentationFormat>
  <Paragraphs>1219</Paragraphs>
  <Slides>59</Slides>
  <Notes>59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59</vt:i4>
      </vt:variant>
    </vt:vector>
  </HeadingPairs>
  <TitlesOfParts>
    <vt:vector size="63" baseType="lpstr">
      <vt:lpstr>JetBrains Mono</vt:lpstr>
      <vt:lpstr>Noto Sans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데이터 표준화와 AI Ready Data — 과목 오리엔테이션</dc:title>
  <dc:subject>PptxGenJS Presentation</dc:subject>
  <dc:creator>PptxGenJS</dc:creator>
  <cp:lastModifiedBy>G밸리 2강의실</cp:lastModifiedBy>
  <cp:revision>2</cp:revision>
  <dcterms:created xsi:type="dcterms:W3CDTF">2026-09-28T01:43:56Z</dcterms:created>
  <dcterms:modified xsi:type="dcterms:W3CDTF">2026-09-28T01:45:13Z</dcterms:modified>
</cp:coreProperties>
</file>